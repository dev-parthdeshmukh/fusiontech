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f141f0f-e144-94b5-b398-0c503bd0a326}">
          <p14:sldIdLst>
            <p14:sldId id="256"/>
            <p14:sldId id="257"/>
          </p14:sldIdLst>
        </p14:section>
        <p14:section name="Problem" id="{70e3183e-ba3a-2b4e-8916-152563bb8bae}">
          <p14:sldIdLst>
            <p14:sldId id="258"/>
            <p14:sldId id="259"/>
            <p14:sldId id="260"/>
          </p14:sldIdLst>
        </p14:section>
        <p14:section name="Solution" id="{c2f9b6b0-1f0d-aec9-2f5b-6dea9138bbb5}">
          <p14:sldIdLst>
            <p14:sldId id="261"/>
            <p14:sldId id="262"/>
            <p14:sldId id="263"/>
            <p14:sldId id="264"/>
          </p14:sldIdLst>
        </p14:section>
        <p14:section name="Demo" id="{e073a1fb-9935-29aa-bcf7-f1a85da32a89}">
          <p14:sldIdLst>
            <p14:sldId id="265"/>
          </p14:sldIdLst>
        </p14:section>
        <p14:section name="Proof" id="{961414b3-6c8b-fd12-16cc-a407c19fab65}">
          <p14:sldIdLst>
            <p14:sldId id="266"/>
            <p14:sldId id="267"/>
          </p14:sldIdLst>
        </p14:section>
        <p14:section name="Platform &amp; impact" id="{669ade6d-8dde-6aa8-e90a-73553f3b808c}">
          <p14:sldIdLst>
            <p14:sldId id="268"/>
            <p14:sldId id="269"/>
            <p14:sldId id="270"/>
          </p14:sldIdLst>
        </p14:section>
        <p14:section name="Close" id="{cbffef2e-a83b-4646-7493-7375754a1c85}">
          <p14:sldIdLst>
            <p14:sldId id="271"/>
          </p14:sldIdLst>
        </p14:section>
        <p14:section name="Backup" id="{15576fa0-77ae-45b3-fea9-79531f7b4608}">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Alignment error, mm</c:v>
                </c:pt>
              </c:strCache>
            </c:strRef>
          </c:tx>
          <c:spPr>
            <a:solidFill>
              <a:srgbClr val="FF6B6B"/>
            </a:solidFill>
            <a:effectLst/>
          </c:spPr>
          <c:invertIfNegative val="0"/>
          <c:dLbls>
            <c:numFmt formatCode="0.0#" sourceLinked="0"/>
            <c:txPr>
              <a:bodyPr/>
              <a:lstStyle/>
              <a:p>
                <a:pPr>
                  <a:defRPr b="1" i="0" strike="noStrike" sz="1400" u="none">
                    <a:solidFill>
                      <a:srgbClr val="F3F6FA"/>
                    </a:solidFill>
                    <a:latin typeface="+mn-lt"/>
                  </a:defRPr>
                </a:pPr>
              </a:p>
            </c:txPr>
            <c:showLegendKey val="0"/>
            <c:showVal val="1"/>
            <c:showCatName val="0"/>
            <c:showSerName val="0"/>
            <c:showPercent val="0"/>
            <c:showBubbleSize val="0"/>
            <c:showLeaderLines val="0"/>
          </c:dLbls>
          <c:dPt>
            <c:idx val="0"/>
            <c:invertIfNegative val="0"/>
            <c:bubble3D val="0"/>
            <c:spPr>
              <a:solidFill>
                <a:srgbClr val="FF6B6B"/>
              </a:solidFill>
              <a:effectLst/>
            </c:spPr>
          </c:dPt>
          <c:dPt>
            <c:idx val="1"/>
            <c:invertIfNegative val="0"/>
            <c:bubble3D val="0"/>
            <c:spPr>
              <a:solidFill>
                <a:srgbClr val="7DD3FC"/>
              </a:solidFill>
              <a:effectLst/>
            </c:spPr>
          </c:dPt>
          <c:dPt>
            <c:idx val="2"/>
            <c:invertIfNegative val="0"/>
            <c:bubble3D val="0"/>
            <c:spPr>
              <a:solidFill>
                <a:srgbClr val="4A5A70"/>
              </a:solidFill>
              <a:effectLst/>
            </c:spPr>
          </c:dPt>
          <c:dPt>
            <c:idx val="3"/>
            <c:invertIfNegative val="0"/>
            <c:bubble3D val="0"/>
            <c:spPr>
              <a:solidFill>
                <a:srgbClr val="4A5A70"/>
              </a:solidFill>
              <a:effectLst/>
            </c:spPr>
          </c:dPt>
          <c:cat>
            <c:multiLvlStrRef>
              <c:f>Sheet1!$A$2:$A$5</c:f>
              <c:multiLvlStrCache>
                <c:ptCount val="4"/>
                <c:lvl>
                  <c:pt idx="0">
                    <c:v>Overlay as-is</c:v>
                  </c:pt>
                  <c:pt idx="1">
                    <c:v>Rigid MI</c:v>
                  </c:pt>
                  <c:pt idx="2">
                    <c:v>+ B-spline</c:v>
                  </c:pt>
                  <c:pt idx="3">
                    <c:v>+ VoxelMorph</c:v>
                  </c:pt>
                </c:lvl>
              </c:multiLvlStrCache>
            </c:multiLvlStrRef>
          </c:cat>
          <c:val>
            <c:numRef>
              <c:f>Sheet1!$B$2:$B$5</c:f>
              <c:numCache>
                <c:formatCode>General</c:formatCode>
                <c:ptCount val="4"/>
                <c:pt idx="0">
                  <c:v>11.8</c:v>
                </c:pt>
                <c:pt idx="1">
                  <c:v>0.86</c:v>
                </c:pt>
                <c:pt idx="2">
                  <c:v>0.92</c:v>
                </c:pt>
                <c:pt idx="3">
                  <c:v>0.86</c:v>
                </c:pt>
              </c:numCache>
            </c:numRef>
          </c:val>
        </c:ser>
        <c:dLbls>
          <c:numFmt formatCode="0.0#" sourceLinked="0"/>
          <c:txPr>
            <a:bodyPr/>
            <a:lstStyle/>
            <a:p>
              <a:pPr>
                <a:defRPr b="1" i="0" strike="noStrike" sz="1400" u="none">
                  <a:solidFill>
                    <a:srgbClr val="F3F6FA"/>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3A0B4"/>
                </a:solidFill>
                <a:latin typeface="+mn-lt"/>
              </a:defRPr>
            </a:pPr>
            <a:endParaRPr lang="en-US"/>
          </a:p>
        </c:txPr>
        <c:crossAx val="2094734552"/>
        <c:crosses val="autoZero"/>
        <c:auto val="1"/>
        <c:lblAlgn val="ctr"/>
        <c:noMultiLvlLbl val="1"/>
      </c:catAx>
      <c:valAx>
        <c:axId val="2094734552"/>
        <c:scaling>
          <c:orientation val="minMax"/>
          <c:max val="1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PET image fidelity, PSNR in dB</c:v>
                </c:pt>
              </c:strCache>
            </c:strRef>
          </c:tx>
          <c:spPr>
            <a:solidFill>
              <a:srgbClr val="4A5A70"/>
            </a:solidFill>
            <a:effectLst/>
          </c:spPr>
          <c:invertIfNegative val="0"/>
          <c:dLbls>
            <c:numFmt formatCode="0.0" sourceLinked="0"/>
            <c:txPr>
              <a:bodyPr/>
              <a:lstStyle/>
              <a:p>
                <a:pPr>
                  <a:defRPr b="1" i="0" strike="noStrike" sz="1400" u="none">
                    <a:solidFill>
                      <a:srgbClr val="F3F6FA"/>
                    </a:solidFill>
                    <a:latin typeface="+mn-lt"/>
                  </a:defRPr>
                </a:pPr>
              </a:p>
            </c:txPr>
            <c:showLegendKey val="0"/>
            <c:showVal val="1"/>
            <c:showCatName val="0"/>
            <c:showSerName val="0"/>
            <c:showPercent val="0"/>
            <c:showBubbleSize val="0"/>
            <c:showLeaderLines val="0"/>
          </c:dLbls>
          <c:dPt>
            <c:idx val="0"/>
            <c:invertIfNegative val="0"/>
            <c:bubble3D val="0"/>
            <c:spPr>
              <a:solidFill>
                <a:srgbClr val="4A5A70"/>
              </a:solidFill>
              <a:effectLst/>
            </c:spPr>
          </c:dPt>
          <c:dPt>
            <c:idx val="1"/>
            <c:invertIfNegative val="0"/>
            <c:bubble3D val="0"/>
            <c:spPr>
              <a:solidFill>
                <a:srgbClr val="4A5A70"/>
              </a:solidFill>
              <a:effectLst/>
            </c:spPr>
          </c:dPt>
          <c:dPt>
            <c:idx val="2"/>
            <c:invertIfNegative val="0"/>
            <c:bubble3D val="0"/>
            <c:spPr>
              <a:solidFill>
                <a:srgbClr val="FF7A3D"/>
              </a:solidFill>
              <a:effectLst/>
            </c:spPr>
          </c:dPt>
          <c:cat>
            <c:multiLvlStrRef>
              <c:f>Sheet1!$A$2:$A$4</c:f>
              <c:multiLvlStrCache>
                <c:ptCount val="3"/>
                <c:lvl>
                  <c:pt idx="0">
                    <c:v>As acquired</c:v>
                  </c:pt>
                  <c:pt idx="1">
                    <c:v>Deconvolution</c:v>
                  </c:pt>
                  <c:pt idx="2">
                    <c:v>FusionMap ViT</c:v>
                  </c:pt>
                </c:lvl>
              </c:multiLvlStrCache>
            </c:multiLvlStrRef>
          </c:cat>
          <c:val>
            <c:numRef>
              <c:f>Sheet1!$B$2:$B$4</c:f>
              <c:numCache>
                <c:formatCode>General</c:formatCode>
                <c:ptCount val="3"/>
                <c:pt idx="0">
                  <c:v>26.4</c:v>
                </c:pt>
                <c:pt idx="1">
                  <c:v>27.2</c:v>
                </c:pt>
                <c:pt idx="2">
                  <c:v>36.6</c:v>
                </c:pt>
              </c:numCache>
            </c:numRef>
          </c:val>
        </c:ser>
        <c:dLbls>
          <c:numFmt formatCode="0.0" sourceLinked="0"/>
          <c:txPr>
            <a:bodyPr/>
            <a:lstStyle/>
            <a:p>
              <a:pPr>
                <a:defRPr b="1" i="0" strike="noStrike" sz="1400" u="none">
                  <a:solidFill>
                    <a:srgbClr val="F3F6FA"/>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3A0B4"/>
                </a:solidFill>
                <a:latin typeface="+mn-lt"/>
              </a:defRPr>
            </a:pPr>
            <a:endParaRPr lang="en-US"/>
          </a:p>
        </c:txPr>
        <c:crossAx val="2094734552"/>
        <c:crosses val="autoZero"/>
        <c:auto val="1"/>
        <c:lblAlgn val="ctr"/>
        <c:noMultiLvlLbl val="1"/>
      </c:catAx>
      <c:valAx>
        <c:axId val="2094734552"/>
        <c:scaling>
          <c:orientation val="minMax"/>
          <c:max val="4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OPENING
Hi, we're Team MeatRiders: Parth, Atharva, Samuel and Ralston, and this is FusionMap.
In one line: FusionMap gives hospitals PET-MRI-level precision using the PET and MRI scanners they already own, with software alone.
(The brain on the right is real FusionMap output, scrolling through a fused study.)
HOW TO PRESENT: start the slide show (F5). Every slide animates by itself, so one click = next slide. The animated images play automatically in slide-show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[0:15-0:40]  THE HOOK
Thirteen millimetres.
That is how far the tumour glow on a PET scan sits from the real tumour in this patient, when you simply lay it over an MRI from a different scanner. That's exactly what hospitals do today.
Across our 12 test patients the average is 11.8 mm and it reaches 15 mm.
In radiotherapy, a plan that is 13 mm off treats healthy brain and lets the tumour escape.
(Pause for a second and let the number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[0:40-1:00]  WHY BOTH SCANS
Why do doctors need both scans?
Look at the MRI on the left: two lesions, circled. On MRI they look alike.
The PET on the right shows which one is actually alive: only the lower one is glowing.
So MRI tells you WHERE, with millimetre anatomy. PET tells you WHAT is alive, but it's blurry and it comes from a different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[1:00-1:20]  FUSION
Fuse the two and you get the best of both.
The living tumour lights up exactly on its MRI lesion. And the upper lesion, dead tissue called radionecrosis, correctly stays grey.
That is what an integrated PET-MRI scanner gives you.
The catch: one of those costs 4 to 6 million dollars, and India has about ten of them.
(Transition: the two scans slide together with Morph. It needs PowerPoint 2019 / Microsoft 365; older versions simply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[1:20-1:40]  THE OPPORTUNITY
Here's the opportunity.
More than 700 cancer centres in India already have a PET scanner and an MRI scanner. That's our team's market research.
The data already exists. What's missing is the fusion.
Today doctors put the two scans on two screens and compare them by eye. Overlaid as-is, they are off by almost 12 mm on average. We measured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[1:40-2:00]  THE SOLUTION
FusionMap closes that gap in three steps, all in software on the hospital's existing computer.
One: Register. Line the scans up.
Two: Sharpen. Recover the PET detail lost to blur.
Three: Fuse and export. One colour-coded DICOM, straight into the hospital systems.
Let me show you each one.
(The next three slides Morph: the numbered circles fly up into a progress tracker.)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[2:00-2:25]  STEP 1: REGISTER
Watch the animation on the left. The PET starts where the scanner left it, then FusionMap aligns it, and the error counter drops from 13 mm to 0.3 mm for this tumour.
Across 12 held-out patients the average error goes from 11.8 mm to 0.86 mm. That's 13 times smaller, in under a second, on a normal CPU.
We use mutual information because PET and MRI look nothing alike, so you can't just match pixel brightness.
A VoxelMorph neural network is built in for organs that deform, like lung or prostate.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[2:25-2:50]  STEP 2: SHARPEN
PET is blurry, so small tumours look dimmer than they really are, and that changes treatment decisions.
Our MRI-guided Vision-Transformer U-Net uses the MRI's sharp anatomy as a guide. The swipe on the left shows before and after.
Image fidelity goes from 26.4 to 36.6 dB, structural similarity from 0.65 to 0.98, and tumour brightness comes back to 99 % of the true value.
How it works: convolutions catch local edges, and the attention layer in the middle sees the whole slice at once.
It never invents tumours: dead tissue that shows on MRI but not on PET stays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[2:50-3:10]  STEP 3: FUSE &amp; EXPORT
FusionMap writes standard DICOM: the MRI reference, the quantitative PET in SUV units, the AI PET, the colour fusion, and the tumour contours as an RT-STRUCT.
It pushes them straight into the hospital PACS, and radiotherapy planning systems import the contours directly. There's also a printable report for the tumour board.
And it measures every tumour automatically: SUVmax, metabolic volume, total lesion glycolysis.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[3:10-4:10]  LIVE DEMO (about 60 seconds)
BEFORE THE TALK: run "fusionmap serve" (or "docker compose up") and open http://localhost:8000. The showcase patient is processed automatically on first start.
1. Workspace &gt; Compare &gt; Alignment. Move the mouse across the axial view: "Left, the scans overlaid as the scanners left them; the glow is off the lesion. Right, after FusionMap, it sits on it." Point at 10.4 &gt; 0.93 mm and the green "inside a 2 mm radiotherapy margin" line.
2. Compare &gt; Sharpening: "PET as acquired on the left, AI-enhanced on the right."
3. Overview &gt; Ground-truth check: "Viable tumour: found. MRI-occult tumour: found, because PET sees it. Radionecrosis: correctly NOT flagged."
4. Tumours tab: click a tumour and the viewer jumps to it. Read out SUVmax, MTV and TBR.
5. Export tab &gt; Send to PACS (with docker compose the study appears in Orthanc on :8042). Then open the printable report.
BACKUP: if the live demo fails (no laptop, no Wi-Fi, crash), stay on this slide, hover the picture and click its play button. It is a 50-second recording of the real app doing exactly steps 1-5, so narrate 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[4:10-4:30]  WHY BELIEVE US
Real patients never come with the right answer, so we built digital patients from the MNI152 brain where we know the exact truth, and we measure error in millimetres.
Left: alignment error. Rigid mutual information, which our auto mode picks, cuts it by 93 %. VoxelMorph ties it on brain; more on that next.
Right: image fidelity. FusionMap's AI adds 10 dB over the raw PET and is far ahead of classical deconvolution.
100 % of tumours detected, with zero false positives.
All numbers: docs/benchmark.json, reproducible with "fusionmap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[4:30-4:50]  TRUST
In medicine, an AI has to be trustworthy, not just impressive. Two examples.
First, the radionecrosis trap. An AI that simply copies the MRI would light up dead tissue. Ours keeps it cold: an uptake ratio of 1.05, where 1.0 is perfect.
Second, honesty. Our VoxelMorph network matched classical alignment on the brain, but it didn't beat it. So FusionMap's auto mode doesn't use it. AI switches on only when it wins its own validation, and the unmodified PET is always exported alongside the AI PET.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[4:50-5:05]  ENGINEERING
It runs on the hospital's own computer: CPU only, 26 seconds for a full study. No GPU, no cloud, so patient data never leaves the building.
It reads DICOM from any PET and any MRI, and writes standard DICOM back.
45 automated tests run on every push, and one docker command brings up the app together with a PACS.
And every design decision traces back to the seven papers we studied. The mapping is in docs/LITERATURE.md.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[5:05-5:20]  IMPACT
An integrated PET-MRI scanner costs 4 to 6 million dollars, needs a new suite and specialist staff, and India has about ten.
FusionMap costs 40 to 60 thousand rupees to build and needs zero new hardware, so it can run in the 700-plus centres that already own both scanners.
Patients get radiotherapy aimed at the living tumour, doctors get one fused image instead of two screens, and hospitals get a new capability with no capital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[5:20-5:35]  WHAT'S NEXT
The prototype works today.
Next, we fine-tune on real paired PET/MRI scans from The Cancer Imaging Archive.
Then a reader study with nuclear-medicine physicians, comparing FusionMap with a real hybrid PET-MRI.
Then the CDSCO software-as-a-medical-device pathway, and body sites like lung and prostate, where VoxelMorph's deformable alignment matters most.
What would speed us up most is a clinical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[5:35-5:45]  CLOSE
To close: more than 700 hospitals already own a PET and an MRI.
FusionMap turns them into a PET-MRI.
Thank you. We'd love your questions.
(Leave this slide up during Q&amp;A. If a judge asks one of the expected questions, the next slide has the short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show only if a judge asks. Full answers: docs/PITCH.md.
Regulatory path? In India: software as a medical device under CDSCO, which needs clinical evaluation. Step one is a retrospective reader study against hybrid PET-MRI.
Why VoxelMorph if the brain is rigid? We measured it: it tied rigid MI on brain (1.172 vs 1.173 mm), so auto mode keeps rigid. It's built for lung and prostate, where organs deform.
Where do the market numbers come from? Team research: scanner cost, centre counts, patient numbers. Every alignment, quality and detection number was measured by us (docs/benchmark.json).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FM_STATEMEN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FM_STATEMENT-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FM_CONTENT-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M_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240280"/>
            <a:ext cx="6400800" cy="118872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
        <p:nvSpPr>
          <p:cNvPr id="3" name="Text 0"/>
          <p:cNvSpPr/>
          <p:nvPr>
            <p:ph idx="101" type="body" hasCustomPrompt="1"/>
          </p:nvPr>
        </p:nvSpPr>
        <p:spPr>
          <a:xfrm>
            <a:off x="731520" y="3474720"/>
            <a:ext cx="6035040" cy="96012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M_STATEM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365760"/>
          </a:xfrm>
          <a:prstGeom prst="rect">
            <a:avLst/>
          </a:prstGeom>
          <a:noFill/>
          <a:ln/>
        </p:spPr>
        <p:txBody>
          <a:bodyPr wrap="square" rtlCol="0"/>
          <a:lstStyle>
            <a:lvl1pPr algn="l" indent="0" marL="0">
              <a:buNone/>
              <a:defRPr lang="en-US" sz="1300" b="1" spc="300" kern="0" dirty="0">
                <a:solidFill>
                  <a:schemeClr val="accent1"/>
                </a:solidFill>
              </a:defRPr>
            </a:lvl1pPr>
          </a:lstStyle>
          <a:p>
            <a:pPr algn="l" indent="0" marL="0">
              <a:buNone/>
            </a:pPr>
            <a:endParaRPr lang="en-US" sz="13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M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310896"/>
          </a:xfrm>
          <a:prstGeom prst="rect">
            <a:avLst/>
          </a:prstGeom>
          <a:noFill/>
          <a:ln/>
        </p:spPr>
        <p:txBody>
          <a:bodyPr wrap="square" rtlCol="0"/>
          <a:lstStyle>
            <a:lvl1pPr algn="l" indent="0" marL="0">
              <a:buNone/>
              <a:defRPr lang="en-US" sz="1300" b="1" spc="300" kern="0" dirty="0">
                <a:solidFill>
                  <a:schemeClr val="accent1"/>
                </a:solidFill>
              </a:defRPr>
            </a:lvl1pPr>
          </a:lstStyle>
          <a:p>
            <a:pPr algn="l" indent="0" marL="0">
              <a:buNone/>
            </a:pPr>
            <a:endParaRPr lang="en-US" sz="1300" dirty="0"/>
          </a:p>
        </p:txBody>
      </p:sp>
      <p:sp>
        <p:nvSpPr>
          <p:cNvPr id="3" name="Text 0"/>
          <p:cNvSpPr/>
          <p:nvPr>
            <p:ph idx="101" type="title" hasCustomPrompt="1"/>
          </p:nvPr>
        </p:nvSpPr>
        <p:spPr>
          <a:xfrm>
            <a:off x="548640" y="713232"/>
            <a:ext cx="11091672"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pic>
        <p:nvPicPr>
          <p:cNvPr id="4" name="Image 0" descr="FusionMap logo">    </p:cNvPr>
          <p:cNvPicPr>
            <a:picLocks noChangeAspect="1"/>
          </p:cNvPicPr>
          <p:nvPr/>
        </p:nvPicPr>
        <p:blipFill>
          <a:blip r:embed="rId1"/>
          <a:stretch>
            <a:fillRect/>
          </a:stretch>
        </p:blipFill>
        <p:spPr>
          <a:xfrm>
            <a:off x="512064" y="6309360"/>
            <a:ext cx="310896" cy="310896"/>
          </a:xfrm>
          <a:prstGeom prst="rect">
            <a:avLst/>
          </a:prstGeom>
        </p:spPr>
      </p:pic>
      <p:sp>
        <p:nvSpPr>
          <p:cNvPr id="5" name="Text 0"/>
          <p:cNvSpPr/>
          <p:nvPr/>
        </p:nvSpPr>
        <p:spPr>
          <a:xfrm>
            <a:off x="868680" y="6327648"/>
            <a:ext cx="7315200" cy="274320"/>
          </a:xfrm>
          <a:prstGeom prst="rect">
            <a:avLst/>
          </a:prstGeom>
          <a:noFill/>
          <a:ln/>
        </p:spPr>
        <p:txBody>
          <a:bodyPr wrap="square" lIns="0" tIns="0" rIns="0" bIns="0" rtlCol="0" anchor="ctr"/>
          <a:lstStyle/>
          <a:p>
            <a:pPr indent="0" marL="0">
              <a:buNone/>
            </a:pPr>
            <a:r>
              <a:rPr lang="en-US" sz="1000" dirty="0">
                <a:solidFill>
                  <a:schemeClr val="bg2"/>
                </a:solidFill>
              </a:rPr>
              <a:t>FusionMap  ·  Team MeatRiders  ·  research prototype, not for clinical use</a:t>
            </a:r>
            <a:endParaRPr lang="en-US" sz="10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gif"/><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12-1.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3.png"/><Relationship Id="rId3" Type="http://schemas.openxmlformats.org/officeDocument/2006/relationships/image" Target="../media/image-13-1.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gif"/><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gif"/><Relationship Id="rId2" Type="http://schemas.openxmlformats.org/officeDocument/2006/relationships/image" Target="../media/image-8-2.png"/><Relationship Id="rId3" Type="http://schemas.openxmlformats.org/officeDocument/2006/relationships/image" Target="../media/image-12-2.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2.gif"/><Relationship Id="rId2" Type="http://schemas.openxmlformats.org/officeDocument/2006/relationships/image" Target="../media/image-13-4.png"/><Relationship Id="rId3" Type="http://schemas.openxmlformats.org/officeDocument/2006/relationships/image" Target="../media/image-7-2.png"/><Relationship Id="rId4" Type="http://schemas.openxmlformats.org/officeDocument/2006/relationships/image" Target="../media/image-13-5.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4.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1.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1.png"/><Relationship Id="rId6" Type="http://schemas.openxmlformats.org/officeDocument/2006/relationships/slideLayout" Target="../slideLayouts/slideLayout4.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dev-parthdeshmukh/fusiontech" TargetMode="External"/><Relationship Id="rId1" Type="http://schemas.openxmlformats.org/officeDocument/2006/relationships/image" Target="../media/image-16-1.gif"/><Relationship Id="rId2" Type="http://schemas.openxmlformats.org/officeDocument/2006/relationships/image" Target="../media/image-1-1.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FusionMap logo">    </p:cNvPr>
          <p:cNvPicPr>
            <a:picLocks noChangeAspect="1"/>
          </p:cNvPicPr>
          <p:nvPr/>
        </p:nvPicPr>
        <p:blipFill>
          <a:blip r:embed="rId1"/>
          <a:stretch>
            <a:fillRect/>
          </a:stretch>
        </p:blipFill>
        <p:spPr>
          <a:xfrm>
            <a:off x="566928" y="685800"/>
            <a:ext cx="1371600" cy="1371600"/>
          </a:xfrm>
          <a:prstGeom prst="rect">
            <a:avLst/>
          </a:prstGeom>
        </p:spPr>
      </p:pic>
      <p:sp>
        <p:nvSpPr>
          <p:cNvPr id="3" name="kicker"/>
          <p:cNvSpPr txBox="1"/>
          <p:nvPr/>
        </p:nvSpPr>
        <p:spPr>
          <a:xfrm>
            <a:off x="731520" y="1901952"/>
            <a:ext cx="5943600" cy="310896"/>
          </a:xfrm>
          <a:prstGeom prst="rect">
            <a:avLst/>
          </a:prstGeom>
          <a:noFill/>
          <a:ln/>
        </p:spPr>
        <p:txBody>
          <a:bodyPr wrap="square" lIns="0" tIns="0" rIns="0" bIns="0" rtlCol="0" anchor="ctr"/>
          <a:lstStyle/>
          <a:p>
            <a:pPr indent="0" marL="0">
              <a:buNone/>
            </a:pPr>
            <a:r>
              <a:rPr lang="en-US" sz="1400" b="1" spc="400" kern="0" dirty="0">
                <a:solidFill>
                  <a:schemeClr val="accent2"/>
                </a:solidFill>
              </a:rPr>
              <a:t>AI  PET / MRI  FUSION</a:t>
            </a:r>
            <a:endParaRPr lang="en-US" sz="1400" dirty="0"/>
          </a:p>
        </p:txBody>
      </p:sp>
      <p:sp>
        <p:nvSpPr>
          <p:cNvPr id="4" name="title"/>
          <p:cNvSpPr/>
          <p:nvPr>
            <p:ph idx="100" type="title" hasCustomPrompt="1"/>
          </p:nvPr>
        </p:nvSpPr>
        <p:spPr>
          <a:xfrm>
            <a:off x="731520" y="2240280"/>
            <a:ext cx="6400800" cy="1188720"/>
          </a:xfrm>
          <a:prstGeom prst="rect">
            <a:avLst/>
          </a:prstGeom>
          <a:noFill/>
          <a:ln/>
        </p:spPr>
        <p:txBody>
          <a:bodyPr wrap="square" lIns="0" tIns="0" rIns="0" bIns="0" rtlCol="0" anchor="ctr"/>
          <a:lstStyle/>
          <a:p>
            <a:pPr algn="l" indent="0" marL="0">
              <a:buNone/>
            </a:pPr>
            <a:r>
              <a:rPr lang="en-US" sz="6600" b="1" dirty="0">
                <a:solidFill>
                  <a:schemeClr val="bg1"/>
                </a:solidFill>
              </a:rPr>
              <a:t>FusionMap</a:t>
            </a:r>
            <a:endParaRPr lang="en-US" sz="6600" dirty="0"/>
          </a:p>
        </p:txBody>
      </p:sp>
      <p:sp>
        <p:nvSpPr>
          <p:cNvPr id="5" name="subtitle"/>
          <p:cNvSpPr/>
          <p:nvPr>
            <p:ph idx="101" type="body" hasCustomPrompt="1"/>
          </p:nvPr>
        </p:nvSpPr>
        <p:spPr>
          <a:xfrm>
            <a:off x="731520" y="3474720"/>
            <a:ext cx="6035040" cy="960120"/>
          </a:xfrm>
          <a:prstGeom prst="rect">
            <a:avLst/>
          </a:prstGeom>
          <a:noFill/>
          <a:ln/>
        </p:spPr>
        <p:txBody>
          <a:bodyPr wrap="square" lIns="0" tIns="0" rIns="0" bIns="0" rtlCol="0" anchor="t"/>
          <a:lstStyle/>
          <a:p>
            <a:pPr algn="l" indent="0" marL="0">
              <a:buNone/>
            </a:pPr>
            <a:r>
              <a:rPr lang="en-US" sz="2200" dirty="0">
                <a:solidFill>
                  <a:schemeClr val="bg2"/>
                </a:solidFill>
              </a:rPr>
              <a:t>PET-MRI precision from the scanners hospitals already own</a:t>
            </a:r>
            <a:endParaRPr lang="en-US" sz="2200" dirty="0"/>
          </a:p>
        </p:txBody>
      </p:sp>
      <p:sp>
        <p:nvSpPr>
          <p:cNvPr id="6" name="team"/>
          <p:cNvSpPr txBox="1"/>
          <p:nvPr/>
        </p:nvSpPr>
        <p:spPr>
          <a:xfrm>
            <a:off x="731520" y="4892040"/>
            <a:ext cx="6217920" cy="731520"/>
          </a:xfrm>
          <a:prstGeom prst="rect">
            <a:avLst/>
          </a:prstGeom>
          <a:noFill/>
          <a:ln/>
        </p:spPr>
        <p:txBody>
          <a:bodyPr wrap="square" lIns="0" tIns="0" rIns="0" bIns="0" rtlCol="0" anchor="t"/>
          <a:lstStyle/>
          <a:p>
            <a:pPr indent="0" marL="0">
              <a:buNone/>
            </a:pPr>
            <a:r>
              <a:rPr lang="en-US" sz="1800" b="1" dirty="0">
                <a:solidFill>
                  <a:schemeClr val="bg1"/>
                </a:solidFill>
              </a:rPr>
              <a:t>Team MeatRiders</a:t>
            </a:r>
            <a:endParaRPr lang="en-US" sz="1800" dirty="0"/>
          </a:p>
          <a:p>
            <a:pPr indent="0" marL="0">
              <a:buNone/>
            </a:pPr>
            <a:r>
              <a:rPr lang="en-US" sz="1500" dirty="0">
                <a:solidFill>
                  <a:schemeClr val="bg2"/>
                </a:solidFill>
              </a:rPr>
              <a:t>Parth Deshmukh  ·  Atharva Jadhav  ·  Samuel Cardoza  ·  Ralston Crasta</a:t>
            </a:r>
            <a:endParaRPr lang="en-US" sz="1800" dirty="0"/>
          </a:p>
        </p:txBody>
      </p:sp>
      <p:sp>
        <p:nvSpPr>
          <p:cNvPr id="7" name="sweep_frame"/>
          <p:cNvSpPr/>
          <p:nvPr/>
        </p:nvSpPr>
        <p:spPr>
          <a:xfrm>
            <a:off x="7388352" y="960120"/>
            <a:ext cx="3511296" cy="4334256"/>
          </a:xfrm>
          <a:prstGeom prst="roundRect">
            <a:avLst>
              <a:gd name="adj" fmla="val 3125"/>
            </a:avLst>
          </a:prstGeom>
          <a:solidFill>
            <a:schemeClr val="tx1"/>
          </a:solidFill>
          <a:ln w="9525">
            <a:solidFill>
              <a:schemeClr val="accent6"/>
            </a:solidFill>
            <a:prstDash val="solid"/>
          </a:ln>
        </p:spPr>
      </p:sp>
      <p:pic>
        <p:nvPicPr>
          <p:cNvPr id="8" name="sweep" descr="Animated sweep through a fused PET/MRI brain study">    </p:cNvPr>
          <p:cNvPicPr>
            <a:picLocks noChangeAspect="1"/>
          </p:cNvPicPr>
          <p:nvPr/>
        </p:nvPicPr>
        <p:blipFill>
          <a:blip r:embed="rId2"/>
          <a:stretch>
            <a:fillRect/>
          </a:stretch>
        </p:blipFill>
        <p:spPr>
          <a:xfrm>
            <a:off x="7498080" y="1069848"/>
            <a:ext cx="3291840" cy="4114800"/>
          </a:xfrm>
          <a:prstGeom prst="rect">
            <a:avLst/>
          </a:prstGeom>
        </p:spPr>
      </p:pic>
      <p:sp>
        <p:nvSpPr>
          <p:cNvPr id="9" name="sweep_cap"/>
          <p:cNvSpPr txBox="1"/>
          <p:nvPr/>
        </p:nvSpPr>
        <p:spPr>
          <a:xfrm>
            <a:off x="7223760" y="5468112"/>
            <a:ext cx="3840480" cy="274320"/>
          </a:xfrm>
          <a:prstGeom prst="rect">
            <a:avLst/>
          </a:prstGeom>
          <a:noFill/>
          <a:ln/>
        </p:spPr>
        <p:txBody>
          <a:bodyPr wrap="square" lIns="0" tIns="0" rIns="0" bIns="0" rtlCol="0" anchor="t"/>
          <a:lstStyle/>
          <a:p>
            <a:pPr algn="ctr" indent="0" marL="0">
              <a:buNone/>
            </a:pPr>
            <a:r>
              <a:rPr lang="en-US" sz="1100" dirty="0">
                <a:solidFill>
                  <a:schemeClr val="bg2"/>
                </a:solidFill>
              </a:rPr>
              <a:t>Real FusionMap output: fused PET/MRI, slice by slice</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9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900"/>
                                        <p:tgtEl>
                                          <p:spTgt spid="8"/>
                                        </p:tgtEl>
                                      </p:cBhvr>
                                    </p:animEffect>
                                  </p:childTnLst>
                                </p:cTn>
                              </p:par>
                              <p:par>
                                <p:cTn id="11" presetID="53" presetClass="entr" presetSubtype="16" fill="hold" grpId="0" nodeType="withEffect">
                                  <p:stCondLst>
                                    <p:cond delay="25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700" decel="100000" fill="hold"/>
                                        <p:tgtEl>
                                          <p:spTgt spid="2"/>
                                        </p:tgtEl>
                                        <p:attrNameLst>
                                          <p:attrName>ppt_w</p:attrName>
                                        </p:attrNameLst>
                                      </p:cBhvr>
                                      <p:tavLst>
                                        <p:tav tm="0">
                                          <p:val>
                                            <p:strVal val="#ppt_w*0.55"/>
                                          </p:val>
                                        </p:tav>
                                        <p:tav tm="100000">
                                          <p:val>
                                            <p:strVal val="#ppt_w"/>
                                          </p:val>
                                        </p:tav>
                                      </p:tavLst>
                                    </p:anim>
                                    <p:anim calcmode="lin" valueType="num">
                                      <p:cBhvr additive="base">
                                        <p:cTn id="14" dur="700" decel="100000" fill="hold"/>
                                        <p:tgtEl>
                                          <p:spTgt spid="2"/>
                                        </p:tgtEl>
                                        <p:attrNameLst>
                                          <p:attrName>ppt_h</p:attrName>
                                        </p:attrNameLst>
                                      </p:cBhvr>
                                      <p:tavLst>
                                        <p:tav tm="0">
                                          <p:val>
                                            <p:strVal val="#ppt_h*0.55"/>
                                          </p:val>
                                        </p:tav>
                                        <p:tav tm="100000">
                                          <p:val>
                                            <p:strVal val="#ppt_h"/>
                                          </p:val>
                                        </p:tav>
                                      </p:tavLst>
                                    </p:anim>
                                    <p:animEffect transition="in" filter="fade">
                                      <p:cBhvr>
                                        <p:cTn id="15" dur="700"/>
                                        <p:tgtEl>
                                          <p:spTgt spid="2"/>
                                        </p:tgtEl>
                                      </p:cBhvr>
                                    </p:animEffect>
                                  </p:childTnLst>
                                </p:cTn>
                              </p:par>
                              <p:par>
                                <p:cTn id="16" presetID="10" presetClass="entr" presetSubtype="0" fill="hold" grpId="0" nodeType="withEffect">
                                  <p:stCondLst>
                                    <p:cond delay="55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par>
                                <p:cTn id="19" presetID="42" presetClass="entr" presetSubtype="0" fill="hold" grpId="0" nodeType="withEffect">
                                  <p:stCondLst>
                                    <p:cond delay="70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800"/>
                                        <p:tgtEl>
                                          <p:spTgt spid="4"/>
                                        </p:tgtEl>
                                      </p:cBhvr>
                                    </p:animEffect>
                                    <p:anim calcmode="lin" valueType="num">
                                      <p:cBhvr additive="base">
                                        <p:cTn id="22" dur="800" decel="100000" fill="hold"/>
                                        <p:tgtEl>
                                          <p:spTgt spid="4"/>
                                        </p:tgtEl>
                                        <p:attrNameLst>
                                          <p:attrName>ppt_x</p:attrName>
                                        </p:attrNameLst>
                                      </p:cBhvr>
                                      <p:tavLst>
                                        <p:tav tm="0">
                                          <p:val>
                                            <p:strVal val="#ppt_x"/>
                                          </p:val>
                                        </p:tav>
                                        <p:tav tm="100000">
                                          <p:val>
                                            <p:strVal val="#ppt_x"/>
                                          </p:val>
                                        </p:tav>
                                      </p:tavLst>
                                    </p:anim>
                                    <p:anim calcmode="lin" valueType="num">
                                      <p:cBhvr additive="base">
                                        <p:cTn id="23" dur="800" decel="100000" fill="hold"/>
                                        <p:tgtEl>
                                          <p:spTgt spid="4"/>
                                        </p:tgtEl>
                                        <p:attrNameLst>
                                          <p:attrName>ppt_y</p:attrName>
                                        </p:attrNameLst>
                                      </p:cBhvr>
                                      <p:tavLst>
                                        <p:tav tm="0">
                                          <p:val>
                                            <p:strVal val="#ppt_y+0.05"/>
                                          </p:val>
                                        </p:tav>
                                        <p:tav tm="100000">
                                          <p:val>
                                            <p:strVal val="#ppt_y"/>
                                          </p:val>
                                        </p:tav>
                                      </p:tavLst>
                                    </p:anim>
                                  </p:childTnLst>
                                </p:cTn>
                              </p:par>
                              <p:par>
                                <p:cTn id="24" presetID="42" presetClass="entr" presetSubtype="0" fill="hold" grpId="0" nodeType="withEffect">
                                  <p:stCondLst>
                                    <p:cond delay="95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800"/>
                                        <p:tgtEl>
                                          <p:spTgt spid="5"/>
                                        </p:tgtEl>
                                      </p:cBhvr>
                                    </p:animEffect>
                                    <p:anim calcmode="lin" valueType="num">
                                      <p:cBhvr additive="base">
                                        <p:cTn id="27" dur="800" decel="100000" fill="hold"/>
                                        <p:tgtEl>
                                          <p:spTgt spid="5"/>
                                        </p:tgtEl>
                                        <p:attrNameLst>
                                          <p:attrName>ppt_x</p:attrName>
                                        </p:attrNameLst>
                                      </p:cBhvr>
                                      <p:tavLst>
                                        <p:tav tm="0">
                                          <p:val>
                                            <p:strVal val="#ppt_x"/>
                                          </p:val>
                                        </p:tav>
                                        <p:tav tm="100000">
                                          <p:val>
                                            <p:strVal val="#ppt_x"/>
                                          </p:val>
                                        </p:tav>
                                      </p:tavLst>
                                    </p:anim>
                                    <p:anim calcmode="lin" valueType="num">
                                      <p:cBhvr additive="base">
                                        <p:cTn id="28" dur="800" decel="100000" fill="hold"/>
                                        <p:tgtEl>
                                          <p:spTgt spid="5"/>
                                        </p:tgtEl>
                                        <p:attrNameLst>
                                          <p:attrName>ppt_y</p:attrName>
                                        </p:attrNameLst>
                                      </p:cBhvr>
                                      <p:tavLst>
                                        <p:tav tm="0">
                                          <p:val>
                                            <p:strVal val="#ppt_y+0.05"/>
                                          </p:val>
                                        </p:tav>
                                        <p:tav tm="100000">
                                          <p:val>
                                            <p:strVal val="#ppt_y"/>
                                          </p:val>
                                        </p:tav>
                                      </p:tavLst>
                                    </p:anim>
                                  </p:childTnLst>
                                </p:cTn>
                              </p:par>
                              <p:par>
                                <p:cTn id="29" presetID="10" presetClass="entr" presetSubtype="0" fill="hold" grpId="0" nodeType="withEffect">
                                  <p:stCondLst>
                                    <p:cond delay="135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700"/>
                                        <p:tgtEl>
                                          <p:spTgt spid="6"/>
                                        </p:tgtEl>
                                      </p:cBhvr>
                                    </p:animEffect>
                                  </p:childTnLst>
                                </p:cTn>
                              </p:par>
                              <p:par>
                                <p:cTn id="32" presetID="10" presetClass="entr" presetSubtype="0" fill="hold" grpId="0" nodeType="withEffect">
                                  <p:stCondLst>
                                    <p:cond delay="150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P spid="4" grpId="0" animBg="1"/>
      <p:bldP spid="5" grpId="0" animBg="1"/>
      <p:bldP spid="6" grpId="0" animBg="1"/>
      <p:bldP spid="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
          <p:cNvSpPr/>
          <p:nvPr>
            <p:ph idx="100" type="title" hasCustomPrompt="1"/>
          </p:nvPr>
        </p:nvSpPr>
        <p:spPr>
          <a:xfrm>
            <a:off x="731520" y="502920"/>
            <a:ext cx="10698480" cy="365760"/>
          </a:xfrm>
          <a:prstGeom prst="rect">
            <a:avLst/>
          </a:prstGeom>
          <a:noFill/>
          <a:ln/>
        </p:spPr>
        <p:txBody>
          <a:bodyPr wrap="square" lIns="0" tIns="0" rIns="0" bIns="0" rtlCol="0" anchor="ctr"/>
          <a:lstStyle/>
          <a:p>
            <a:pPr algn="l" indent="0" marL="0">
              <a:buNone/>
            </a:pPr>
            <a:r>
              <a:rPr lang="en-US" sz="1300" b="1" spc="300" kern="0" dirty="0">
                <a:solidFill>
                  <a:schemeClr val="accent1"/>
                </a:solidFill>
              </a:rPr>
              <a:t>THE PROBLEM IN ONE NUMBER</a:t>
            </a:r>
            <a:endParaRPr lang="en-US" sz="1300" dirty="0"/>
          </a:p>
        </p:txBody>
      </p:sp>
      <p:sp>
        <p:nvSpPr>
          <p:cNvPr id="3" name="big"/>
          <p:cNvSpPr txBox="1"/>
          <p:nvPr/>
        </p:nvSpPr>
        <p:spPr>
          <a:xfrm>
            <a:off x="685800" y="960120"/>
            <a:ext cx="6583680" cy="2194560"/>
          </a:xfrm>
          <a:prstGeom prst="rect">
            <a:avLst/>
          </a:prstGeom>
          <a:noFill/>
          <a:ln/>
        </p:spPr>
        <p:txBody>
          <a:bodyPr wrap="square" lIns="0" tIns="0" rIns="0" bIns="0" rtlCol="0" anchor="b"/>
          <a:lstStyle/>
          <a:p>
            <a:pPr indent="0" marL="0">
              <a:buNone/>
            </a:pPr>
            <a:r>
              <a:rPr lang="en-US" sz="15000" b="1" dirty="0">
                <a:solidFill>
                  <a:schemeClr val="accent1"/>
                </a:solidFill>
              </a:rPr>
              <a:t>13 mm</a:t>
            </a:r>
            <a:endParaRPr lang="en-US" sz="15000" dirty="0"/>
          </a:p>
        </p:txBody>
      </p:sp>
      <p:sp>
        <p:nvSpPr>
          <p:cNvPr id="4" name="off"/>
          <p:cNvSpPr txBox="1"/>
          <p:nvPr/>
        </p:nvSpPr>
        <p:spPr>
          <a:xfrm>
            <a:off x="731520" y="3200400"/>
            <a:ext cx="6400800" cy="731520"/>
          </a:xfrm>
          <a:prstGeom prst="rect">
            <a:avLst/>
          </a:prstGeom>
          <a:noFill/>
          <a:ln/>
        </p:spPr>
        <p:txBody>
          <a:bodyPr wrap="square" lIns="0" tIns="0" rIns="0" bIns="0" rtlCol="0" anchor="t"/>
          <a:lstStyle/>
          <a:p>
            <a:pPr indent="0" marL="0">
              <a:buNone/>
            </a:pPr>
            <a:r>
              <a:rPr lang="en-US" sz="4400" b="1" dirty="0">
                <a:solidFill>
                  <a:schemeClr val="bg1"/>
                </a:solidFill>
              </a:rPr>
              <a:t>off target</a:t>
            </a:r>
            <a:endParaRPr lang="en-US" sz="4400" dirty="0"/>
          </a:p>
        </p:txBody>
      </p:sp>
      <p:sp>
        <p:nvSpPr>
          <p:cNvPr id="5" name="para"/>
          <p:cNvSpPr txBox="1"/>
          <p:nvPr/>
        </p:nvSpPr>
        <p:spPr>
          <a:xfrm>
            <a:off x="731520" y="4114800"/>
            <a:ext cx="6126480" cy="1280160"/>
          </a:xfrm>
          <a:prstGeom prst="rect">
            <a:avLst/>
          </a:prstGeom>
          <a:noFill/>
          <a:ln/>
        </p:spPr>
        <p:txBody>
          <a:bodyPr wrap="square" lIns="0" tIns="0" rIns="0" bIns="0" rtlCol="0" anchor="t"/>
          <a:lstStyle/>
          <a:p>
            <a:pPr indent="0" marL="0">
              <a:buNone/>
            </a:pPr>
            <a:r>
              <a:rPr lang="en-US" sz="1800" dirty="0">
                <a:solidFill>
                  <a:schemeClr val="bg2"/>
                </a:solidFill>
              </a:rPr>
              <a:t>That's how far the tumour glow on this patient's PET lands from the real tumour when it is simply overlaid on an MRI from a different scanner. Plan radiotherapy on that, and the beam treats healthy brain while the tumour escapes.</a:t>
            </a:r>
            <a:endParaRPr lang="en-US" sz="1800" dirty="0"/>
          </a:p>
        </p:txBody>
      </p:sp>
      <p:sp>
        <p:nvSpPr>
          <p:cNvPr id="6" name="note"/>
          <p:cNvSpPr txBox="1"/>
          <p:nvPr/>
        </p:nvSpPr>
        <p:spPr>
          <a:xfrm>
            <a:off x="731520" y="5532120"/>
            <a:ext cx="6126480" cy="548640"/>
          </a:xfrm>
          <a:prstGeom prst="rect">
            <a:avLst/>
          </a:prstGeom>
          <a:noFill/>
          <a:ln/>
        </p:spPr>
        <p:txBody>
          <a:bodyPr wrap="square" lIns="0" tIns="0" rIns="0" bIns="0" rtlCol="0" anchor="t"/>
          <a:lstStyle/>
          <a:p>
            <a:pPr indent="0" marL="0">
              <a:buNone/>
            </a:pPr>
            <a:r>
              <a:rPr lang="en-US" sz="1200" i="1" dirty="0">
                <a:solidFill>
                  <a:schemeClr val="bg2"/>
                </a:solidFill>
              </a:rPr>
              <a:t>Measured, not estimated: across 12 test patients the naive overlay is off by 11.8 mm on average, up to 15 mm (95th percentile).</a:t>
            </a:r>
            <a:endParaRPr lang="en-US" sz="1200" dirty="0"/>
          </a:p>
        </p:txBody>
      </p:sp>
      <p:sp>
        <p:nvSpPr>
          <p:cNvPr id="7" name="naive_frame"/>
          <p:cNvSpPr/>
          <p:nvPr/>
        </p:nvSpPr>
        <p:spPr>
          <a:xfrm>
            <a:off x="7635240" y="731520"/>
            <a:ext cx="3803904" cy="5330952"/>
          </a:xfrm>
          <a:prstGeom prst="roundRect">
            <a:avLst>
              <a:gd name="adj" fmla="val 2885"/>
            </a:avLst>
          </a:prstGeom>
          <a:solidFill>
            <a:schemeClr val="tx1"/>
          </a:solidFill>
          <a:ln w="9525">
            <a:solidFill>
              <a:schemeClr val="accent6"/>
            </a:solidFill>
            <a:prstDash val="solid"/>
          </a:ln>
        </p:spPr>
      </p:sp>
      <p:pic>
        <p:nvPicPr>
          <p:cNvPr id="8" name="naive" descr="Naive PET over MRI overlay: tumour glow 13.2 mm away from the true tumour outline">    </p:cNvPr>
          <p:cNvPicPr>
            <a:picLocks noChangeAspect="1"/>
          </p:cNvPicPr>
          <p:nvPr/>
        </p:nvPicPr>
        <p:blipFill>
          <a:blip r:embed="rId1"/>
          <a:stretch>
            <a:fillRect/>
          </a:stretch>
        </p:blipFill>
        <p:spPr>
          <a:xfrm>
            <a:off x="7726680" y="822960"/>
            <a:ext cx="3621024" cy="5148072"/>
          </a:xfrm>
          <a:prstGeom prst="rect">
            <a:avLst/>
          </a:prstGeom>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par>
                                <p:cTn id="14" presetID="53" presetClass="entr" presetSubtype="16" fill="hold" grpId="0" nodeType="withEffect">
                                  <p:stCondLst>
                                    <p:cond delay="40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700" decel="100000" fill="hold"/>
                                        <p:tgtEl>
                                          <p:spTgt spid="3"/>
                                        </p:tgtEl>
                                        <p:attrNameLst>
                                          <p:attrName>ppt_w</p:attrName>
                                        </p:attrNameLst>
                                      </p:cBhvr>
                                      <p:tavLst>
                                        <p:tav tm="0">
                                          <p:val>
                                            <p:strVal val="#ppt_w*0.55"/>
                                          </p:val>
                                        </p:tav>
                                        <p:tav tm="100000">
                                          <p:val>
                                            <p:strVal val="#ppt_w"/>
                                          </p:val>
                                        </p:tav>
                                      </p:tavLst>
                                    </p:anim>
                                    <p:anim calcmode="lin" valueType="num">
                                      <p:cBhvr additive="base">
                                        <p:cTn id="17" dur="700" decel="100000" fill="hold"/>
                                        <p:tgtEl>
                                          <p:spTgt spid="3"/>
                                        </p:tgtEl>
                                        <p:attrNameLst>
                                          <p:attrName>ppt_h</p:attrName>
                                        </p:attrNameLst>
                                      </p:cBhvr>
                                      <p:tavLst>
                                        <p:tav tm="0">
                                          <p:val>
                                            <p:strVal val="#ppt_h*0.55"/>
                                          </p:val>
                                        </p:tav>
                                        <p:tav tm="100000">
                                          <p:val>
                                            <p:strVal val="#ppt_h"/>
                                          </p:val>
                                        </p:tav>
                                      </p:tavLst>
                                    </p:anim>
                                    <p:animEffect transition="in" filter="fade">
                                      <p:cBhvr>
                                        <p:cTn id="18" dur="700"/>
                                        <p:tgtEl>
                                          <p:spTgt spid="3"/>
                                        </p:tgtEl>
                                      </p:cBhvr>
                                    </p:animEffect>
                                  </p:childTnLst>
                                </p:cTn>
                              </p:par>
                              <p:par>
                                <p:cTn id="19" presetID="42" presetClass="entr" presetSubtype="0" fill="hold" grpId="0" nodeType="withEffect">
                                  <p:stCondLst>
                                    <p:cond delay="100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700"/>
                                        <p:tgtEl>
                                          <p:spTgt spid="4"/>
                                        </p:tgtEl>
                                      </p:cBhvr>
                                    </p:animEffect>
                                    <p:anim calcmode="lin" valueType="num">
                                      <p:cBhvr additive="base">
                                        <p:cTn id="22" dur="700" decel="100000" fill="hold"/>
                                        <p:tgtEl>
                                          <p:spTgt spid="4"/>
                                        </p:tgtEl>
                                        <p:attrNameLst>
                                          <p:attrName>ppt_x</p:attrName>
                                        </p:attrNameLst>
                                      </p:cBhvr>
                                      <p:tavLst>
                                        <p:tav tm="0">
                                          <p:val>
                                            <p:strVal val="#ppt_x"/>
                                          </p:val>
                                        </p:tav>
                                        <p:tav tm="100000">
                                          <p:val>
                                            <p:strVal val="#ppt_x"/>
                                          </p:val>
                                        </p:tav>
                                      </p:tavLst>
                                    </p:anim>
                                    <p:anim calcmode="lin" valueType="num">
                                      <p:cBhvr additive="base">
                                        <p:cTn id="23" dur="700" decel="100000" fill="hold"/>
                                        <p:tgtEl>
                                          <p:spTgt spid="4"/>
                                        </p:tgtEl>
                                        <p:attrNameLst>
                                          <p:attrName>ppt_y</p:attrName>
                                        </p:attrNameLst>
                                      </p:cBhvr>
                                      <p:tavLst>
                                        <p:tav tm="0">
                                          <p:val>
                                            <p:strVal val="#ppt_y+0.05"/>
                                          </p:val>
                                        </p:tav>
                                        <p:tav tm="100000">
                                          <p:val>
                                            <p:strVal val="#ppt_y"/>
                                          </p:val>
                                        </p:tav>
                                      </p:tavLst>
                                    </p:anim>
                                  </p:childTnLst>
                                </p:cTn>
                              </p:par>
                              <p:par>
                                <p:cTn id="24" presetID="10" presetClass="entr" presetSubtype="0" fill="hold" grpId="0" nodeType="withEffect">
                                  <p:stCondLst>
                                    <p:cond delay="140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800"/>
                                        <p:tgtEl>
                                          <p:spTgt spid="5"/>
                                        </p:tgtEl>
                                      </p:cBhvr>
                                    </p:animEffect>
                                  </p:childTnLst>
                                </p:cTn>
                              </p:par>
                              <p:par>
                                <p:cTn id="27" presetID="10" presetClass="entr" presetSubtype="0" fill="hold" grpId="0" nodeType="withEffect">
                                  <p:stCondLst>
                                    <p:cond delay="180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animBg="1"/>
      <p:bldP spid="3" grpId="0" animBg="1"/>
      <p:bldP spid="4" grpId="0" animBg="1"/>
      <p:bldP spid="5"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
          <p:cNvSpPr/>
          <p:nvPr>
            <p:ph idx="100" type="body" hasCustomPrompt="1"/>
          </p:nvPr>
        </p:nvSpPr>
        <p:spPr>
          <a:xfrm>
            <a:off x="548640" y="384048"/>
            <a:ext cx="7863840" cy="310896"/>
          </a:xfrm>
          <a:prstGeom prst="rect">
            <a:avLst/>
          </a:prstGeom>
          <a:noFill/>
          <a:ln/>
        </p:spPr>
        <p:txBody>
          <a:bodyPr wrap="square" lIns="0" tIns="0" rIns="0" bIns="0" rtlCol="0" anchor="ctr"/>
          <a:lstStyle/>
          <a:p>
            <a:pPr algn="l" indent="0" marL="0">
              <a:buNone/>
            </a:pPr>
            <a:r>
              <a:rPr lang="en-US" sz="1300" b="1" spc="300" kern="0" dirty="0">
                <a:solidFill>
                  <a:schemeClr val="accent1"/>
                </a:solidFill>
              </a:rPr>
              <a:t>WHY FUSION</a:t>
            </a:r>
            <a:endParaRPr lang="en-US" sz="1300" dirty="0"/>
          </a:p>
        </p:txBody>
      </p:sp>
      <p:sp>
        <p:nvSpPr>
          <p:cNvPr id="3" name="ttl"/>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200" b="1" dirty="0">
                <a:solidFill>
                  <a:schemeClr val="bg1"/>
                </a:solidFill>
              </a:rPr>
              <a:t>MRI sees two lesions. PET knows which one is alive</a:t>
            </a:r>
            <a:endParaRPr lang="en-US" sz="3200" dirty="0"/>
          </a:p>
        </p:txBody>
      </p:sp>
      <p:pic>
        <p:nvPicPr>
          <p:cNvPr id="4" name="!!mri" descr="MRI slice with two ring-shaped lesions">    </p:cNvPr>
          <p:cNvPicPr>
            <a:picLocks noChangeAspect="1"/>
          </p:cNvPicPr>
          <p:nvPr/>
        </p:nvPicPr>
        <p:blipFill>
          <a:blip r:embed="rId1"/>
          <a:stretch>
            <a:fillRect/>
          </a:stretch>
        </p:blipFill>
        <p:spPr>
          <a:xfrm>
            <a:off x="1737360" y="1691640"/>
            <a:ext cx="2743200" cy="3429000"/>
          </a:xfrm>
          <a:prstGeom prst="rect">
            <a:avLst/>
          </a:prstGeom>
        </p:spPr>
      </p:pic>
      <p:pic>
        <p:nvPicPr>
          <p:cNvPr id="5" name="!!pet" descr="PET slice: only the lower lesion takes up tracer">    </p:cNvPr>
          <p:cNvPicPr>
            <a:picLocks noChangeAspect="1"/>
          </p:cNvPicPr>
          <p:nvPr/>
        </p:nvPicPr>
        <p:blipFill>
          <a:blip r:embed="rId2"/>
          <a:stretch>
            <a:fillRect/>
          </a:stretch>
        </p:blipFill>
        <p:spPr>
          <a:xfrm>
            <a:off x="7708392" y="1691640"/>
            <a:ext cx="2743200" cy="3429000"/>
          </a:xfrm>
          <a:prstGeom prst="rect">
            <a:avLst/>
          </a:prstGeom>
        </p:spPr>
      </p:pic>
      <p:sp>
        <p:nvSpPr>
          <p:cNvPr id="6" name="!!mripill"/>
          <p:cNvSpPr/>
          <p:nvPr/>
        </p:nvSpPr>
        <p:spPr>
          <a:xfrm>
            <a:off x="1847088" y="1801368"/>
            <a:ext cx="685800" cy="310896"/>
          </a:xfrm>
          <a:prstGeom prst="roundRect">
            <a:avLst>
              <a:gd name="adj" fmla="val 47059"/>
            </a:avLst>
          </a:prstGeom>
          <a:solidFill>
            <a:schemeClr val="accent2"/>
          </a:solidFill>
          <a:ln w="9525">
            <a:solidFill>
              <a:schemeClr val="accent2"/>
            </a:solidFill>
          </a:ln>
        </p:spPr>
        <p:txBody>
          <a:bodyPr wrap="square" lIns="0" tIns="0" rIns="0" bIns="0" rtlCol="0" anchor="ctr"/>
          <a:lstStyle/>
          <a:p>
            <a:pPr algn="ctr" indent="0" marL="0">
              <a:buNone/>
            </a:pPr>
            <a:r>
              <a:rPr lang="en-US" sz="1200" b="1" spc="100" kern="0" dirty="0">
                <a:solidFill>
                  <a:schemeClr val="tx1"/>
                </a:solidFill>
              </a:rPr>
              <a:t>MRI</a:t>
            </a:r>
            <a:endParaRPr lang="en-US" sz="1200" dirty="0"/>
          </a:p>
        </p:txBody>
      </p:sp>
      <p:sp>
        <p:nvSpPr>
          <p:cNvPr id="7" name="!!petpill"/>
          <p:cNvSpPr/>
          <p:nvPr/>
        </p:nvSpPr>
        <p:spPr>
          <a:xfrm>
            <a:off x="7818120" y="1801368"/>
            <a:ext cx="685800" cy="310896"/>
          </a:xfrm>
          <a:prstGeom prst="roundRect">
            <a:avLst>
              <a:gd name="adj" fmla="val 47059"/>
            </a:avLst>
          </a:prstGeom>
          <a:solidFill>
            <a:schemeClr val="accent1"/>
          </a:solidFill>
          <a:ln w="9525">
            <a:solidFill>
              <a:schemeClr val="accent1"/>
            </a:solidFill>
          </a:ln>
        </p:spPr>
        <p:txBody>
          <a:bodyPr wrap="square" lIns="0" tIns="0" rIns="0" bIns="0" rtlCol="0" anchor="ctr"/>
          <a:lstStyle/>
          <a:p>
            <a:pPr algn="ctr" indent="0" marL="0">
              <a:buNone/>
            </a:pPr>
            <a:r>
              <a:rPr lang="en-US" sz="1200" b="1" spc="100" kern="0" dirty="0">
                <a:solidFill>
                  <a:schemeClr val="tx1"/>
                </a:solidFill>
              </a:rPr>
              <a:t>PET</a:t>
            </a:r>
            <a:endParaRPr lang="en-US" sz="1200" dirty="0"/>
          </a:p>
        </p:txBody>
      </p:sp>
      <p:sp>
        <p:nvSpPr>
          <p:cNvPr id="8" name="q1"/>
          <p:cNvSpPr/>
          <p:nvPr/>
        </p:nvSpPr>
        <p:spPr>
          <a:xfrm>
            <a:off x="2245766" y="2811780"/>
            <a:ext cx="548640" cy="548640"/>
          </a:xfrm>
          <a:prstGeom prst="ellipse">
            <a:avLst/>
          </a:prstGeom>
          <a:noFill/>
          <a:ln w="19050">
            <a:solidFill>
              <a:schemeClr val="accent4"/>
            </a:solidFill>
            <a:prstDash val="dash"/>
          </a:ln>
        </p:spPr>
      </p:sp>
      <p:sp>
        <p:nvSpPr>
          <p:cNvPr id="9" name="q2"/>
          <p:cNvSpPr/>
          <p:nvPr/>
        </p:nvSpPr>
        <p:spPr>
          <a:xfrm>
            <a:off x="2501798" y="3943807"/>
            <a:ext cx="548640" cy="548640"/>
          </a:xfrm>
          <a:prstGeom prst="ellipse">
            <a:avLst/>
          </a:prstGeom>
          <a:noFill/>
          <a:ln w="19050">
            <a:solidFill>
              <a:schemeClr val="accent4"/>
            </a:solidFill>
            <a:prstDash val="dash"/>
          </a:ln>
        </p:spPr>
      </p:sp>
      <p:sp>
        <p:nvSpPr>
          <p:cNvPr id="10" name="plus"/>
          <p:cNvSpPr txBox="1"/>
          <p:nvPr/>
        </p:nvSpPr>
        <p:spPr>
          <a:xfrm>
            <a:off x="5641848" y="2788920"/>
            <a:ext cx="914400" cy="1097280"/>
          </a:xfrm>
          <a:prstGeom prst="rect">
            <a:avLst/>
          </a:prstGeom>
          <a:noFill/>
          <a:ln/>
        </p:spPr>
        <p:txBody>
          <a:bodyPr wrap="square" lIns="0" tIns="0" rIns="0" bIns="0" rtlCol="0" anchor="ctr"/>
          <a:lstStyle/>
          <a:p>
            <a:pPr algn="ctr" indent="0" marL="0">
              <a:buNone/>
            </a:pPr>
            <a:r>
              <a:rPr lang="en-US" sz="8000" b="1" dirty="0">
                <a:solidFill>
                  <a:schemeClr val="bg2"/>
                </a:solidFill>
              </a:rPr>
              <a:t>+</a:t>
            </a:r>
            <a:endParaRPr lang="en-US" sz="8000" dirty="0"/>
          </a:p>
        </p:txBody>
      </p:sp>
      <p:sp>
        <p:nvSpPr>
          <p:cNvPr id="11" name="mri_txt"/>
          <p:cNvSpPr txBox="1"/>
          <p:nvPr/>
        </p:nvSpPr>
        <p:spPr>
          <a:xfrm>
            <a:off x="1325880" y="5257800"/>
            <a:ext cx="3566160" cy="914400"/>
          </a:xfrm>
          <a:prstGeom prst="rect">
            <a:avLst/>
          </a:prstGeom>
          <a:noFill/>
          <a:ln/>
        </p:spPr>
        <p:txBody>
          <a:bodyPr wrap="square" lIns="0" tIns="0" rIns="0" bIns="0" rtlCol="0" anchor="t"/>
          <a:lstStyle/>
          <a:p>
            <a:pPr indent="0" marL="0">
              <a:buNone/>
            </a:pPr>
            <a:r>
              <a:rPr lang="en-US" sz="2000" b="1" dirty="0">
                <a:solidFill>
                  <a:schemeClr val="accent2"/>
                </a:solidFill>
              </a:rPr>
              <a:t>Shows WHERE</a:t>
            </a:r>
            <a:endParaRPr lang="en-US" sz="2000" dirty="0"/>
          </a:p>
          <a:p>
            <a:pPr indent="0" marL="0">
              <a:buNone/>
            </a:pPr>
            <a:r>
              <a:rPr lang="en-US" sz="1400" dirty="0">
                <a:solidFill>
                  <a:schemeClr val="bg2"/>
                </a:solidFill>
              </a:rPr>
              <a:t>1 mm anatomy and soft tissue. But a dead lesion and a living one can look the same.</a:t>
            </a:r>
            <a:endParaRPr lang="en-US" sz="2000" dirty="0"/>
          </a:p>
        </p:txBody>
      </p:sp>
      <p:sp>
        <p:nvSpPr>
          <p:cNvPr id="12" name="pet_txt"/>
          <p:cNvSpPr txBox="1"/>
          <p:nvPr/>
        </p:nvSpPr>
        <p:spPr>
          <a:xfrm>
            <a:off x="7296912" y="5257800"/>
            <a:ext cx="3566160" cy="914400"/>
          </a:xfrm>
          <a:prstGeom prst="rect">
            <a:avLst/>
          </a:prstGeom>
          <a:noFill/>
          <a:ln/>
        </p:spPr>
        <p:txBody>
          <a:bodyPr wrap="square" lIns="0" tIns="0" rIns="0" bIns="0" rtlCol="0" anchor="t"/>
          <a:lstStyle/>
          <a:p>
            <a:pPr indent="0" marL="0">
              <a:buNone/>
            </a:pPr>
            <a:r>
              <a:rPr lang="en-US" sz="2000" b="1" dirty="0">
                <a:solidFill>
                  <a:schemeClr val="accent1"/>
                </a:solidFill>
              </a:rPr>
              <a:t>Shows WHAT'S ALIVE</a:t>
            </a:r>
            <a:endParaRPr lang="en-US" sz="2000" dirty="0"/>
          </a:p>
          <a:p>
            <a:pPr indent="0" marL="0">
              <a:buNone/>
            </a:pPr>
            <a:r>
              <a:rPr lang="en-US" sz="1400" dirty="0">
                <a:solidFill>
                  <a:schemeClr val="bg2"/>
                </a:solidFill>
              </a:rPr>
              <a:t>Lights up tumour metabolism. But it is blurry (6 mm) and comes from another scanner.</a:t>
            </a:r>
            <a:endParaRPr lang="en-US" sz="20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par>
                                <p:cTn id="11" presetID="42" presetClass="entr" presetSubtype="0" fill="hold" grpId="0" nodeType="withEffect">
                                  <p:stCondLst>
                                    <p:cond delay="40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700"/>
                                        <p:tgtEl>
                                          <p:spTgt spid="11"/>
                                        </p:tgtEl>
                                      </p:cBhvr>
                                    </p:animEffect>
                                    <p:anim calcmode="lin" valueType="num">
                                      <p:cBhvr additive="base">
                                        <p:cTn id="14" dur="700" decel="100000" fill="hold"/>
                                        <p:tgtEl>
                                          <p:spTgt spid="11"/>
                                        </p:tgtEl>
                                        <p:attrNameLst>
                                          <p:attrName>ppt_x</p:attrName>
                                        </p:attrNameLst>
                                      </p:cBhvr>
                                      <p:tavLst>
                                        <p:tav tm="0">
                                          <p:val>
                                            <p:strVal val="#ppt_x"/>
                                          </p:val>
                                        </p:tav>
                                        <p:tav tm="100000">
                                          <p:val>
                                            <p:strVal val="#ppt_x"/>
                                          </p:val>
                                        </p:tav>
                                      </p:tavLst>
                                    </p:anim>
                                    <p:anim calcmode="lin" valueType="num">
                                      <p:cBhvr additive="base">
                                        <p:cTn id="15" dur="700" decel="100000" fill="hold"/>
                                        <p:tgtEl>
                                          <p:spTgt spid="11"/>
                                        </p:tgtEl>
                                        <p:attrNameLst>
                                          <p:attrName>ppt_y</p:attrName>
                                        </p:attrNameLst>
                                      </p:cBhvr>
                                      <p:tavLst>
                                        <p:tav tm="0">
                                          <p:val>
                                            <p:strVal val="#ppt_y+0.05"/>
                                          </p:val>
                                        </p:tav>
                                        <p:tav tm="100000">
                                          <p:val>
                                            <p:strVal val="#ppt_y"/>
                                          </p:val>
                                        </p:tav>
                                      </p:tavLst>
                                    </p:anim>
                                  </p:childTnLst>
                                </p:cTn>
                              </p:par>
                              <p:par>
                                <p:cTn id="16" presetID="53" presetClass="entr" presetSubtype="16" fill="hold" grpId="0" nodeType="withEffect">
                                  <p:stCondLst>
                                    <p:cond delay="80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decel="100000" fill="hold"/>
                                        <p:tgtEl>
                                          <p:spTgt spid="8"/>
                                        </p:tgtEl>
                                        <p:attrNameLst>
                                          <p:attrName>ppt_w</p:attrName>
                                        </p:attrNameLst>
                                      </p:cBhvr>
                                      <p:tavLst>
                                        <p:tav tm="0">
                                          <p:val>
                                            <p:strVal val="#ppt_w*0.55"/>
                                          </p:val>
                                        </p:tav>
                                        <p:tav tm="100000">
                                          <p:val>
                                            <p:strVal val="#ppt_w"/>
                                          </p:val>
                                        </p:tav>
                                      </p:tavLst>
                                    </p:anim>
                                    <p:anim calcmode="lin" valueType="num">
                                      <p:cBhvr additive="base">
                                        <p:cTn id="19" dur="500" decel="100000" fill="hold"/>
                                        <p:tgtEl>
                                          <p:spTgt spid="8"/>
                                        </p:tgtEl>
                                        <p:attrNameLst>
                                          <p:attrName>ppt_h</p:attrName>
                                        </p:attrNameLst>
                                      </p:cBhvr>
                                      <p:tavLst>
                                        <p:tav tm="0">
                                          <p:val>
                                            <p:strVal val="#ppt_h*0.55"/>
                                          </p:val>
                                        </p:tav>
                                        <p:tav tm="100000">
                                          <p:val>
                                            <p:strVal val="#ppt_h"/>
                                          </p:val>
                                        </p:tav>
                                      </p:tavLst>
                                    </p:anim>
                                    <p:animEffect transition="in" filter="fade">
                                      <p:cBhvr>
                                        <p:cTn id="20" dur="500"/>
                                        <p:tgtEl>
                                          <p:spTgt spid="8"/>
                                        </p:tgtEl>
                                      </p:cBhvr>
                                    </p:animEffect>
                                  </p:childTnLst>
                                </p:cTn>
                              </p:par>
                              <p:par>
                                <p:cTn id="21" presetID="53" presetClass="entr" presetSubtype="16" fill="hold" grpId="0" nodeType="withEffect">
                                  <p:stCondLst>
                                    <p:cond delay="95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decel="100000" fill="hold"/>
                                        <p:tgtEl>
                                          <p:spTgt spid="9"/>
                                        </p:tgtEl>
                                        <p:attrNameLst>
                                          <p:attrName>ppt_w</p:attrName>
                                        </p:attrNameLst>
                                      </p:cBhvr>
                                      <p:tavLst>
                                        <p:tav tm="0">
                                          <p:val>
                                            <p:strVal val="#ppt_w*0.55"/>
                                          </p:val>
                                        </p:tav>
                                        <p:tav tm="100000">
                                          <p:val>
                                            <p:strVal val="#ppt_w"/>
                                          </p:val>
                                        </p:tav>
                                      </p:tavLst>
                                    </p:anim>
                                    <p:anim calcmode="lin" valueType="num">
                                      <p:cBhvr additive="base">
                                        <p:cTn id="24" dur="500" decel="100000" fill="hold"/>
                                        <p:tgtEl>
                                          <p:spTgt spid="9"/>
                                        </p:tgtEl>
                                        <p:attrNameLst>
                                          <p:attrName>ppt_h</p:attrName>
                                        </p:attrNameLst>
                                      </p:cBhvr>
                                      <p:tavLst>
                                        <p:tav tm="0">
                                          <p:val>
                                            <p:strVal val="#ppt_h*0.55"/>
                                          </p:val>
                                        </p:tav>
                                        <p:tav tm="100000">
                                          <p:val>
                                            <p:strVal val="#ppt_h"/>
                                          </p:val>
                                        </p:tav>
                                      </p:tavLst>
                                    </p:anim>
                                    <p:animEffect transition="in" filter="fade">
                                      <p:cBhvr>
                                        <p:cTn id="25" dur="500"/>
                                        <p:tgtEl>
                                          <p:spTgt spid="9"/>
                                        </p:tgtEl>
                                      </p:cBhvr>
                                    </p:animEffect>
                                  </p:childTnLst>
                                </p:cTn>
                              </p:par>
                              <p:par>
                                <p:cTn id="26" presetID="53" presetClass="entr" presetSubtype="16" fill="hold" grpId="0" nodeType="withEffect">
                                  <p:stCondLst>
                                    <p:cond delay="120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decel="100000" fill="hold"/>
                                        <p:tgtEl>
                                          <p:spTgt spid="10"/>
                                        </p:tgtEl>
                                        <p:attrNameLst>
                                          <p:attrName>ppt_w</p:attrName>
                                        </p:attrNameLst>
                                      </p:cBhvr>
                                      <p:tavLst>
                                        <p:tav tm="0">
                                          <p:val>
                                            <p:strVal val="#ppt_w*0.55"/>
                                          </p:val>
                                        </p:tav>
                                        <p:tav tm="100000">
                                          <p:val>
                                            <p:strVal val="#ppt_w"/>
                                          </p:val>
                                        </p:tav>
                                      </p:tavLst>
                                    </p:anim>
                                    <p:anim calcmode="lin" valueType="num">
                                      <p:cBhvr additive="base">
                                        <p:cTn id="29" dur="500" decel="100000" fill="hold"/>
                                        <p:tgtEl>
                                          <p:spTgt spid="10"/>
                                        </p:tgtEl>
                                        <p:attrNameLst>
                                          <p:attrName>ppt_h</p:attrName>
                                        </p:attrNameLst>
                                      </p:cBhvr>
                                      <p:tavLst>
                                        <p:tav tm="0">
                                          <p:val>
                                            <p:strVal val="#ppt_h*0.55"/>
                                          </p:val>
                                        </p:tav>
                                        <p:tav tm="100000">
                                          <p:val>
                                            <p:strVal val="#ppt_h"/>
                                          </p:val>
                                        </p:tav>
                                      </p:tavLst>
                                    </p:anim>
                                    <p:animEffect transition="in" filter="fade">
                                      <p:cBhvr>
                                        <p:cTn id="30" dur="500"/>
                                        <p:tgtEl>
                                          <p:spTgt spid="10"/>
                                        </p:tgtEl>
                                      </p:cBhvr>
                                    </p:animEffect>
                                  </p:childTnLst>
                                </p:cTn>
                              </p:par>
                              <p:par>
                                <p:cTn id="31" presetID="10" presetClass="entr" presetSubtype="0" fill="hold" grpId="0" nodeType="withEffect">
                                  <p:stCondLst>
                                    <p:cond delay="145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700"/>
                                        <p:tgtEl>
                                          <p:spTgt spid="5"/>
                                        </p:tgtEl>
                                      </p:cBhvr>
                                    </p:animEffect>
                                  </p:childTnLst>
                                </p:cTn>
                              </p:par>
                              <p:par>
                                <p:cTn id="34" presetID="10" presetClass="entr" presetSubtype="0" fill="hold" grpId="0" nodeType="withEffect">
                                  <p:stCondLst>
                                    <p:cond delay="145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700"/>
                                        <p:tgtEl>
                                          <p:spTgt spid="7"/>
                                        </p:tgtEl>
                                      </p:cBhvr>
                                    </p:animEffect>
                                  </p:childTnLst>
                                </p:cTn>
                              </p:par>
                              <p:par>
                                <p:cTn id="37" presetID="42" presetClass="entr" presetSubtype="0" fill="hold" grpId="0" nodeType="withEffect">
                                  <p:stCondLst>
                                    <p:cond delay="180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700"/>
                                        <p:tgtEl>
                                          <p:spTgt spid="12"/>
                                        </p:tgtEl>
                                      </p:cBhvr>
                                    </p:animEffect>
                                    <p:anim calcmode="lin" valueType="num">
                                      <p:cBhvr additive="base">
                                        <p:cTn id="40" dur="700" decel="100000" fill="hold"/>
                                        <p:tgtEl>
                                          <p:spTgt spid="12"/>
                                        </p:tgtEl>
                                        <p:attrNameLst>
                                          <p:attrName>ppt_x</p:attrName>
                                        </p:attrNameLst>
                                      </p:cBhvr>
                                      <p:tavLst>
                                        <p:tav tm="0">
                                          <p:val>
                                            <p:strVal val="#ppt_x"/>
                                          </p:val>
                                        </p:tav>
                                        <p:tav tm="100000">
                                          <p:val>
                                            <p:strVal val="#ppt_x"/>
                                          </p:val>
                                        </p:tav>
                                      </p:tavLst>
                                    </p:anim>
                                    <p:anim calcmode="lin" valueType="num">
                                      <p:cBhvr additive="base">
                                        <p:cTn id="41" dur="700" decel="100000" fill="hold"/>
                                        <p:tgtEl>
                                          <p:spTgt spid="12"/>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8" grpId="0" animBg="1"/>
      <p:bldP spid="9" grpId="0" animBg="1"/>
      <p:bldP spid="10" grpId="0" animBg="1"/>
      <p:bldP spid="7"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
          <p:cNvSpPr/>
          <p:nvPr>
            <p:ph idx="100" type="body" hasCustomPrompt="1"/>
          </p:nvPr>
        </p:nvSpPr>
        <p:spPr>
          <a:xfrm>
            <a:off x="548640" y="384048"/>
            <a:ext cx="7863840" cy="310896"/>
          </a:xfrm>
          <a:prstGeom prst="rect">
            <a:avLst/>
          </a:prstGeom>
          <a:noFill/>
          <a:ln/>
        </p:spPr>
        <p:txBody>
          <a:bodyPr wrap="square" lIns="0" tIns="0" rIns="0" bIns="0" rtlCol="0" anchor="ctr"/>
          <a:lstStyle/>
          <a:p>
            <a:pPr algn="l" indent="0" marL="0">
              <a:buNone/>
            </a:pPr>
            <a:r>
              <a:rPr lang="en-US" sz="1300" b="1" spc="300" kern="0" dirty="0">
                <a:solidFill>
                  <a:schemeClr val="accent1"/>
                </a:solidFill>
              </a:rPr>
              <a:t>WHY FUSION</a:t>
            </a:r>
            <a:endParaRPr lang="en-US" sz="1300" dirty="0"/>
          </a:p>
        </p:txBody>
      </p:sp>
      <p:sp>
        <p:nvSpPr>
          <p:cNvPr id="3" name="ttl"/>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200" b="1" dirty="0">
                <a:solidFill>
                  <a:schemeClr val="bg1"/>
                </a:solidFill>
              </a:rPr>
              <a:t>Fused, they show exactly where the living tumour is</a:t>
            </a:r>
            <a:endParaRPr lang="en-US" sz="3200" dirty="0"/>
          </a:p>
        </p:txBody>
      </p:sp>
      <p:pic>
        <p:nvPicPr>
          <p:cNvPr id="4" name="!!mri" descr="MRI slice">    </p:cNvPr>
          <p:cNvPicPr>
            <a:picLocks noChangeAspect="1"/>
          </p:cNvPicPr>
          <p:nvPr/>
        </p:nvPicPr>
        <p:blipFill>
          <a:blip r:embed="rId1"/>
          <a:stretch>
            <a:fillRect/>
          </a:stretch>
        </p:blipFill>
        <p:spPr>
          <a:xfrm>
            <a:off x="4453128" y="1691640"/>
            <a:ext cx="3291840" cy="4114800"/>
          </a:xfrm>
          <a:prstGeom prst="rect">
            <a:avLst/>
          </a:prstGeom>
        </p:spPr>
      </p:pic>
      <p:pic>
        <p:nvPicPr>
          <p:cNvPr id="5" name="!!pet" descr="PET slice">    </p:cNvPr>
          <p:cNvPicPr>
            <a:picLocks noChangeAspect="1"/>
          </p:cNvPicPr>
          <p:nvPr/>
        </p:nvPicPr>
        <p:blipFill>
          <a:blip r:embed="rId2">
            <a:alphaModFix amt="55000"/>
          </a:blip>
          <a:stretch>
            <a:fillRect/>
          </a:stretch>
        </p:blipFill>
        <p:spPr>
          <a:xfrm>
            <a:off x="4453128" y="1691640"/>
            <a:ext cx="3291840" cy="4114800"/>
          </a:xfrm>
          <a:prstGeom prst="rect">
            <a:avLst/>
          </a:prstGeom>
        </p:spPr>
      </p:pic>
      <p:pic>
        <p:nvPicPr>
          <p:cNvPr id="6" name="fused" descr="Fused PET/MRI slice">    </p:cNvPr>
          <p:cNvPicPr>
            <a:picLocks noChangeAspect="1"/>
          </p:cNvPicPr>
          <p:nvPr/>
        </p:nvPicPr>
        <p:blipFill>
          <a:blip r:embed="rId3"/>
          <a:stretch>
            <a:fillRect/>
          </a:stretch>
        </p:blipFill>
        <p:spPr>
          <a:xfrm>
            <a:off x="4453128" y="1691640"/>
            <a:ext cx="3291840" cy="4114800"/>
          </a:xfrm>
          <a:prstGeom prst="rect">
            <a:avLst/>
          </a:prstGeom>
        </p:spPr>
      </p:pic>
      <p:sp>
        <p:nvSpPr>
          <p:cNvPr id="7" name="!!mripill"/>
          <p:cNvSpPr/>
          <p:nvPr/>
        </p:nvSpPr>
        <p:spPr>
          <a:xfrm>
            <a:off x="4562856" y="1801368"/>
            <a:ext cx="685800" cy="310896"/>
          </a:xfrm>
          <a:prstGeom prst="roundRect">
            <a:avLst>
              <a:gd name="adj" fmla="val 47059"/>
            </a:avLst>
          </a:prstGeom>
          <a:solidFill>
            <a:schemeClr val="accent2"/>
          </a:solidFill>
          <a:ln w="9525">
            <a:solidFill>
              <a:schemeClr val="accent2"/>
            </a:solidFill>
          </a:ln>
        </p:spPr>
        <p:txBody>
          <a:bodyPr wrap="square" lIns="0" tIns="0" rIns="0" bIns="0" rtlCol="0" anchor="ctr"/>
          <a:lstStyle/>
          <a:p>
            <a:pPr algn="ctr" indent="0" marL="0">
              <a:buNone/>
            </a:pPr>
            <a:r>
              <a:rPr lang="en-US" sz="1200" b="1" spc="100" kern="0" dirty="0">
                <a:solidFill>
                  <a:schemeClr val="tx1"/>
                </a:solidFill>
              </a:rPr>
              <a:t>MRI</a:t>
            </a:r>
            <a:endParaRPr lang="en-US" sz="1200" dirty="0"/>
          </a:p>
        </p:txBody>
      </p:sp>
      <p:sp>
        <p:nvSpPr>
          <p:cNvPr id="8" name="!!petpill"/>
          <p:cNvSpPr/>
          <p:nvPr/>
        </p:nvSpPr>
        <p:spPr>
          <a:xfrm>
            <a:off x="5321808" y="1801368"/>
            <a:ext cx="685800" cy="310896"/>
          </a:xfrm>
          <a:prstGeom prst="roundRect">
            <a:avLst>
              <a:gd name="adj" fmla="val 47059"/>
            </a:avLst>
          </a:prstGeom>
          <a:solidFill>
            <a:schemeClr val="accent1"/>
          </a:solidFill>
          <a:ln w="9525">
            <a:solidFill>
              <a:schemeClr val="accent1"/>
            </a:solidFill>
          </a:ln>
        </p:spPr>
        <p:txBody>
          <a:bodyPr wrap="square" lIns="0" tIns="0" rIns="0" bIns="0" rtlCol="0" anchor="ctr"/>
          <a:lstStyle/>
          <a:p>
            <a:pPr algn="ctr" indent="0" marL="0">
              <a:buNone/>
            </a:pPr>
            <a:r>
              <a:rPr lang="en-US" sz="1200" b="1" spc="100" kern="0" dirty="0">
                <a:solidFill>
                  <a:schemeClr val="tx1"/>
                </a:solidFill>
              </a:rPr>
              <a:t>PET</a:t>
            </a:r>
            <a:endParaRPr lang="en-US" sz="1200" dirty="0"/>
          </a:p>
        </p:txBody>
      </p:sp>
      <p:sp>
        <p:nvSpPr>
          <p:cNvPr id="9" name="r1"/>
          <p:cNvSpPr/>
          <p:nvPr/>
        </p:nvSpPr>
        <p:spPr>
          <a:xfrm>
            <a:off x="5099717" y="3072849"/>
            <a:ext cx="585216" cy="585216"/>
          </a:xfrm>
          <a:prstGeom prst="ellipse">
            <a:avLst/>
          </a:prstGeom>
          <a:noFill/>
          <a:ln w="19050">
            <a:solidFill>
              <a:schemeClr val="bg2"/>
            </a:solidFill>
            <a:prstDash val="dash"/>
          </a:ln>
        </p:spPr>
      </p:sp>
      <p:sp>
        <p:nvSpPr>
          <p:cNvPr id="10" name="r2"/>
          <p:cNvSpPr/>
          <p:nvPr/>
        </p:nvSpPr>
        <p:spPr>
          <a:xfrm>
            <a:off x="5406584" y="4430500"/>
            <a:ext cx="585216" cy="585216"/>
          </a:xfrm>
          <a:prstGeom prst="ellipse">
            <a:avLst/>
          </a:prstGeom>
          <a:noFill/>
          <a:ln w="22225">
            <a:solidFill>
              <a:schemeClr val="accent1"/>
            </a:solidFill>
            <a:prstDash val="solid"/>
          </a:ln>
        </p:spPr>
      </p:sp>
      <p:sp>
        <p:nvSpPr>
          <p:cNvPr id="11" name="ln1"/>
          <p:cNvSpPr/>
          <p:nvPr/>
        </p:nvSpPr>
        <p:spPr>
          <a:xfrm>
            <a:off x="3886200" y="3365457"/>
            <a:ext cx="1213517" cy="0"/>
          </a:xfrm>
          <a:prstGeom prst="line">
            <a:avLst/>
          </a:prstGeom>
          <a:noFill/>
          <a:ln w="15875">
            <a:solidFill>
              <a:schemeClr val="bg2"/>
            </a:solidFill>
            <a:prstDash val="solid"/>
          </a:ln>
        </p:spPr>
      </p:sp>
      <p:sp>
        <p:nvSpPr>
          <p:cNvPr id="12" name="ln2"/>
          <p:cNvSpPr/>
          <p:nvPr/>
        </p:nvSpPr>
        <p:spPr>
          <a:xfrm>
            <a:off x="3886200" y="4723108"/>
            <a:ext cx="1520384" cy="0"/>
          </a:xfrm>
          <a:prstGeom prst="line">
            <a:avLst/>
          </a:prstGeom>
          <a:noFill/>
          <a:ln w="15875">
            <a:solidFill>
              <a:schemeClr val="accent1"/>
            </a:solidFill>
            <a:prstDash val="solid"/>
          </a:ln>
        </p:spPr>
      </p:sp>
      <p:sp>
        <p:nvSpPr>
          <p:cNvPr id="13" name="dead"/>
          <p:cNvSpPr txBox="1"/>
          <p:nvPr/>
        </p:nvSpPr>
        <p:spPr>
          <a:xfrm>
            <a:off x="548640" y="2953977"/>
            <a:ext cx="3200400" cy="822960"/>
          </a:xfrm>
          <a:prstGeom prst="rect">
            <a:avLst/>
          </a:prstGeom>
          <a:noFill/>
          <a:ln/>
        </p:spPr>
        <p:txBody>
          <a:bodyPr wrap="square" lIns="0" tIns="0" rIns="0" bIns="0" rtlCol="0" anchor="ctr"/>
          <a:lstStyle/>
          <a:p>
            <a:pPr indent="0" marL="0">
              <a:buNone/>
            </a:pPr>
            <a:r>
              <a:rPr lang="en-US" sz="1700" b="1" dirty="0">
                <a:solidFill>
                  <a:schemeClr val="bg1"/>
                </a:solidFill>
              </a:rPr>
              <a:t>Dead tissue (radionecrosis)</a:t>
            </a:r>
            <a:endParaRPr lang="en-US" sz="1700" dirty="0"/>
          </a:p>
          <a:p>
            <a:pPr indent="0" marL="0">
              <a:buNone/>
            </a:pPr>
            <a:r>
              <a:rPr lang="en-US" sz="1400" dirty="0">
                <a:solidFill>
                  <a:schemeClr val="bg2"/>
                </a:solidFill>
              </a:rPr>
              <a:t>MRI: looks like tumour. PET: cold, so it stays grey</a:t>
            </a:r>
            <a:endParaRPr lang="en-US" sz="1700" dirty="0"/>
          </a:p>
        </p:txBody>
      </p:sp>
      <p:sp>
        <p:nvSpPr>
          <p:cNvPr id="14" name="alive"/>
          <p:cNvSpPr txBox="1"/>
          <p:nvPr/>
        </p:nvSpPr>
        <p:spPr>
          <a:xfrm>
            <a:off x="548640" y="4311628"/>
            <a:ext cx="3200400" cy="822960"/>
          </a:xfrm>
          <a:prstGeom prst="rect">
            <a:avLst/>
          </a:prstGeom>
          <a:noFill/>
          <a:ln/>
        </p:spPr>
        <p:txBody>
          <a:bodyPr wrap="square" lIns="0" tIns="0" rIns="0" bIns="0" rtlCol="0" anchor="ctr"/>
          <a:lstStyle/>
          <a:p>
            <a:pPr indent="0" marL="0">
              <a:buNone/>
            </a:pPr>
            <a:r>
              <a:rPr lang="en-US" sz="1700" b="1" dirty="0">
                <a:solidFill>
                  <a:schemeClr val="accent1"/>
                </a:solidFill>
              </a:rPr>
              <a:t>Living tumour</a:t>
            </a:r>
            <a:endParaRPr lang="en-US" sz="1700" dirty="0"/>
          </a:p>
          <a:p>
            <a:pPr indent="0" marL="0">
              <a:buNone/>
            </a:pPr>
            <a:r>
              <a:rPr lang="en-US" sz="1400" dirty="0">
                <a:solidFill>
                  <a:schemeClr val="bg2"/>
                </a:solidFill>
              </a:rPr>
              <a:t>The PET glow sits exactly on its MRI lesion</a:t>
            </a:r>
            <a:endParaRPr lang="en-US" sz="1700" dirty="0"/>
          </a:p>
        </p:txBody>
      </p:sp>
      <p:sp>
        <p:nvSpPr>
          <p:cNvPr id="15" name="catch"/>
          <p:cNvSpPr/>
          <p:nvPr/>
        </p:nvSpPr>
        <p:spPr>
          <a:xfrm>
            <a:off x="8183880" y="1691640"/>
            <a:ext cx="3456432" cy="4114800"/>
          </a:xfrm>
          <a:prstGeom prst="roundRect">
            <a:avLst>
              <a:gd name="adj" fmla="val 3175"/>
            </a:avLst>
          </a:prstGeom>
          <a:solidFill>
            <a:schemeClr val="tx2"/>
          </a:solidFill>
          <a:ln w="9525">
            <a:solidFill>
              <a:schemeClr val="accent6"/>
            </a:solidFill>
            <a:prstDash val="solid"/>
          </a:ln>
        </p:spPr>
      </p:sp>
      <p:sp>
        <p:nvSpPr>
          <p:cNvPr id="16" name="catch_k"/>
          <p:cNvSpPr txBox="1"/>
          <p:nvPr/>
        </p:nvSpPr>
        <p:spPr>
          <a:xfrm>
            <a:off x="8458200" y="1920240"/>
            <a:ext cx="2926080" cy="274320"/>
          </a:xfrm>
          <a:prstGeom prst="rect">
            <a:avLst/>
          </a:prstGeom>
          <a:noFill/>
          <a:ln/>
        </p:spPr>
        <p:txBody>
          <a:bodyPr wrap="square" lIns="0" tIns="0" rIns="0" bIns="0" rtlCol="0" anchor="t"/>
          <a:lstStyle/>
          <a:p>
            <a:pPr indent="0" marL="0">
              <a:buNone/>
            </a:pPr>
            <a:r>
              <a:rPr lang="en-US" sz="1300" b="1" spc="300" kern="0" dirty="0">
                <a:solidFill>
                  <a:schemeClr val="accent5"/>
                </a:solidFill>
              </a:rPr>
              <a:t>THE CATCH</a:t>
            </a:r>
            <a:endParaRPr lang="en-US" sz="1300" dirty="0"/>
          </a:p>
        </p:txBody>
      </p:sp>
      <p:sp>
        <p:nvSpPr>
          <p:cNvPr id="17" name="catch_1"/>
          <p:cNvSpPr txBox="1"/>
          <p:nvPr/>
        </p:nvSpPr>
        <p:spPr>
          <a:xfrm>
            <a:off x="8458200" y="2286000"/>
            <a:ext cx="3017520" cy="1371600"/>
          </a:xfrm>
          <a:prstGeom prst="rect">
            <a:avLst/>
          </a:prstGeom>
          <a:noFill/>
          <a:ln/>
        </p:spPr>
        <p:txBody>
          <a:bodyPr wrap="square" lIns="0" tIns="0" rIns="0" bIns="0" rtlCol="0" anchor="t"/>
          <a:lstStyle/>
          <a:p>
            <a:pPr indent="0" marL="0">
              <a:buNone/>
            </a:pPr>
            <a:r>
              <a:rPr lang="en-US" sz="5000" b="1" dirty="0">
                <a:solidFill>
                  <a:schemeClr val="bg1"/>
                </a:solidFill>
              </a:rPr>
              <a:t>$4–6 M</a:t>
            </a:r>
            <a:endParaRPr lang="en-US" sz="5000" dirty="0"/>
          </a:p>
          <a:p>
            <a:pPr indent="0" marL="0">
              <a:buNone/>
            </a:pPr>
            <a:r>
              <a:rPr lang="en-US" sz="1500" dirty="0">
                <a:solidFill>
                  <a:schemeClr val="bg2"/>
                </a:solidFill>
              </a:rPr>
              <a:t>for one integrated PET-MRI scanner</a:t>
            </a:r>
            <a:endParaRPr lang="en-US" sz="5000" dirty="0"/>
          </a:p>
        </p:txBody>
      </p:sp>
      <p:sp>
        <p:nvSpPr>
          <p:cNvPr id="18" name="catch_2"/>
          <p:cNvSpPr txBox="1"/>
          <p:nvPr/>
        </p:nvSpPr>
        <p:spPr>
          <a:xfrm>
            <a:off x="8458200" y="3931920"/>
            <a:ext cx="3017520" cy="1371600"/>
          </a:xfrm>
          <a:prstGeom prst="rect">
            <a:avLst/>
          </a:prstGeom>
          <a:noFill/>
          <a:ln/>
        </p:spPr>
        <p:txBody>
          <a:bodyPr wrap="square" lIns="0" tIns="0" rIns="0" bIns="0" rtlCol="0" anchor="t"/>
          <a:lstStyle/>
          <a:p>
            <a:pPr indent="0" marL="0">
              <a:buNone/>
            </a:pPr>
            <a:r>
              <a:rPr lang="en-US" sz="5000" b="1" dirty="0">
                <a:solidFill>
                  <a:schemeClr val="bg1"/>
                </a:solidFill>
              </a:rPr>
              <a:t>~10</a:t>
            </a:r>
            <a:endParaRPr lang="en-US" sz="5000" dirty="0"/>
          </a:p>
          <a:p>
            <a:pPr indent="0" marL="0">
              <a:buNone/>
            </a:pPr>
            <a:r>
              <a:rPr lang="en-US" sz="1500" dirty="0">
                <a:solidFill>
                  <a:schemeClr val="bg2"/>
                </a:solidFill>
              </a:rPr>
              <a:t>of them in all of India</a:t>
            </a:r>
            <a:endParaRPr lang="en-US" sz="50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900"/>
                                        <p:tgtEl>
                                          <p:spTgt spid="6"/>
                                        </p:tgtEl>
                                      </p:cBhvr>
                                    </p:animEffect>
                                  </p:childTnLst>
                                </p:cTn>
                              </p:par>
                              <p:par>
                                <p:cTn id="8" presetID="53" presetClass="entr" presetSubtype="16" fill="hold" grpId="0" nodeType="withEffect">
                                  <p:stCondLst>
                                    <p:cond delay="700"/>
                                  </p:stCondLst>
                                  <p:childTnLst>
                                    <p:set>
                                      <p:cBhvr>
                                        <p:cTn id="9" dur="1" fill="hold">
                                          <p:stCondLst>
                                            <p:cond delay="0"/>
                                          </p:stCondLst>
                                        </p:cTn>
                                        <p:tgtEl>
                                          <p:spTgt spid="9"/>
                                        </p:tgtEl>
                                        <p:attrNameLst>
                                          <p:attrName>style.visibility</p:attrName>
                                        </p:attrNameLst>
                                      </p:cBhvr>
                                      <p:to>
                                        <p:strVal val="visible"/>
                                      </p:to>
                                    </p:set>
                                    <p:anim calcmode="lin" valueType="num">
                                      <p:cBhvr additive="base">
                                        <p:cTn id="10" dur="450" decel="100000" fill="hold"/>
                                        <p:tgtEl>
                                          <p:spTgt spid="9"/>
                                        </p:tgtEl>
                                        <p:attrNameLst>
                                          <p:attrName>ppt_w</p:attrName>
                                        </p:attrNameLst>
                                      </p:cBhvr>
                                      <p:tavLst>
                                        <p:tav tm="0">
                                          <p:val>
                                            <p:strVal val="#ppt_w*0.55"/>
                                          </p:val>
                                        </p:tav>
                                        <p:tav tm="100000">
                                          <p:val>
                                            <p:strVal val="#ppt_w"/>
                                          </p:val>
                                        </p:tav>
                                      </p:tavLst>
                                    </p:anim>
                                    <p:anim calcmode="lin" valueType="num">
                                      <p:cBhvr additive="base">
                                        <p:cTn id="11" dur="450" decel="100000" fill="hold"/>
                                        <p:tgtEl>
                                          <p:spTgt spid="9"/>
                                        </p:tgtEl>
                                        <p:attrNameLst>
                                          <p:attrName>ppt_h</p:attrName>
                                        </p:attrNameLst>
                                      </p:cBhvr>
                                      <p:tavLst>
                                        <p:tav tm="0">
                                          <p:val>
                                            <p:strVal val="#ppt_h*0.55"/>
                                          </p:val>
                                        </p:tav>
                                        <p:tav tm="100000">
                                          <p:val>
                                            <p:strVal val="#ppt_h"/>
                                          </p:val>
                                        </p:tav>
                                      </p:tavLst>
                                    </p:anim>
                                    <p:animEffect transition="in" filter="fade">
                                      <p:cBhvr>
                                        <p:cTn id="12" dur="450"/>
                                        <p:tgtEl>
                                          <p:spTgt spid="9"/>
                                        </p:tgtEl>
                                      </p:cBhvr>
                                    </p:animEffect>
                                  </p:childTnLst>
                                </p:cTn>
                              </p:par>
                              <p:par>
                                <p:cTn id="13" presetID="22" presetClass="entr" presetSubtype="8" fill="hold" grpId="0" nodeType="withEffect">
                                  <p:stCondLst>
                                    <p:cond delay="85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450"/>
                                        <p:tgtEl>
                                          <p:spTgt spid="11"/>
                                        </p:tgtEl>
                                      </p:cBhvr>
                                    </p:animEffect>
                                  </p:childTnLst>
                                </p:cTn>
                              </p:par>
                              <p:par>
                                <p:cTn id="16" presetID="42" presetClass="entr" presetSubtype="0" fill="hold" grpId="0" nodeType="withEffect">
                                  <p:stCondLst>
                                    <p:cond delay="100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600"/>
                                        <p:tgtEl>
                                          <p:spTgt spid="13"/>
                                        </p:tgtEl>
                                      </p:cBhvr>
                                    </p:animEffect>
                                    <p:anim calcmode="lin" valueType="num">
                                      <p:cBhvr additive="base">
                                        <p:cTn id="19" dur="600" decel="100000" fill="hold"/>
                                        <p:tgtEl>
                                          <p:spTgt spid="13"/>
                                        </p:tgtEl>
                                        <p:attrNameLst>
                                          <p:attrName>ppt_x</p:attrName>
                                        </p:attrNameLst>
                                      </p:cBhvr>
                                      <p:tavLst>
                                        <p:tav tm="0">
                                          <p:val>
                                            <p:strVal val="#ppt_x-0.035"/>
                                          </p:val>
                                        </p:tav>
                                        <p:tav tm="100000">
                                          <p:val>
                                            <p:strVal val="#ppt_x"/>
                                          </p:val>
                                        </p:tav>
                                      </p:tavLst>
                                    </p:anim>
                                    <p:anim calcmode="lin" valueType="num">
                                      <p:cBhvr additive="base">
                                        <p:cTn id="20" dur="600" decel="100000" fill="hold"/>
                                        <p:tgtEl>
                                          <p:spTgt spid="13"/>
                                        </p:tgtEl>
                                        <p:attrNameLst>
                                          <p:attrName>ppt_y</p:attrName>
                                        </p:attrNameLst>
                                      </p:cBhvr>
                                      <p:tavLst>
                                        <p:tav tm="0">
                                          <p:val>
                                            <p:strVal val="#ppt_y"/>
                                          </p:val>
                                        </p:tav>
                                        <p:tav tm="100000">
                                          <p:val>
                                            <p:strVal val="#ppt_y"/>
                                          </p:val>
                                        </p:tav>
                                      </p:tavLst>
                                    </p:anim>
                                  </p:childTnLst>
                                </p:cTn>
                              </p:par>
                              <p:par>
                                <p:cTn id="21" presetID="53" presetClass="entr" presetSubtype="16" fill="hold" grpId="0" nodeType="withEffect">
                                  <p:stCondLst>
                                    <p:cond delay="125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450" decel="100000" fill="hold"/>
                                        <p:tgtEl>
                                          <p:spTgt spid="10"/>
                                        </p:tgtEl>
                                        <p:attrNameLst>
                                          <p:attrName>ppt_w</p:attrName>
                                        </p:attrNameLst>
                                      </p:cBhvr>
                                      <p:tavLst>
                                        <p:tav tm="0">
                                          <p:val>
                                            <p:strVal val="#ppt_w*0.55"/>
                                          </p:val>
                                        </p:tav>
                                        <p:tav tm="100000">
                                          <p:val>
                                            <p:strVal val="#ppt_w"/>
                                          </p:val>
                                        </p:tav>
                                      </p:tavLst>
                                    </p:anim>
                                    <p:anim calcmode="lin" valueType="num">
                                      <p:cBhvr additive="base">
                                        <p:cTn id="24" dur="450" decel="100000" fill="hold"/>
                                        <p:tgtEl>
                                          <p:spTgt spid="10"/>
                                        </p:tgtEl>
                                        <p:attrNameLst>
                                          <p:attrName>ppt_h</p:attrName>
                                        </p:attrNameLst>
                                      </p:cBhvr>
                                      <p:tavLst>
                                        <p:tav tm="0">
                                          <p:val>
                                            <p:strVal val="#ppt_h*0.55"/>
                                          </p:val>
                                        </p:tav>
                                        <p:tav tm="100000">
                                          <p:val>
                                            <p:strVal val="#ppt_h"/>
                                          </p:val>
                                        </p:tav>
                                      </p:tavLst>
                                    </p:anim>
                                    <p:animEffect transition="in" filter="fade">
                                      <p:cBhvr>
                                        <p:cTn id="25" dur="450"/>
                                        <p:tgtEl>
                                          <p:spTgt spid="10"/>
                                        </p:tgtEl>
                                      </p:cBhvr>
                                    </p:animEffect>
                                  </p:childTnLst>
                                </p:cTn>
                              </p:par>
                              <p:par>
                                <p:cTn id="26" presetID="22" presetClass="entr" presetSubtype="8" fill="hold" grpId="0" nodeType="withEffect">
                                  <p:stCondLst>
                                    <p:cond delay="140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450"/>
                                        <p:tgtEl>
                                          <p:spTgt spid="12"/>
                                        </p:tgtEl>
                                      </p:cBhvr>
                                    </p:animEffect>
                                  </p:childTnLst>
                                </p:cTn>
                              </p:par>
                              <p:par>
                                <p:cTn id="29" presetID="42" presetClass="entr" presetSubtype="0" fill="hold" grpId="0" nodeType="withEffect">
                                  <p:stCondLst>
                                    <p:cond delay="155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600"/>
                                        <p:tgtEl>
                                          <p:spTgt spid="14"/>
                                        </p:tgtEl>
                                      </p:cBhvr>
                                    </p:animEffect>
                                    <p:anim calcmode="lin" valueType="num">
                                      <p:cBhvr additive="base">
                                        <p:cTn id="32" dur="600" decel="100000" fill="hold"/>
                                        <p:tgtEl>
                                          <p:spTgt spid="14"/>
                                        </p:tgtEl>
                                        <p:attrNameLst>
                                          <p:attrName>ppt_x</p:attrName>
                                        </p:attrNameLst>
                                      </p:cBhvr>
                                      <p:tavLst>
                                        <p:tav tm="0">
                                          <p:val>
                                            <p:strVal val="#ppt_x-0.035"/>
                                          </p:val>
                                        </p:tav>
                                        <p:tav tm="100000">
                                          <p:val>
                                            <p:strVal val="#ppt_x"/>
                                          </p:val>
                                        </p:tav>
                                      </p:tavLst>
                                    </p:anim>
                                    <p:anim calcmode="lin" valueType="num">
                                      <p:cBhvr additive="base">
                                        <p:cTn id="33" dur="600" decel="100000" fill="hold"/>
                                        <p:tgtEl>
                                          <p:spTgt spid="14"/>
                                        </p:tgtEl>
                                        <p:attrNameLst>
                                          <p:attrName>ppt_y</p:attrName>
                                        </p:attrNameLst>
                                      </p:cBhvr>
                                      <p:tavLst>
                                        <p:tav tm="0">
                                          <p:val>
                                            <p:strVal val="#ppt_y"/>
                                          </p:val>
                                        </p:tav>
                                        <p:tav tm="100000">
                                          <p:val>
                                            <p:strVal val="#ppt_y"/>
                                          </p:val>
                                        </p:tav>
                                      </p:tavLst>
                                    </p:anim>
                                  </p:childTnLst>
                                </p:cTn>
                              </p:par>
                              <p:par>
                                <p:cTn id="34" presetID="42" presetClass="entr" presetSubtype="0" fill="hold" grpId="0" nodeType="withEffect">
                                  <p:stCondLst>
                                    <p:cond delay="200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700"/>
                                        <p:tgtEl>
                                          <p:spTgt spid="15"/>
                                        </p:tgtEl>
                                      </p:cBhvr>
                                    </p:animEffect>
                                    <p:anim calcmode="lin" valueType="num">
                                      <p:cBhvr additive="base">
                                        <p:cTn id="37" dur="700" decel="100000" fill="hold"/>
                                        <p:tgtEl>
                                          <p:spTgt spid="15"/>
                                        </p:tgtEl>
                                        <p:attrNameLst>
                                          <p:attrName>ppt_x</p:attrName>
                                        </p:attrNameLst>
                                      </p:cBhvr>
                                      <p:tavLst>
                                        <p:tav tm="0">
                                          <p:val>
                                            <p:strVal val="#ppt_x"/>
                                          </p:val>
                                        </p:tav>
                                        <p:tav tm="100000">
                                          <p:val>
                                            <p:strVal val="#ppt_x"/>
                                          </p:val>
                                        </p:tav>
                                      </p:tavLst>
                                    </p:anim>
                                    <p:anim calcmode="lin" valueType="num">
                                      <p:cBhvr additive="base">
                                        <p:cTn id="38" dur="700" decel="100000" fill="hold"/>
                                        <p:tgtEl>
                                          <p:spTgt spid="15"/>
                                        </p:tgtEl>
                                        <p:attrNameLst>
                                          <p:attrName>ppt_y</p:attrName>
                                        </p:attrNameLst>
                                      </p:cBhvr>
                                      <p:tavLst>
                                        <p:tav tm="0">
                                          <p:val>
                                            <p:strVal val="#ppt_y+0.05"/>
                                          </p:val>
                                        </p:tav>
                                        <p:tav tm="100000">
                                          <p:val>
                                            <p:strVal val="#ppt_y"/>
                                          </p:val>
                                        </p:tav>
                                      </p:tavLst>
                                    </p:anim>
                                  </p:childTnLst>
                                </p:cTn>
                              </p:par>
                              <p:par>
                                <p:cTn id="39" presetID="42" presetClass="entr" presetSubtype="0" fill="hold" grpId="0" nodeType="withEffect">
                                  <p:stCondLst>
                                    <p:cond delay="200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700"/>
                                        <p:tgtEl>
                                          <p:spTgt spid="16"/>
                                        </p:tgtEl>
                                      </p:cBhvr>
                                    </p:animEffect>
                                    <p:anim calcmode="lin" valueType="num">
                                      <p:cBhvr additive="base">
                                        <p:cTn id="42" dur="700" decel="100000" fill="hold"/>
                                        <p:tgtEl>
                                          <p:spTgt spid="16"/>
                                        </p:tgtEl>
                                        <p:attrNameLst>
                                          <p:attrName>ppt_x</p:attrName>
                                        </p:attrNameLst>
                                      </p:cBhvr>
                                      <p:tavLst>
                                        <p:tav tm="0">
                                          <p:val>
                                            <p:strVal val="#ppt_x"/>
                                          </p:val>
                                        </p:tav>
                                        <p:tav tm="100000">
                                          <p:val>
                                            <p:strVal val="#ppt_x"/>
                                          </p:val>
                                        </p:tav>
                                      </p:tavLst>
                                    </p:anim>
                                    <p:anim calcmode="lin" valueType="num">
                                      <p:cBhvr additive="base">
                                        <p:cTn id="43" dur="700" decel="100000" fill="hold"/>
                                        <p:tgtEl>
                                          <p:spTgt spid="16"/>
                                        </p:tgtEl>
                                        <p:attrNameLst>
                                          <p:attrName>ppt_y</p:attrName>
                                        </p:attrNameLst>
                                      </p:cBhvr>
                                      <p:tavLst>
                                        <p:tav tm="0">
                                          <p:val>
                                            <p:strVal val="#ppt_y+0.05"/>
                                          </p:val>
                                        </p:tav>
                                        <p:tav tm="100000">
                                          <p:val>
                                            <p:strVal val="#ppt_y"/>
                                          </p:val>
                                        </p:tav>
                                      </p:tavLst>
                                    </p:anim>
                                  </p:childTnLst>
                                </p:cTn>
                              </p:par>
                              <p:par>
                                <p:cTn id="44" presetID="42" presetClass="entr" presetSubtype="0" fill="hold" grpId="0" nodeType="withEffect">
                                  <p:stCondLst>
                                    <p:cond delay="215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700"/>
                                        <p:tgtEl>
                                          <p:spTgt spid="17"/>
                                        </p:tgtEl>
                                      </p:cBhvr>
                                    </p:animEffect>
                                    <p:anim calcmode="lin" valueType="num">
                                      <p:cBhvr additive="base">
                                        <p:cTn id="47" dur="700" decel="100000" fill="hold"/>
                                        <p:tgtEl>
                                          <p:spTgt spid="17"/>
                                        </p:tgtEl>
                                        <p:attrNameLst>
                                          <p:attrName>ppt_x</p:attrName>
                                        </p:attrNameLst>
                                      </p:cBhvr>
                                      <p:tavLst>
                                        <p:tav tm="0">
                                          <p:val>
                                            <p:strVal val="#ppt_x"/>
                                          </p:val>
                                        </p:tav>
                                        <p:tav tm="100000">
                                          <p:val>
                                            <p:strVal val="#ppt_x"/>
                                          </p:val>
                                        </p:tav>
                                      </p:tavLst>
                                    </p:anim>
                                    <p:anim calcmode="lin" valueType="num">
                                      <p:cBhvr additive="base">
                                        <p:cTn id="48" dur="700" decel="100000" fill="hold"/>
                                        <p:tgtEl>
                                          <p:spTgt spid="17"/>
                                        </p:tgtEl>
                                        <p:attrNameLst>
                                          <p:attrName>ppt_y</p:attrName>
                                        </p:attrNameLst>
                                      </p:cBhvr>
                                      <p:tavLst>
                                        <p:tav tm="0">
                                          <p:val>
                                            <p:strVal val="#ppt_y+0.05"/>
                                          </p:val>
                                        </p:tav>
                                        <p:tav tm="100000">
                                          <p:val>
                                            <p:strVal val="#ppt_y"/>
                                          </p:val>
                                        </p:tav>
                                      </p:tavLst>
                                    </p:anim>
                                  </p:childTnLst>
                                </p:cTn>
                              </p:par>
                              <p:par>
                                <p:cTn id="49" presetID="42" presetClass="entr" presetSubtype="0" fill="hold" grpId="0" nodeType="withEffect">
                                  <p:stCondLst>
                                    <p:cond delay="240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700"/>
                                        <p:tgtEl>
                                          <p:spTgt spid="18"/>
                                        </p:tgtEl>
                                      </p:cBhvr>
                                    </p:animEffect>
                                    <p:anim calcmode="lin" valueType="num">
                                      <p:cBhvr additive="base">
                                        <p:cTn id="52" dur="700" decel="100000" fill="hold"/>
                                        <p:tgtEl>
                                          <p:spTgt spid="18"/>
                                        </p:tgtEl>
                                        <p:attrNameLst>
                                          <p:attrName>ppt_x</p:attrName>
                                        </p:attrNameLst>
                                      </p:cBhvr>
                                      <p:tavLst>
                                        <p:tav tm="0">
                                          <p:val>
                                            <p:strVal val="#ppt_x"/>
                                          </p:val>
                                        </p:tav>
                                        <p:tav tm="100000">
                                          <p:val>
                                            <p:strVal val="#ppt_x"/>
                                          </p:val>
                                        </p:tav>
                                      </p:tavLst>
                                    </p:anim>
                                    <p:anim calcmode="lin" valueType="num">
                                      <p:cBhvr additive="base">
                                        <p:cTn id="53" dur="700" decel="100000" fill="hold"/>
                                        <p:tgtEl>
                                          <p:spTgt spid="18"/>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0" grpId="0" animBg="1"/>
      <p:bldP spid="12" grpId="0" animBg="1"/>
      <p:bldP spid="14" grpId="0" animBg="1"/>
      <p:bldP spid="15" grpId="0" animBg="1"/>
      <p:bldP spid="16" grpId="0" animBg="1"/>
      <p:bldP spid="17" grpId="0" animBg="1"/>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
          <p:cNvSpPr/>
          <p:nvPr>
            <p:ph idx="100" type="body" hasCustomPrompt="1"/>
          </p:nvPr>
        </p:nvSpPr>
        <p:spPr>
          <a:xfrm>
            <a:off x="548640" y="384048"/>
            <a:ext cx="7863840" cy="310896"/>
          </a:xfrm>
          <a:prstGeom prst="rect">
            <a:avLst/>
          </a:prstGeom>
          <a:noFill/>
          <a:ln/>
        </p:spPr>
        <p:txBody>
          <a:bodyPr wrap="square" lIns="0" tIns="0" rIns="0" bIns="0" rtlCol="0" anchor="ctr"/>
          <a:lstStyle/>
          <a:p>
            <a:pPr algn="l" indent="0" marL="0">
              <a:buNone/>
            </a:pPr>
            <a:r>
              <a:rPr lang="en-US" sz="1300" b="1" spc="300" kern="0" dirty="0">
                <a:solidFill>
                  <a:schemeClr val="accent1"/>
                </a:solidFill>
              </a:rPr>
              <a:t>THE GAP</a:t>
            </a:r>
            <a:endParaRPr lang="en-US" sz="1300" dirty="0"/>
          </a:p>
        </p:txBody>
      </p:sp>
      <p:sp>
        <p:nvSpPr>
          <p:cNvPr id="3" name="ttl"/>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200" b="1" dirty="0">
                <a:solidFill>
                  <a:schemeClr val="bg1"/>
                </a:solidFill>
              </a:rPr>
              <a:t>The scanners are already there. The fusion isn't</a:t>
            </a:r>
            <a:endParaRPr lang="en-US" sz="3200" dirty="0"/>
          </a:p>
        </p:txBody>
      </p:sp>
      <p:sp>
        <p:nvSpPr>
          <p:cNvPr id="4" name="g0"/>
          <p:cNvSpPr/>
          <p:nvPr/>
        </p:nvSpPr>
        <p:spPr>
          <a:xfrm>
            <a:off x="548640" y="1691640"/>
            <a:ext cx="3502152" cy="2834640"/>
          </a:xfrm>
          <a:prstGeom prst="roundRect">
            <a:avLst>
              <a:gd name="adj" fmla="val 3871"/>
            </a:avLst>
          </a:prstGeom>
          <a:solidFill>
            <a:schemeClr val="tx2"/>
          </a:solidFill>
          <a:ln w="9525">
            <a:solidFill>
              <a:schemeClr val="accent6"/>
            </a:solidFill>
            <a:prstDash val="solid"/>
          </a:ln>
        </p:spPr>
      </p:sp>
      <p:sp>
        <p:nvSpPr>
          <p:cNvPr id="5" name="g0i_ring"/>
          <p:cNvSpPr/>
          <p:nvPr/>
        </p:nvSpPr>
        <p:spPr>
          <a:xfrm>
            <a:off x="868680" y="1965960"/>
            <a:ext cx="731520" cy="731520"/>
          </a:xfrm>
          <a:prstGeom prst="ellipse">
            <a:avLst/>
          </a:prstGeom>
          <a:solidFill>
            <a:schemeClr val="tx2"/>
          </a:solidFill>
          <a:ln w="15875">
            <a:solidFill>
              <a:schemeClr val="accent2"/>
            </a:solidFill>
            <a:prstDash val="solid"/>
          </a:ln>
        </p:spPr>
      </p:sp>
      <p:pic>
        <p:nvPicPr>
          <p:cNvPr id="6" name="g0i_icon" descr="hospital icon">    </p:cNvPr>
          <p:cNvPicPr>
            <a:picLocks noChangeAspect="1"/>
          </p:cNvPicPr>
          <p:nvPr/>
        </p:nvPicPr>
        <p:blipFill>
          <a:blip r:embed="rId1"/>
          <a:stretch>
            <a:fillRect/>
          </a:stretch>
        </p:blipFill>
        <p:spPr>
          <a:xfrm>
            <a:off x="1044245" y="2141525"/>
            <a:ext cx="380390" cy="380390"/>
          </a:xfrm>
          <a:prstGeom prst="rect">
            <a:avLst/>
          </a:prstGeom>
        </p:spPr>
      </p:pic>
      <p:sp>
        <p:nvSpPr>
          <p:cNvPr id="7" name="g0n"/>
          <p:cNvSpPr txBox="1"/>
          <p:nvPr/>
        </p:nvSpPr>
        <p:spPr>
          <a:xfrm>
            <a:off x="868680" y="2834640"/>
            <a:ext cx="3017520" cy="822960"/>
          </a:xfrm>
          <a:prstGeom prst="rect">
            <a:avLst/>
          </a:prstGeom>
          <a:noFill/>
          <a:ln/>
        </p:spPr>
        <p:txBody>
          <a:bodyPr wrap="square" lIns="0" tIns="0" rIns="0" bIns="0" rtlCol="0" anchor="ctr"/>
          <a:lstStyle/>
          <a:p>
            <a:pPr indent="0" marL="0">
              <a:buNone/>
            </a:pPr>
            <a:r>
              <a:rPr lang="en-US" sz="5400" b="1" dirty="0">
                <a:solidFill>
                  <a:schemeClr val="accent2"/>
                </a:solidFill>
              </a:rPr>
              <a:t>700+</a:t>
            </a:r>
            <a:endParaRPr lang="en-US" sz="5400" dirty="0"/>
          </a:p>
        </p:txBody>
      </p:sp>
      <p:sp>
        <p:nvSpPr>
          <p:cNvPr id="8" name="g0l"/>
          <p:cNvSpPr txBox="1"/>
          <p:nvPr/>
        </p:nvSpPr>
        <p:spPr>
          <a:xfrm>
            <a:off x="868680" y="3703320"/>
            <a:ext cx="2926080" cy="640080"/>
          </a:xfrm>
          <a:prstGeom prst="rect">
            <a:avLst/>
          </a:prstGeom>
          <a:noFill/>
          <a:ln/>
        </p:spPr>
        <p:txBody>
          <a:bodyPr wrap="square" lIns="0" tIns="0" rIns="0" bIns="0" rtlCol="0" anchor="t"/>
          <a:lstStyle/>
          <a:p>
            <a:pPr indent="0" marL="0">
              <a:buNone/>
            </a:pPr>
            <a:r>
              <a:rPr lang="en-US" sz="1500" dirty="0">
                <a:solidFill>
                  <a:schemeClr val="bg2"/>
                </a:solidFill>
              </a:rPr>
              <a:t>cancer centres already own both a PET and an MRI scanner</a:t>
            </a:r>
            <a:endParaRPr lang="en-US" sz="1500" dirty="0"/>
          </a:p>
        </p:txBody>
      </p:sp>
      <p:sp>
        <p:nvSpPr>
          <p:cNvPr id="9" name="g1"/>
          <p:cNvSpPr/>
          <p:nvPr/>
        </p:nvSpPr>
        <p:spPr>
          <a:xfrm>
            <a:off x="4343400" y="1691640"/>
            <a:ext cx="3502152" cy="2834640"/>
          </a:xfrm>
          <a:prstGeom prst="roundRect">
            <a:avLst>
              <a:gd name="adj" fmla="val 3871"/>
            </a:avLst>
          </a:prstGeom>
          <a:solidFill>
            <a:schemeClr val="tx2"/>
          </a:solidFill>
          <a:ln w="9525">
            <a:solidFill>
              <a:schemeClr val="accent6"/>
            </a:solidFill>
            <a:prstDash val="solid"/>
          </a:ln>
        </p:spPr>
      </p:sp>
      <p:sp>
        <p:nvSpPr>
          <p:cNvPr id="10" name="g1i_ring"/>
          <p:cNvSpPr/>
          <p:nvPr/>
        </p:nvSpPr>
        <p:spPr>
          <a:xfrm>
            <a:off x="4663440" y="1965960"/>
            <a:ext cx="731520" cy="731520"/>
          </a:xfrm>
          <a:prstGeom prst="ellipse">
            <a:avLst/>
          </a:prstGeom>
          <a:solidFill>
            <a:schemeClr val="tx2"/>
          </a:solidFill>
          <a:ln w="15875">
            <a:solidFill>
              <a:schemeClr val="accent4"/>
            </a:solidFill>
            <a:prstDash val="solid"/>
          </a:ln>
        </p:spPr>
      </p:sp>
      <p:pic>
        <p:nvPicPr>
          <p:cNvPr id="11" name="g1i_icon" descr="users icon">    </p:cNvPr>
          <p:cNvPicPr>
            <a:picLocks noChangeAspect="1"/>
          </p:cNvPicPr>
          <p:nvPr/>
        </p:nvPicPr>
        <p:blipFill>
          <a:blip r:embed="rId2"/>
          <a:stretch>
            <a:fillRect/>
          </a:stretch>
        </p:blipFill>
        <p:spPr>
          <a:xfrm>
            <a:off x="4839005" y="2141525"/>
            <a:ext cx="380390" cy="380390"/>
          </a:xfrm>
          <a:prstGeom prst="rect">
            <a:avLst/>
          </a:prstGeom>
        </p:spPr>
      </p:pic>
      <p:sp>
        <p:nvSpPr>
          <p:cNvPr id="12" name="g1n"/>
          <p:cNvSpPr txBox="1"/>
          <p:nvPr/>
        </p:nvSpPr>
        <p:spPr>
          <a:xfrm>
            <a:off x="4663440" y="2834640"/>
            <a:ext cx="3017520" cy="822960"/>
          </a:xfrm>
          <a:prstGeom prst="rect">
            <a:avLst/>
          </a:prstGeom>
          <a:noFill/>
          <a:ln/>
        </p:spPr>
        <p:txBody>
          <a:bodyPr wrap="square" lIns="0" tIns="0" rIns="0" bIns="0" rtlCol="0" anchor="ctr"/>
          <a:lstStyle/>
          <a:p>
            <a:pPr indent="0" marL="0">
              <a:buNone/>
            </a:pPr>
            <a:r>
              <a:rPr lang="en-US" sz="5400" b="1" dirty="0">
                <a:solidFill>
                  <a:schemeClr val="accent4"/>
                </a:solidFill>
              </a:rPr>
              <a:t>6–8 lakh</a:t>
            </a:r>
            <a:endParaRPr lang="en-US" sz="5400" dirty="0"/>
          </a:p>
        </p:txBody>
      </p:sp>
      <p:sp>
        <p:nvSpPr>
          <p:cNvPr id="13" name="g1l"/>
          <p:cNvSpPr txBox="1"/>
          <p:nvPr/>
        </p:nvSpPr>
        <p:spPr>
          <a:xfrm>
            <a:off x="4663440" y="3703320"/>
            <a:ext cx="2926080" cy="640080"/>
          </a:xfrm>
          <a:prstGeom prst="rect">
            <a:avLst/>
          </a:prstGeom>
          <a:noFill/>
          <a:ln/>
        </p:spPr>
        <p:txBody>
          <a:bodyPr wrap="square" lIns="0" tIns="0" rIns="0" bIns="0" rtlCol="0" anchor="t"/>
          <a:lstStyle/>
          <a:p>
            <a:pPr indent="0" marL="0">
              <a:buNone/>
            </a:pPr>
            <a:r>
              <a:rPr lang="en-US" sz="1500" dirty="0">
                <a:solidFill>
                  <a:schemeClr val="bg2"/>
                </a:solidFill>
              </a:rPr>
              <a:t>patients a year who could benefit from fused imaging</a:t>
            </a:r>
            <a:endParaRPr lang="en-US" sz="1500" dirty="0"/>
          </a:p>
        </p:txBody>
      </p:sp>
      <p:sp>
        <p:nvSpPr>
          <p:cNvPr id="14" name="g2"/>
          <p:cNvSpPr/>
          <p:nvPr/>
        </p:nvSpPr>
        <p:spPr>
          <a:xfrm>
            <a:off x="8138160" y="1691640"/>
            <a:ext cx="3502152" cy="2834640"/>
          </a:xfrm>
          <a:prstGeom prst="roundRect">
            <a:avLst>
              <a:gd name="adj" fmla="val 3871"/>
            </a:avLst>
          </a:prstGeom>
          <a:solidFill>
            <a:schemeClr val="tx2"/>
          </a:solidFill>
          <a:ln w="9525">
            <a:solidFill>
              <a:schemeClr val="accent6"/>
            </a:solidFill>
            <a:prstDash val="solid"/>
          </a:ln>
        </p:spPr>
      </p:sp>
      <p:sp>
        <p:nvSpPr>
          <p:cNvPr id="15" name="g2i_ring"/>
          <p:cNvSpPr/>
          <p:nvPr/>
        </p:nvSpPr>
        <p:spPr>
          <a:xfrm>
            <a:off x="8458200" y="1965960"/>
            <a:ext cx="731520" cy="731520"/>
          </a:xfrm>
          <a:prstGeom prst="ellipse">
            <a:avLst/>
          </a:prstGeom>
          <a:solidFill>
            <a:schemeClr val="tx2"/>
          </a:solidFill>
          <a:ln w="15875">
            <a:solidFill>
              <a:schemeClr val="accent5"/>
            </a:solidFill>
            <a:prstDash val="solid"/>
          </a:ln>
        </p:spPr>
      </p:sp>
      <p:pic>
        <p:nvPicPr>
          <p:cNvPr id="16" name="g2i_icon" descr="scanner icon">    </p:cNvPr>
          <p:cNvPicPr>
            <a:picLocks noChangeAspect="1"/>
          </p:cNvPicPr>
          <p:nvPr/>
        </p:nvPicPr>
        <p:blipFill>
          <a:blip r:embed="rId3"/>
          <a:stretch>
            <a:fillRect/>
          </a:stretch>
        </p:blipFill>
        <p:spPr>
          <a:xfrm>
            <a:off x="8633765" y="2141525"/>
            <a:ext cx="380390" cy="380390"/>
          </a:xfrm>
          <a:prstGeom prst="rect">
            <a:avLst/>
          </a:prstGeom>
        </p:spPr>
      </p:pic>
      <p:sp>
        <p:nvSpPr>
          <p:cNvPr id="17" name="g2n"/>
          <p:cNvSpPr txBox="1"/>
          <p:nvPr/>
        </p:nvSpPr>
        <p:spPr>
          <a:xfrm>
            <a:off x="8458200" y="2834640"/>
            <a:ext cx="3017520" cy="822960"/>
          </a:xfrm>
          <a:prstGeom prst="rect">
            <a:avLst/>
          </a:prstGeom>
          <a:noFill/>
          <a:ln/>
        </p:spPr>
        <p:txBody>
          <a:bodyPr wrap="square" lIns="0" tIns="0" rIns="0" bIns="0" rtlCol="0" anchor="ctr"/>
          <a:lstStyle/>
          <a:p>
            <a:pPr indent="0" marL="0">
              <a:buNone/>
            </a:pPr>
            <a:r>
              <a:rPr lang="en-US" sz="5400" b="1" dirty="0">
                <a:solidFill>
                  <a:schemeClr val="accent5"/>
                </a:solidFill>
              </a:rPr>
              <a:t>~10</a:t>
            </a:r>
            <a:endParaRPr lang="en-US" sz="5400" dirty="0"/>
          </a:p>
        </p:txBody>
      </p:sp>
      <p:sp>
        <p:nvSpPr>
          <p:cNvPr id="18" name="g2l"/>
          <p:cNvSpPr txBox="1"/>
          <p:nvPr/>
        </p:nvSpPr>
        <p:spPr>
          <a:xfrm>
            <a:off x="8458200" y="3703320"/>
            <a:ext cx="2926080" cy="640080"/>
          </a:xfrm>
          <a:prstGeom prst="rect">
            <a:avLst/>
          </a:prstGeom>
          <a:noFill/>
          <a:ln/>
        </p:spPr>
        <p:txBody>
          <a:bodyPr wrap="square" lIns="0" tIns="0" rIns="0" bIns="0" rtlCol="0" anchor="t"/>
          <a:lstStyle/>
          <a:p>
            <a:pPr indent="0" marL="0">
              <a:buNone/>
            </a:pPr>
            <a:r>
              <a:rPr lang="en-US" sz="1500" dirty="0">
                <a:solidFill>
                  <a:schemeClr val="bg2"/>
                </a:solidFill>
              </a:rPr>
              <a:t>integrated PET-MRI scanners in the whole country</a:t>
            </a:r>
            <a:endParaRPr lang="en-US" sz="1500" dirty="0"/>
          </a:p>
        </p:txBody>
      </p:sp>
      <p:sp>
        <p:nvSpPr>
          <p:cNvPr id="19" name="today"/>
          <p:cNvSpPr/>
          <p:nvPr/>
        </p:nvSpPr>
        <p:spPr>
          <a:xfrm>
            <a:off x="548640" y="4754880"/>
            <a:ext cx="11091672" cy="960120"/>
          </a:xfrm>
          <a:prstGeom prst="roundRect">
            <a:avLst>
              <a:gd name="adj" fmla="val 11429"/>
            </a:avLst>
          </a:prstGeom>
          <a:solidFill>
            <a:schemeClr val="tx2"/>
          </a:solidFill>
          <a:ln w="9525">
            <a:solidFill>
              <a:schemeClr val="accent6"/>
            </a:solidFill>
            <a:prstDash val="solid"/>
          </a:ln>
        </p:spPr>
      </p:sp>
      <p:sp>
        <p:nvSpPr>
          <p:cNvPr id="20" name="todayi_ring"/>
          <p:cNvSpPr/>
          <p:nvPr/>
        </p:nvSpPr>
        <p:spPr>
          <a:xfrm>
            <a:off x="777240" y="4965192"/>
            <a:ext cx="548640" cy="548640"/>
          </a:xfrm>
          <a:prstGeom prst="ellipse">
            <a:avLst/>
          </a:prstGeom>
          <a:solidFill>
            <a:schemeClr val="tx2"/>
          </a:solidFill>
          <a:ln w="15875">
            <a:solidFill>
              <a:schemeClr val="accent5"/>
            </a:solidFill>
            <a:prstDash val="solid"/>
          </a:ln>
        </p:spPr>
      </p:sp>
      <p:pic>
        <p:nvPicPr>
          <p:cNvPr id="21" name="todayi_icon" descr="eye icon">    </p:cNvPr>
          <p:cNvPicPr>
            <a:picLocks noChangeAspect="1"/>
          </p:cNvPicPr>
          <p:nvPr/>
        </p:nvPicPr>
        <p:blipFill>
          <a:blip r:embed="rId4"/>
          <a:stretch>
            <a:fillRect/>
          </a:stretch>
        </p:blipFill>
        <p:spPr>
          <a:xfrm>
            <a:off x="908914" y="5096866"/>
            <a:ext cx="285293" cy="285293"/>
          </a:xfrm>
          <a:prstGeom prst="rect">
            <a:avLst/>
          </a:prstGeom>
        </p:spPr>
      </p:pic>
      <p:sp>
        <p:nvSpPr>
          <p:cNvPr id="22" name="today_t"/>
          <p:cNvSpPr txBox="1"/>
          <p:nvPr/>
        </p:nvSpPr>
        <p:spPr>
          <a:xfrm>
            <a:off x="1508760" y="4800600"/>
            <a:ext cx="9921240" cy="868680"/>
          </a:xfrm>
          <a:prstGeom prst="rect">
            <a:avLst/>
          </a:prstGeom>
          <a:noFill/>
          <a:ln/>
        </p:spPr>
        <p:txBody>
          <a:bodyPr wrap="square" lIns="0" tIns="0" rIns="0" bIns="0" rtlCol="0" anchor="ctr"/>
          <a:lstStyle/>
          <a:p>
            <a:pPr indent="0" marL="0">
              <a:buNone/>
            </a:pPr>
            <a:r>
              <a:rPr lang="en-US" sz="1700" b="1" dirty="0">
                <a:solidFill>
                  <a:schemeClr val="bg1"/>
                </a:solidFill>
              </a:rPr>
              <a:t>Today: </a:t>
            </a:r>
            <a:pPr indent="0" marL="0">
              <a:buNone/>
            </a:pPr>
            <a:r>
              <a:rPr lang="en-US" sz="1700" dirty="0">
                <a:solidFill>
                  <a:schemeClr val="bg2"/>
                </a:solidFill>
              </a:rPr>
              <a:t>the two scans sit on two screens and are compared by eye. Overlaid as-is, they miss by </a:t>
            </a:r>
            <a:pPr indent="0" marL="0">
              <a:buNone/>
            </a:pPr>
            <a:r>
              <a:rPr lang="en-US" sz="1700" b="1" dirty="0">
                <a:solidFill>
                  <a:schemeClr val="accent5"/>
                </a:solidFill>
              </a:rPr>
              <a:t>11.8 mm</a:t>
            </a:r>
            <a:pPr indent="0" marL="0">
              <a:buNone/>
            </a:pPr>
            <a:r>
              <a:rPr lang="en-US" sz="1700" dirty="0">
                <a:solidFill>
                  <a:schemeClr val="bg2"/>
                </a:solidFill>
              </a:rPr>
              <a:t> on average.</a:t>
            </a:r>
            <a:endParaRPr lang="en-US" sz="1700" dirty="0"/>
          </a:p>
        </p:txBody>
      </p:sp>
      <p:sp>
        <p:nvSpPr>
          <p:cNvPr id="23" name="src"/>
          <p:cNvSpPr txBox="1"/>
          <p:nvPr/>
        </p:nvSpPr>
        <p:spPr>
          <a:xfrm>
            <a:off x="548640" y="5852160"/>
            <a:ext cx="10058400" cy="274320"/>
          </a:xfrm>
          <a:prstGeom prst="rect">
            <a:avLst/>
          </a:prstGeom>
          <a:noFill/>
          <a:ln/>
        </p:spPr>
        <p:txBody>
          <a:bodyPr wrap="square" lIns="0" tIns="0" rIns="0" bIns="0" rtlCol="0" anchor="t"/>
          <a:lstStyle/>
          <a:p>
            <a:pPr indent="0" marL="0">
              <a:buNone/>
            </a:pPr>
            <a:r>
              <a:rPr lang="en-US" sz="1000" i="1" dirty="0">
                <a:solidFill>
                  <a:schemeClr val="bg2"/>
                </a:solidFill>
              </a:rPr>
              <a:t>Centre, scanner and patient counts: team market research. Overlay error: FusionMap benchmark, 12 test patients.</a:t>
            </a:r>
            <a:endParaRPr lang="en-US" sz="10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anim calcmode="lin" valueType="num">
                                      <p:cBhvr additive="base">
                                        <p:cTn id="8" dur="700" decel="100000" fill="hold"/>
                                        <p:tgtEl>
                                          <p:spTgt spid="4"/>
                                        </p:tgtEl>
                                        <p:attrNameLst>
                                          <p:attrName>ppt_x</p:attrName>
                                        </p:attrNameLst>
                                      </p:cBhvr>
                                      <p:tavLst>
                                        <p:tav tm="0">
                                          <p:val>
                                            <p:strVal val="#ppt_x"/>
                                          </p:val>
                                        </p:tav>
                                        <p:tav tm="100000">
                                          <p:val>
                                            <p:strVal val="#ppt_x"/>
                                          </p:val>
                                        </p:tav>
                                      </p:tavLst>
                                    </p:anim>
                                    <p:anim calcmode="lin" valueType="num">
                                      <p:cBhvr additive="base">
                                        <p:cTn id="9" dur="700" decel="100000" fill="hold"/>
                                        <p:tgtEl>
                                          <p:spTgt spid="4"/>
                                        </p:tgtEl>
                                        <p:attrNameLst>
                                          <p:attrName>ppt_y</p:attrName>
                                        </p:attrNameLst>
                                      </p:cBhvr>
                                      <p:tavLst>
                                        <p:tav tm="0">
                                          <p:val>
                                            <p:strVal val="#ppt_y+0.05"/>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700"/>
                                        <p:tgtEl>
                                          <p:spTgt spid="5"/>
                                        </p:tgtEl>
                                      </p:cBhvr>
                                    </p:animEffect>
                                    <p:anim calcmode="lin" valueType="num">
                                      <p:cBhvr additive="base">
                                        <p:cTn id="13" dur="700" decel="100000" fill="hold"/>
                                        <p:tgtEl>
                                          <p:spTgt spid="5"/>
                                        </p:tgtEl>
                                        <p:attrNameLst>
                                          <p:attrName>ppt_x</p:attrName>
                                        </p:attrNameLst>
                                      </p:cBhvr>
                                      <p:tavLst>
                                        <p:tav tm="0">
                                          <p:val>
                                            <p:strVal val="#ppt_x"/>
                                          </p:val>
                                        </p:tav>
                                        <p:tav tm="100000">
                                          <p:val>
                                            <p:strVal val="#ppt_x"/>
                                          </p:val>
                                        </p:tav>
                                      </p:tavLst>
                                    </p:anim>
                                    <p:anim calcmode="lin" valueType="num">
                                      <p:cBhvr additive="base">
                                        <p:cTn id="14" dur="700" decel="100000" fill="hold"/>
                                        <p:tgtEl>
                                          <p:spTgt spid="5"/>
                                        </p:tgtEl>
                                        <p:attrNameLst>
                                          <p:attrName>ppt_y</p:attrName>
                                        </p:attrNameLst>
                                      </p:cBhvr>
                                      <p:tavLst>
                                        <p:tav tm="0">
                                          <p:val>
                                            <p:strVal val="#ppt_y+0.05"/>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700"/>
                                        <p:tgtEl>
                                          <p:spTgt spid="6"/>
                                        </p:tgtEl>
                                      </p:cBhvr>
                                    </p:animEffect>
                                    <p:anim calcmode="lin" valueType="num">
                                      <p:cBhvr additive="base">
                                        <p:cTn id="18" dur="700" decel="100000" fill="hold"/>
                                        <p:tgtEl>
                                          <p:spTgt spid="6"/>
                                        </p:tgtEl>
                                        <p:attrNameLst>
                                          <p:attrName>ppt_x</p:attrName>
                                        </p:attrNameLst>
                                      </p:cBhvr>
                                      <p:tavLst>
                                        <p:tav tm="0">
                                          <p:val>
                                            <p:strVal val="#ppt_x"/>
                                          </p:val>
                                        </p:tav>
                                        <p:tav tm="100000">
                                          <p:val>
                                            <p:strVal val="#ppt_x"/>
                                          </p:val>
                                        </p:tav>
                                      </p:tavLst>
                                    </p:anim>
                                    <p:anim calcmode="lin" valueType="num">
                                      <p:cBhvr additive="base">
                                        <p:cTn id="19" dur="700" decel="100000" fill="hold"/>
                                        <p:tgtEl>
                                          <p:spTgt spid="6"/>
                                        </p:tgtEl>
                                        <p:attrNameLst>
                                          <p:attrName>ppt_y</p:attrName>
                                        </p:attrNameLst>
                                      </p:cBhvr>
                                      <p:tavLst>
                                        <p:tav tm="0">
                                          <p:val>
                                            <p:strVal val="#ppt_y+0.05"/>
                                          </p:val>
                                        </p:tav>
                                        <p:tav tm="100000">
                                          <p:val>
                                            <p:strVal val="#ppt_y"/>
                                          </p:val>
                                        </p:tav>
                                      </p:tavLst>
                                    </p:anim>
                                  </p:childTnLst>
                                </p:cTn>
                              </p:par>
                              <p:par>
                                <p:cTn id="20" presetID="42" presetClass="entr" presetSubtype="0" fill="hold" grpId="0" nodeType="withEffect">
                                  <p:stCondLst>
                                    <p:cond delay="1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700"/>
                                        <p:tgtEl>
                                          <p:spTgt spid="8"/>
                                        </p:tgtEl>
                                      </p:cBhvr>
                                    </p:animEffect>
                                    <p:anim calcmode="lin" valueType="num">
                                      <p:cBhvr additive="base">
                                        <p:cTn id="23" dur="700" decel="100000" fill="hold"/>
                                        <p:tgtEl>
                                          <p:spTgt spid="8"/>
                                        </p:tgtEl>
                                        <p:attrNameLst>
                                          <p:attrName>ppt_x</p:attrName>
                                        </p:attrNameLst>
                                      </p:cBhvr>
                                      <p:tavLst>
                                        <p:tav tm="0">
                                          <p:val>
                                            <p:strVal val="#ppt_x"/>
                                          </p:val>
                                        </p:tav>
                                        <p:tav tm="100000">
                                          <p:val>
                                            <p:strVal val="#ppt_x"/>
                                          </p:val>
                                        </p:tav>
                                      </p:tavLst>
                                    </p:anim>
                                    <p:anim calcmode="lin" valueType="num">
                                      <p:cBhvr additive="base">
                                        <p:cTn id="24" dur="700" decel="100000" fill="hold"/>
                                        <p:tgtEl>
                                          <p:spTgt spid="8"/>
                                        </p:tgtEl>
                                        <p:attrNameLst>
                                          <p:attrName>ppt_y</p:attrName>
                                        </p:attrNameLst>
                                      </p:cBhvr>
                                      <p:tavLst>
                                        <p:tav tm="0">
                                          <p:val>
                                            <p:strVal val="#ppt_y+0.05"/>
                                          </p:val>
                                        </p:tav>
                                        <p:tav tm="100000">
                                          <p:val>
                                            <p:strVal val="#ppt_y"/>
                                          </p:val>
                                        </p:tav>
                                      </p:tavLst>
                                    </p:anim>
                                  </p:childTnLst>
                                </p:cTn>
                              </p:par>
                              <p:par>
                                <p:cTn id="25" presetID="42" presetClass="entr" presetSubtype="0" fill="hold" grpId="0" nodeType="withEffect">
                                  <p:stCondLst>
                                    <p:cond delay="25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700"/>
                                        <p:tgtEl>
                                          <p:spTgt spid="9"/>
                                        </p:tgtEl>
                                      </p:cBhvr>
                                    </p:animEffect>
                                    <p:anim calcmode="lin" valueType="num">
                                      <p:cBhvr additive="base">
                                        <p:cTn id="28" dur="700" decel="100000" fill="hold"/>
                                        <p:tgtEl>
                                          <p:spTgt spid="9"/>
                                        </p:tgtEl>
                                        <p:attrNameLst>
                                          <p:attrName>ppt_x</p:attrName>
                                        </p:attrNameLst>
                                      </p:cBhvr>
                                      <p:tavLst>
                                        <p:tav tm="0">
                                          <p:val>
                                            <p:strVal val="#ppt_x"/>
                                          </p:val>
                                        </p:tav>
                                        <p:tav tm="100000">
                                          <p:val>
                                            <p:strVal val="#ppt_x"/>
                                          </p:val>
                                        </p:tav>
                                      </p:tavLst>
                                    </p:anim>
                                    <p:anim calcmode="lin" valueType="num">
                                      <p:cBhvr additive="base">
                                        <p:cTn id="29" dur="700" decel="100000" fill="hold"/>
                                        <p:tgtEl>
                                          <p:spTgt spid="9"/>
                                        </p:tgtEl>
                                        <p:attrNameLst>
                                          <p:attrName>ppt_y</p:attrName>
                                        </p:attrNameLst>
                                      </p:cBhvr>
                                      <p:tavLst>
                                        <p:tav tm="0">
                                          <p:val>
                                            <p:strVal val="#ppt_y+0.05"/>
                                          </p:val>
                                        </p:tav>
                                        <p:tav tm="100000">
                                          <p:val>
                                            <p:strVal val="#ppt_y"/>
                                          </p:val>
                                        </p:tav>
                                      </p:tavLst>
                                    </p:anim>
                                  </p:childTnLst>
                                </p:cTn>
                              </p:par>
                              <p:par>
                                <p:cTn id="30" presetID="42" presetClass="entr" presetSubtype="0" fill="hold" grpId="0" nodeType="withEffect">
                                  <p:stCondLst>
                                    <p:cond delay="25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700"/>
                                        <p:tgtEl>
                                          <p:spTgt spid="10"/>
                                        </p:tgtEl>
                                      </p:cBhvr>
                                    </p:animEffect>
                                    <p:anim calcmode="lin" valueType="num">
                                      <p:cBhvr additive="base">
                                        <p:cTn id="33" dur="700" decel="100000" fill="hold"/>
                                        <p:tgtEl>
                                          <p:spTgt spid="10"/>
                                        </p:tgtEl>
                                        <p:attrNameLst>
                                          <p:attrName>ppt_x</p:attrName>
                                        </p:attrNameLst>
                                      </p:cBhvr>
                                      <p:tavLst>
                                        <p:tav tm="0">
                                          <p:val>
                                            <p:strVal val="#ppt_x"/>
                                          </p:val>
                                        </p:tav>
                                        <p:tav tm="100000">
                                          <p:val>
                                            <p:strVal val="#ppt_x"/>
                                          </p:val>
                                        </p:tav>
                                      </p:tavLst>
                                    </p:anim>
                                    <p:anim calcmode="lin" valueType="num">
                                      <p:cBhvr additive="base">
                                        <p:cTn id="34" dur="700" decel="100000" fill="hold"/>
                                        <p:tgtEl>
                                          <p:spTgt spid="10"/>
                                        </p:tgtEl>
                                        <p:attrNameLst>
                                          <p:attrName>ppt_y</p:attrName>
                                        </p:attrNameLst>
                                      </p:cBhvr>
                                      <p:tavLst>
                                        <p:tav tm="0">
                                          <p:val>
                                            <p:strVal val="#ppt_y+0.05"/>
                                          </p:val>
                                        </p:tav>
                                        <p:tav tm="100000">
                                          <p:val>
                                            <p:strVal val="#ppt_y"/>
                                          </p:val>
                                        </p:tav>
                                      </p:tavLst>
                                    </p:anim>
                                  </p:childTnLst>
                                </p:cTn>
                              </p:par>
                              <p:par>
                                <p:cTn id="35" presetID="42" presetClass="entr" presetSubtype="0" fill="hold" grpId="0" nodeType="withEffect">
                                  <p:stCondLst>
                                    <p:cond delay="25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700"/>
                                        <p:tgtEl>
                                          <p:spTgt spid="11"/>
                                        </p:tgtEl>
                                      </p:cBhvr>
                                    </p:animEffect>
                                    <p:anim calcmode="lin" valueType="num">
                                      <p:cBhvr additive="base">
                                        <p:cTn id="38" dur="700" decel="100000" fill="hold"/>
                                        <p:tgtEl>
                                          <p:spTgt spid="11"/>
                                        </p:tgtEl>
                                        <p:attrNameLst>
                                          <p:attrName>ppt_x</p:attrName>
                                        </p:attrNameLst>
                                      </p:cBhvr>
                                      <p:tavLst>
                                        <p:tav tm="0">
                                          <p:val>
                                            <p:strVal val="#ppt_x"/>
                                          </p:val>
                                        </p:tav>
                                        <p:tav tm="100000">
                                          <p:val>
                                            <p:strVal val="#ppt_x"/>
                                          </p:val>
                                        </p:tav>
                                      </p:tavLst>
                                    </p:anim>
                                    <p:anim calcmode="lin" valueType="num">
                                      <p:cBhvr additive="base">
                                        <p:cTn id="39" dur="700" decel="100000" fill="hold"/>
                                        <p:tgtEl>
                                          <p:spTgt spid="11"/>
                                        </p:tgtEl>
                                        <p:attrNameLst>
                                          <p:attrName>ppt_y</p:attrName>
                                        </p:attrNameLst>
                                      </p:cBhvr>
                                      <p:tavLst>
                                        <p:tav tm="0">
                                          <p:val>
                                            <p:strVal val="#ppt_y+0.05"/>
                                          </p:val>
                                        </p:tav>
                                        <p:tav tm="100000">
                                          <p:val>
                                            <p:strVal val="#ppt_y"/>
                                          </p:val>
                                        </p:tav>
                                      </p:tavLst>
                                    </p:anim>
                                  </p:childTnLst>
                                </p:cTn>
                              </p:par>
                              <p:par>
                                <p:cTn id="40" presetID="53" presetClass="entr" presetSubtype="16" fill="hold" grpId="0" nodeType="withEffect">
                                  <p:stCondLst>
                                    <p:cond delay="300"/>
                                  </p:stCondLst>
                                  <p:childTnLst>
                                    <p:set>
                                      <p:cBhvr>
                                        <p:cTn id="41" dur="1" fill="hold">
                                          <p:stCondLst>
                                            <p:cond delay="0"/>
                                          </p:stCondLst>
                                        </p:cTn>
                                        <p:tgtEl>
                                          <p:spTgt spid="7"/>
                                        </p:tgtEl>
                                        <p:attrNameLst>
                                          <p:attrName>style.visibility</p:attrName>
                                        </p:attrNameLst>
                                      </p:cBhvr>
                                      <p:to>
                                        <p:strVal val="visible"/>
                                      </p:to>
                                    </p:set>
                                    <p:anim calcmode="lin" valueType="num">
                                      <p:cBhvr additive="base">
                                        <p:cTn id="42" dur="600" decel="100000" fill="hold"/>
                                        <p:tgtEl>
                                          <p:spTgt spid="7"/>
                                        </p:tgtEl>
                                        <p:attrNameLst>
                                          <p:attrName>ppt_w</p:attrName>
                                        </p:attrNameLst>
                                      </p:cBhvr>
                                      <p:tavLst>
                                        <p:tav tm="0">
                                          <p:val>
                                            <p:strVal val="#ppt_w*0.55"/>
                                          </p:val>
                                        </p:tav>
                                        <p:tav tm="100000">
                                          <p:val>
                                            <p:strVal val="#ppt_w"/>
                                          </p:val>
                                        </p:tav>
                                      </p:tavLst>
                                    </p:anim>
                                    <p:anim calcmode="lin" valueType="num">
                                      <p:cBhvr additive="base">
                                        <p:cTn id="43" dur="600" decel="100000" fill="hold"/>
                                        <p:tgtEl>
                                          <p:spTgt spid="7"/>
                                        </p:tgtEl>
                                        <p:attrNameLst>
                                          <p:attrName>ppt_h</p:attrName>
                                        </p:attrNameLst>
                                      </p:cBhvr>
                                      <p:tavLst>
                                        <p:tav tm="0">
                                          <p:val>
                                            <p:strVal val="#ppt_h*0.55"/>
                                          </p:val>
                                        </p:tav>
                                        <p:tav tm="100000">
                                          <p:val>
                                            <p:strVal val="#ppt_h"/>
                                          </p:val>
                                        </p:tav>
                                      </p:tavLst>
                                    </p:anim>
                                    <p:animEffect transition="in" filter="fade">
                                      <p:cBhvr>
                                        <p:cTn id="44" dur="600"/>
                                        <p:tgtEl>
                                          <p:spTgt spid="7"/>
                                        </p:tgtEl>
                                      </p:cBhvr>
                                    </p:animEffect>
                                  </p:childTnLst>
                                </p:cTn>
                              </p:par>
                              <p:par>
                                <p:cTn id="45" presetID="42" presetClass="entr" presetSubtype="0" fill="hold" grpId="0" nodeType="withEffect">
                                  <p:stCondLst>
                                    <p:cond delay="40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700"/>
                                        <p:tgtEl>
                                          <p:spTgt spid="13"/>
                                        </p:tgtEl>
                                      </p:cBhvr>
                                    </p:animEffect>
                                    <p:anim calcmode="lin" valueType="num">
                                      <p:cBhvr additive="base">
                                        <p:cTn id="48" dur="700" decel="100000" fill="hold"/>
                                        <p:tgtEl>
                                          <p:spTgt spid="13"/>
                                        </p:tgtEl>
                                        <p:attrNameLst>
                                          <p:attrName>ppt_x</p:attrName>
                                        </p:attrNameLst>
                                      </p:cBhvr>
                                      <p:tavLst>
                                        <p:tav tm="0">
                                          <p:val>
                                            <p:strVal val="#ppt_x"/>
                                          </p:val>
                                        </p:tav>
                                        <p:tav tm="100000">
                                          <p:val>
                                            <p:strVal val="#ppt_x"/>
                                          </p:val>
                                        </p:tav>
                                      </p:tavLst>
                                    </p:anim>
                                    <p:anim calcmode="lin" valueType="num">
                                      <p:cBhvr additive="base">
                                        <p:cTn id="49" dur="700" decel="100000" fill="hold"/>
                                        <p:tgtEl>
                                          <p:spTgt spid="13"/>
                                        </p:tgtEl>
                                        <p:attrNameLst>
                                          <p:attrName>ppt_y</p:attrName>
                                        </p:attrNameLst>
                                      </p:cBhvr>
                                      <p:tavLst>
                                        <p:tav tm="0">
                                          <p:val>
                                            <p:strVal val="#ppt_y+0.05"/>
                                          </p:val>
                                        </p:tav>
                                        <p:tav tm="100000">
                                          <p:val>
                                            <p:strVal val="#ppt_y"/>
                                          </p:val>
                                        </p:tav>
                                      </p:tavLst>
                                    </p:anim>
                                  </p:childTnLst>
                                </p:cTn>
                              </p:par>
                              <p:par>
                                <p:cTn id="50" presetID="42" presetClass="entr" presetSubtype="0" fill="hold" grpId="0" nodeType="withEffect">
                                  <p:stCondLst>
                                    <p:cond delay="50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700"/>
                                        <p:tgtEl>
                                          <p:spTgt spid="14"/>
                                        </p:tgtEl>
                                      </p:cBhvr>
                                    </p:animEffect>
                                    <p:anim calcmode="lin" valueType="num">
                                      <p:cBhvr additive="base">
                                        <p:cTn id="53" dur="700" decel="100000" fill="hold"/>
                                        <p:tgtEl>
                                          <p:spTgt spid="14"/>
                                        </p:tgtEl>
                                        <p:attrNameLst>
                                          <p:attrName>ppt_x</p:attrName>
                                        </p:attrNameLst>
                                      </p:cBhvr>
                                      <p:tavLst>
                                        <p:tav tm="0">
                                          <p:val>
                                            <p:strVal val="#ppt_x"/>
                                          </p:val>
                                        </p:tav>
                                        <p:tav tm="100000">
                                          <p:val>
                                            <p:strVal val="#ppt_x"/>
                                          </p:val>
                                        </p:tav>
                                      </p:tavLst>
                                    </p:anim>
                                    <p:anim calcmode="lin" valueType="num">
                                      <p:cBhvr additive="base">
                                        <p:cTn id="54" dur="700" decel="100000" fill="hold"/>
                                        <p:tgtEl>
                                          <p:spTgt spid="14"/>
                                        </p:tgtEl>
                                        <p:attrNameLst>
                                          <p:attrName>ppt_y</p:attrName>
                                        </p:attrNameLst>
                                      </p:cBhvr>
                                      <p:tavLst>
                                        <p:tav tm="0">
                                          <p:val>
                                            <p:strVal val="#ppt_y+0.05"/>
                                          </p:val>
                                        </p:tav>
                                        <p:tav tm="100000">
                                          <p:val>
                                            <p:strVal val="#ppt_y"/>
                                          </p:val>
                                        </p:tav>
                                      </p:tavLst>
                                    </p:anim>
                                  </p:childTnLst>
                                </p:cTn>
                              </p:par>
                              <p:par>
                                <p:cTn id="55" presetID="42" presetClass="entr" presetSubtype="0" fill="hold" grpId="0" nodeType="withEffect">
                                  <p:stCondLst>
                                    <p:cond delay="50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700"/>
                                        <p:tgtEl>
                                          <p:spTgt spid="15"/>
                                        </p:tgtEl>
                                      </p:cBhvr>
                                    </p:animEffect>
                                    <p:anim calcmode="lin" valueType="num">
                                      <p:cBhvr additive="base">
                                        <p:cTn id="58" dur="700" decel="100000" fill="hold"/>
                                        <p:tgtEl>
                                          <p:spTgt spid="15"/>
                                        </p:tgtEl>
                                        <p:attrNameLst>
                                          <p:attrName>ppt_x</p:attrName>
                                        </p:attrNameLst>
                                      </p:cBhvr>
                                      <p:tavLst>
                                        <p:tav tm="0">
                                          <p:val>
                                            <p:strVal val="#ppt_x"/>
                                          </p:val>
                                        </p:tav>
                                        <p:tav tm="100000">
                                          <p:val>
                                            <p:strVal val="#ppt_x"/>
                                          </p:val>
                                        </p:tav>
                                      </p:tavLst>
                                    </p:anim>
                                    <p:anim calcmode="lin" valueType="num">
                                      <p:cBhvr additive="base">
                                        <p:cTn id="59" dur="700" decel="100000" fill="hold"/>
                                        <p:tgtEl>
                                          <p:spTgt spid="15"/>
                                        </p:tgtEl>
                                        <p:attrNameLst>
                                          <p:attrName>ppt_y</p:attrName>
                                        </p:attrNameLst>
                                      </p:cBhvr>
                                      <p:tavLst>
                                        <p:tav tm="0">
                                          <p:val>
                                            <p:strVal val="#ppt_y+0.05"/>
                                          </p:val>
                                        </p:tav>
                                        <p:tav tm="100000">
                                          <p:val>
                                            <p:strVal val="#ppt_y"/>
                                          </p:val>
                                        </p:tav>
                                      </p:tavLst>
                                    </p:anim>
                                  </p:childTnLst>
                                </p:cTn>
                              </p:par>
                              <p:par>
                                <p:cTn id="60" presetID="42" presetClass="entr" presetSubtype="0" fill="hold" grpId="0" nodeType="withEffect">
                                  <p:stCondLst>
                                    <p:cond delay="50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700"/>
                                        <p:tgtEl>
                                          <p:spTgt spid="16"/>
                                        </p:tgtEl>
                                      </p:cBhvr>
                                    </p:animEffect>
                                    <p:anim calcmode="lin" valueType="num">
                                      <p:cBhvr additive="base">
                                        <p:cTn id="63" dur="700" decel="100000" fill="hold"/>
                                        <p:tgtEl>
                                          <p:spTgt spid="16"/>
                                        </p:tgtEl>
                                        <p:attrNameLst>
                                          <p:attrName>ppt_x</p:attrName>
                                        </p:attrNameLst>
                                      </p:cBhvr>
                                      <p:tavLst>
                                        <p:tav tm="0">
                                          <p:val>
                                            <p:strVal val="#ppt_x"/>
                                          </p:val>
                                        </p:tav>
                                        <p:tav tm="100000">
                                          <p:val>
                                            <p:strVal val="#ppt_x"/>
                                          </p:val>
                                        </p:tav>
                                      </p:tavLst>
                                    </p:anim>
                                    <p:anim calcmode="lin" valueType="num">
                                      <p:cBhvr additive="base">
                                        <p:cTn id="64" dur="700" decel="100000" fill="hold"/>
                                        <p:tgtEl>
                                          <p:spTgt spid="16"/>
                                        </p:tgtEl>
                                        <p:attrNameLst>
                                          <p:attrName>ppt_y</p:attrName>
                                        </p:attrNameLst>
                                      </p:cBhvr>
                                      <p:tavLst>
                                        <p:tav tm="0">
                                          <p:val>
                                            <p:strVal val="#ppt_y+0.05"/>
                                          </p:val>
                                        </p:tav>
                                        <p:tav tm="100000">
                                          <p:val>
                                            <p:strVal val="#ppt_y"/>
                                          </p:val>
                                        </p:tav>
                                      </p:tavLst>
                                    </p:anim>
                                  </p:childTnLst>
                                </p:cTn>
                              </p:par>
                              <p:par>
                                <p:cTn id="65" presetID="53" presetClass="entr" presetSubtype="16" fill="hold" grpId="0" nodeType="withEffect">
                                  <p:stCondLst>
                                    <p:cond delay="550"/>
                                  </p:stCondLst>
                                  <p:childTnLst>
                                    <p:set>
                                      <p:cBhvr>
                                        <p:cTn id="66" dur="1" fill="hold">
                                          <p:stCondLst>
                                            <p:cond delay="0"/>
                                          </p:stCondLst>
                                        </p:cTn>
                                        <p:tgtEl>
                                          <p:spTgt spid="12"/>
                                        </p:tgtEl>
                                        <p:attrNameLst>
                                          <p:attrName>style.visibility</p:attrName>
                                        </p:attrNameLst>
                                      </p:cBhvr>
                                      <p:to>
                                        <p:strVal val="visible"/>
                                      </p:to>
                                    </p:set>
                                    <p:anim calcmode="lin" valueType="num">
                                      <p:cBhvr additive="base">
                                        <p:cTn id="67" dur="600" decel="100000" fill="hold"/>
                                        <p:tgtEl>
                                          <p:spTgt spid="12"/>
                                        </p:tgtEl>
                                        <p:attrNameLst>
                                          <p:attrName>ppt_w</p:attrName>
                                        </p:attrNameLst>
                                      </p:cBhvr>
                                      <p:tavLst>
                                        <p:tav tm="0">
                                          <p:val>
                                            <p:strVal val="#ppt_w*0.55"/>
                                          </p:val>
                                        </p:tav>
                                        <p:tav tm="100000">
                                          <p:val>
                                            <p:strVal val="#ppt_w"/>
                                          </p:val>
                                        </p:tav>
                                      </p:tavLst>
                                    </p:anim>
                                    <p:anim calcmode="lin" valueType="num">
                                      <p:cBhvr additive="base">
                                        <p:cTn id="68" dur="600" decel="100000" fill="hold"/>
                                        <p:tgtEl>
                                          <p:spTgt spid="12"/>
                                        </p:tgtEl>
                                        <p:attrNameLst>
                                          <p:attrName>ppt_h</p:attrName>
                                        </p:attrNameLst>
                                      </p:cBhvr>
                                      <p:tavLst>
                                        <p:tav tm="0">
                                          <p:val>
                                            <p:strVal val="#ppt_h*0.55"/>
                                          </p:val>
                                        </p:tav>
                                        <p:tav tm="100000">
                                          <p:val>
                                            <p:strVal val="#ppt_h"/>
                                          </p:val>
                                        </p:tav>
                                      </p:tavLst>
                                    </p:anim>
                                    <p:animEffect transition="in" filter="fade">
                                      <p:cBhvr>
                                        <p:cTn id="69" dur="600"/>
                                        <p:tgtEl>
                                          <p:spTgt spid="12"/>
                                        </p:tgtEl>
                                      </p:cBhvr>
                                    </p:animEffect>
                                  </p:childTnLst>
                                </p:cTn>
                              </p:par>
                              <p:par>
                                <p:cTn id="70" presetID="42" presetClass="entr" presetSubtype="0" fill="hold" grpId="0" nodeType="withEffect">
                                  <p:stCondLst>
                                    <p:cond delay="65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700"/>
                                        <p:tgtEl>
                                          <p:spTgt spid="18"/>
                                        </p:tgtEl>
                                      </p:cBhvr>
                                    </p:animEffect>
                                    <p:anim calcmode="lin" valueType="num">
                                      <p:cBhvr additive="base">
                                        <p:cTn id="73" dur="700" decel="100000" fill="hold"/>
                                        <p:tgtEl>
                                          <p:spTgt spid="18"/>
                                        </p:tgtEl>
                                        <p:attrNameLst>
                                          <p:attrName>ppt_x</p:attrName>
                                        </p:attrNameLst>
                                      </p:cBhvr>
                                      <p:tavLst>
                                        <p:tav tm="0">
                                          <p:val>
                                            <p:strVal val="#ppt_x"/>
                                          </p:val>
                                        </p:tav>
                                        <p:tav tm="100000">
                                          <p:val>
                                            <p:strVal val="#ppt_x"/>
                                          </p:val>
                                        </p:tav>
                                      </p:tavLst>
                                    </p:anim>
                                    <p:anim calcmode="lin" valueType="num">
                                      <p:cBhvr additive="base">
                                        <p:cTn id="74" dur="700" decel="100000" fill="hold"/>
                                        <p:tgtEl>
                                          <p:spTgt spid="18"/>
                                        </p:tgtEl>
                                        <p:attrNameLst>
                                          <p:attrName>ppt_y</p:attrName>
                                        </p:attrNameLst>
                                      </p:cBhvr>
                                      <p:tavLst>
                                        <p:tav tm="0">
                                          <p:val>
                                            <p:strVal val="#ppt_y+0.05"/>
                                          </p:val>
                                        </p:tav>
                                        <p:tav tm="100000">
                                          <p:val>
                                            <p:strVal val="#ppt_y"/>
                                          </p:val>
                                        </p:tav>
                                      </p:tavLst>
                                    </p:anim>
                                  </p:childTnLst>
                                </p:cTn>
                              </p:par>
                              <p:par>
                                <p:cTn id="75" presetID="53" presetClass="entr" presetSubtype="16" fill="hold" grpId="0" nodeType="withEffect">
                                  <p:stCondLst>
                                    <p:cond delay="800"/>
                                  </p:stCondLst>
                                  <p:childTnLst>
                                    <p:set>
                                      <p:cBhvr>
                                        <p:cTn id="76" dur="1" fill="hold">
                                          <p:stCondLst>
                                            <p:cond delay="0"/>
                                          </p:stCondLst>
                                        </p:cTn>
                                        <p:tgtEl>
                                          <p:spTgt spid="17"/>
                                        </p:tgtEl>
                                        <p:attrNameLst>
                                          <p:attrName>style.visibility</p:attrName>
                                        </p:attrNameLst>
                                      </p:cBhvr>
                                      <p:to>
                                        <p:strVal val="visible"/>
                                      </p:to>
                                    </p:set>
                                    <p:anim calcmode="lin" valueType="num">
                                      <p:cBhvr additive="base">
                                        <p:cTn id="77" dur="600" decel="100000" fill="hold"/>
                                        <p:tgtEl>
                                          <p:spTgt spid="17"/>
                                        </p:tgtEl>
                                        <p:attrNameLst>
                                          <p:attrName>ppt_w</p:attrName>
                                        </p:attrNameLst>
                                      </p:cBhvr>
                                      <p:tavLst>
                                        <p:tav tm="0">
                                          <p:val>
                                            <p:strVal val="#ppt_w*0.55"/>
                                          </p:val>
                                        </p:tav>
                                        <p:tav tm="100000">
                                          <p:val>
                                            <p:strVal val="#ppt_w"/>
                                          </p:val>
                                        </p:tav>
                                      </p:tavLst>
                                    </p:anim>
                                    <p:anim calcmode="lin" valueType="num">
                                      <p:cBhvr additive="base">
                                        <p:cTn id="78" dur="600" decel="100000" fill="hold"/>
                                        <p:tgtEl>
                                          <p:spTgt spid="17"/>
                                        </p:tgtEl>
                                        <p:attrNameLst>
                                          <p:attrName>ppt_h</p:attrName>
                                        </p:attrNameLst>
                                      </p:cBhvr>
                                      <p:tavLst>
                                        <p:tav tm="0">
                                          <p:val>
                                            <p:strVal val="#ppt_h*0.55"/>
                                          </p:val>
                                        </p:tav>
                                        <p:tav tm="100000">
                                          <p:val>
                                            <p:strVal val="#ppt_h"/>
                                          </p:val>
                                        </p:tav>
                                      </p:tavLst>
                                    </p:anim>
                                    <p:animEffect transition="in" filter="fade">
                                      <p:cBhvr>
                                        <p:cTn id="79" dur="600"/>
                                        <p:tgtEl>
                                          <p:spTgt spid="17"/>
                                        </p:tgtEl>
                                      </p:cBhvr>
                                    </p:animEffect>
                                  </p:childTnLst>
                                </p:cTn>
                              </p:par>
                              <p:par>
                                <p:cTn id="80" presetID="10" presetClass="entr" presetSubtype="0" fill="hold" grpId="0" nodeType="withEffect">
                                  <p:stCondLst>
                                    <p:cond delay="110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600"/>
                                        <p:tgtEl>
                                          <p:spTgt spid="19"/>
                                        </p:tgtEl>
                                      </p:cBhvr>
                                    </p:animEffect>
                                  </p:childTnLst>
                                </p:cTn>
                              </p:par>
                              <p:par>
                                <p:cTn id="83" presetID="10" presetClass="entr" presetSubtype="0" fill="hold" grpId="0" nodeType="withEffect">
                                  <p:stCondLst>
                                    <p:cond delay="110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600"/>
                                        <p:tgtEl>
                                          <p:spTgt spid="20"/>
                                        </p:tgtEl>
                                      </p:cBhvr>
                                    </p:animEffect>
                                  </p:childTnLst>
                                </p:cTn>
                              </p:par>
                              <p:par>
                                <p:cTn id="86" presetID="10" presetClass="entr" presetSubtype="0" fill="hold" grpId="0" nodeType="withEffect">
                                  <p:stCondLst>
                                    <p:cond delay="110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600"/>
                                        <p:tgtEl>
                                          <p:spTgt spid="21"/>
                                        </p:tgtEl>
                                      </p:cBhvr>
                                    </p:animEffect>
                                  </p:childTnLst>
                                </p:cTn>
                              </p:par>
                              <p:par>
                                <p:cTn id="89" presetID="10" presetClass="entr" presetSubtype="0" fill="hold" grpId="0" nodeType="withEffect">
                                  <p:stCondLst>
                                    <p:cond delay="1250"/>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700"/>
                                        <p:tgtEl>
                                          <p:spTgt spid="22"/>
                                        </p:tgtEl>
                                      </p:cBhvr>
                                    </p:animEffect>
                                  </p:childTnLst>
                                </p:cTn>
                              </p:par>
                              <p:par>
                                <p:cTn id="92" presetID="10" presetClass="entr" presetSubtype="0" fill="hold" grpId="0" nodeType="withEffect">
                                  <p:stCondLst>
                                    <p:cond delay="160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9" grpId="0" animBg="1"/>
      <p:bldP spid="10" grpId="0" animBg="1"/>
      <p:bldP spid="7" grpId="0" animBg="1"/>
      <p:bldP spid="13" grpId="0" animBg="1"/>
      <p:bldP spid="14" grpId="0" animBg="1"/>
      <p:bldP spid="15" grpId="0" animBg="1"/>
      <p:bldP spid="12" grpId="0" animBg="1"/>
      <p:bldP spid="18" grpId="0" animBg="1"/>
      <p:bldP spid="17" grpId="0" animBg="1"/>
      <p:bldP spid="19" grpId="0" animBg="1"/>
      <p:bldP spid="20" grpId="0" animBg="1"/>
      <p:bldP spid="22" grpId="0" animBg="1"/>
      <p:bldP spid="2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
          <p:cNvSpPr/>
          <p:nvPr>
            <p:ph idx="100" type="body" hasCustomPrompt="1"/>
          </p:nvPr>
        </p:nvSpPr>
        <p:spPr>
          <a:xfrm>
            <a:off x="548640" y="384048"/>
            <a:ext cx="7863840" cy="310896"/>
          </a:xfrm>
          <a:prstGeom prst="rect">
            <a:avLst/>
          </a:prstGeom>
          <a:noFill/>
          <a:ln/>
        </p:spPr>
        <p:txBody>
          <a:bodyPr wrap="square" lIns="0" tIns="0" rIns="0" bIns="0" rtlCol="0" anchor="ctr"/>
          <a:lstStyle/>
          <a:p>
            <a:pPr algn="l" indent="0" marL="0">
              <a:buNone/>
            </a:pPr>
            <a:r>
              <a:rPr lang="en-US" sz="1300" b="1" spc="300" kern="0" dirty="0">
                <a:solidFill>
                  <a:schemeClr val="accent1"/>
                </a:solidFill>
              </a:rPr>
              <a:t>THE SOLUTION</a:t>
            </a:r>
            <a:endParaRPr lang="en-US" sz="1300" dirty="0"/>
          </a:p>
        </p:txBody>
      </p:sp>
      <p:sp>
        <p:nvSpPr>
          <p:cNvPr id="3" name="ttl"/>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200" b="1" dirty="0">
                <a:solidFill>
                  <a:schemeClr val="bg1"/>
                </a:solidFill>
              </a:rPr>
              <a:t>FusionMap fuses them in three steps, in software</a:t>
            </a:r>
            <a:endParaRPr lang="en-US" sz="3200" dirty="0"/>
          </a:p>
        </p:txBody>
      </p:sp>
      <p:sp>
        <p:nvSpPr>
          <p:cNvPr id="4" name="c0"/>
          <p:cNvSpPr/>
          <p:nvPr/>
        </p:nvSpPr>
        <p:spPr>
          <a:xfrm>
            <a:off x="548640" y="1691640"/>
            <a:ext cx="3502152" cy="3611880"/>
          </a:xfrm>
          <a:prstGeom prst="roundRect">
            <a:avLst>
              <a:gd name="adj" fmla="val 3133"/>
            </a:avLst>
          </a:prstGeom>
          <a:solidFill>
            <a:schemeClr val="tx2"/>
          </a:solidFill>
          <a:ln w="9525">
            <a:solidFill>
              <a:schemeClr val="accent6"/>
            </a:solidFill>
            <a:prstDash val="solid"/>
          </a:ln>
        </p:spPr>
      </p:sp>
      <p:sp>
        <p:nvSpPr>
          <p:cNvPr id="5" name="!!dot1"/>
          <p:cNvSpPr/>
          <p:nvPr/>
        </p:nvSpPr>
        <p:spPr>
          <a:xfrm>
            <a:off x="868680" y="2011680"/>
            <a:ext cx="731520" cy="731520"/>
          </a:xfrm>
          <a:prstGeom prst="ellipse">
            <a:avLst/>
          </a:prstGeom>
          <a:solidFill>
            <a:schemeClr val="accent2"/>
          </a:solidFill>
          <a:ln w="12700">
            <a:solidFill>
              <a:schemeClr val="accent2"/>
            </a:solidFill>
          </a:ln>
        </p:spPr>
        <p:txBody>
          <a:bodyPr wrap="square" lIns="0" tIns="0" rIns="0" bIns="0" rtlCol="0" anchor="ctr"/>
          <a:lstStyle/>
          <a:p>
            <a:pPr algn="ctr" indent="0" marL="0">
              <a:buNone/>
            </a:pPr>
            <a:r>
              <a:rPr lang="en-US" sz="2600" b="1" dirty="0">
                <a:solidFill>
                  <a:schemeClr val="tx1"/>
                </a:solidFill>
              </a:rPr>
              <a:t>1</a:t>
            </a:r>
            <a:endParaRPr lang="en-US" sz="2600" dirty="0"/>
          </a:p>
        </p:txBody>
      </p:sp>
      <p:sp>
        <p:nvSpPr>
          <p:cNvPr id="6" name="!!lab1"/>
          <p:cNvSpPr txBox="1"/>
          <p:nvPr/>
        </p:nvSpPr>
        <p:spPr>
          <a:xfrm>
            <a:off x="1783080" y="2011680"/>
            <a:ext cx="2148840" cy="731520"/>
          </a:xfrm>
          <a:prstGeom prst="rect">
            <a:avLst/>
          </a:prstGeom>
          <a:noFill/>
          <a:ln/>
        </p:spPr>
        <p:txBody>
          <a:bodyPr wrap="square" lIns="0" tIns="0" rIns="0" bIns="0" rtlCol="0" anchor="ctr"/>
          <a:lstStyle/>
          <a:p>
            <a:pPr indent="0" marL="0">
              <a:buNone/>
            </a:pPr>
            <a:r>
              <a:rPr lang="en-US" sz="2600" b="1" dirty="0">
                <a:solidFill>
                  <a:schemeClr val="bg1"/>
                </a:solidFill>
              </a:rPr>
              <a:t>Register</a:t>
            </a:r>
            <a:endParaRPr lang="en-US" sz="2600" dirty="0"/>
          </a:p>
        </p:txBody>
      </p:sp>
      <p:sp>
        <p:nvSpPr>
          <p:cNvPr id="7" name="c0d"/>
          <p:cNvSpPr txBox="1"/>
          <p:nvPr/>
        </p:nvSpPr>
        <p:spPr>
          <a:xfrm>
            <a:off x="868680" y="3017520"/>
            <a:ext cx="2880360" cy="1325880"/>
          </a:xfrm>
          <a:prstGeom prst="rect">
            <a:avLst/>
          </a:prstGeom>
          <a:noFill/>
          <a:ln/>
        </p:spPr>
        <p:txBody>
          <a:bodyPr wrap="square" lIns="0" tIns="0" rIns="0" bIns="0" rtlCol="0" anchor="t"/>
          <a:lstStyle/>
          <a:p>
            <a:pPr indent="0" marL="0">
              <a:buNone/>
            </a:pPr>
            <a:r>
              <a:rPr lang="en-US" sz="1500" dirty="0">
                <a:solidFill>
                  <a:schemeClr val="bg2"/>
                </a:solidFill>
              </a:rPr>
              <a:t>Line the scans up. Mutual-information alignment, with a VoxelMorph network built in for organs that deform.</a:t>
            </a:r>
            <a:endParaRPr lang="en-US" sz="1500" dirty="0"/>
          </a:p>
        </p:txBody>
      </p:sp>
      <p:sp>
        <p:nvSpPr>
          <p:cNvPr id="8" name="c0p"/>
          <p:cNvSpPr/>
          <p:nvPr/>
        </p:nvSpPr>
        <p:spPr>
          <a:xfrm>
            <a:off x="868680" y="4526280"/>
            <a:ext cx="2862072" cy="457200"/>
          </a:xfrm>
          <a:prstGeom prst="roundRect">
            <a:avLst>
              <a:gd name="adj" fmla="val 32000"/>
            </a:avLst>
          </a:prstGeom>
          <a:solidFill>
            <a:schemeClr val="accent2">
              <a:alpha val="20000"/>
            </a:schemeClr>
          </a:solidFill>
          <a:ln w="9525">
            <a:solidFill>
              <a:schemeClr val="accent2"/>
            </a:solidFill>
          </a:ln>
        </p:spPr>
        <p:txBody>
          <a:bodyPr wrap="square" lIns="0" tIns="0" rIns="0" bIns="0" rtlCol="0" anchor="ctr"/>
          <a:lstStyle/>
          <a:p>
            <a:pPr algn="ctr" indent="0" marL="0">
              <a:buNone/>
            </a:pPr>
            <a:r>
              <a:rPr lang="en-US" sz="1500" b="1" spc="100" kern="0" dirty="0">
                <a:solidFill>
                  <a:schemeClr val="accent2"/>
                </a:solidFill>
              </a:rPr>
              <a:t>error 11.8 → 0.86 mm</a:t>
            </a:r>
            <a:endParaRPr lang="en-US" sz="1500" dirty="0"/>
          </a:p>
        </p:txBody>
      </p:sp>
      <p:sp>
        <p:nvSpPr>
          <p:cNvPr id="9" name="ch0"/>
          <p:cNvSpPr/>
          <p:nvPr/>
        </p:nvSpPr>
        <p:spPr>
          <a:xfrm>
            <a:off x="4096512" y="3310128"/>
            <a:ext cx="201168" cy="365760"/>
          </a:xfrm>
          <a:prstGeom prst="chevron">
            <a:avLst/>
          </a:prstGeom>
          <a:solidFill>
            <a:schemeClr val="bg2"/>
          </a:solidFill>
          <a:ln w="12700">
            <a:solidFill>
              <a:schemeClr val="bg2"/>
            </a:solidFill>
            <a:prstDash val="solid"/>
          </a:ln>
        </p:spPr>
      </p:sp>
      <p:sp>
        <p:nvSpPr>
          <p:cNvPr id="10" name="c1"/>
          <p:cNvSpPr/>
          <p:nvPr/>
        </p:nvSpPr>
        <p:spPr>
          <a:xfrm>
            <a:off x="4343400" y="1691640"/>
            <a:ext cx="3502152" cy="3611880"/>
          </a:xfrm>
          <a:prstGeom prst="roundRect">
            <a:avLst>
              <a:gd name="adj" fmla="val 3133"/>
            </a:avLst>
          </a:prstGeom>
          <a:solidFill>
            <a:schemeClr val="tx2"/>
          </a:solidFill>
          <a:ln w="9525">
            <a:solidFill>
              <a:schemeClr val="accent6"/>
            </a:solidFill>
            <a:prstDash val="solid"/>
          </a:ln>
        </p:spPr>
      </p:sp>
      <p:sp>
        <p:nvSpPr>
          <p:cNvPr id="11" name="!!dot2"/>
          <p:cNvSpPr/>
          <p:nvPr/>
        </p:nvSpPr>
        <p:spPr>
          <a:xfrm>
            <a:off x="4663440" y="2011680"/>
            <a:ext cx="731520" cy="731520"/>
          </a:xfrm>
          <a:prstGeom prst="ellipse">
            <a:avLst/>
          </a:prstGeom>
          <a:solidFill>
            <a:schemeClr val="accent1"/>
          </a:solidFill>
          <a:ln w="12700">
            <a:solidFill>
              <a:schemeClr val="accent1"/>
            </a:solidFill>
          </a:ln>
        </p:spPr>
        <p:txBody>
          <a:bodyPr wrap="square" lIns="0" tIns="0" rIns="0" bIns="0" rtlCol="0" anchor="ctr"/>
          <a:lstStyle/>
          <a:p>
            <a:pPr algn="ctr" indent="0" marL="0">
              <a:buNone/>
            </a:pPr>
            <a:r>
              <a:rPr lang="en-US" sz="2600" b="1" dirty="0">
                <a:solidFill>
                  <a:schemeClr val="tx1"/>
                </a:solidFill>
              </a:rPr>
              <a:t>2</a:t>
            </a:r>
            <a:endParaRPr lang="en-US" sz="2600" dirty="0"/>
          </a:p>
        </p:txBody>
      </p:sp>
      <p:sp>
        <p:nvSpPr>
          <p:cNvPr id="12" name="!!lab2"/>
          <p:cNvSpPr txBox="1"/>
          <p:nvPr/>
        </p:nvSpPr>
        <p:spPr>
          <a:xfrm>
            <a:off x="5577840" y="2011680"/>
            <a:ext cx="2148840" cy="731520"/>
          </a:xfrm>
          <a:prstGeom prst="rect">
            <a:avLst/>
          </a:prstGeom>
          <a:noFill/>
          <a:ln/>
        </p:spPr>
        <p:txBody>
          <a:bodyPr wrap="square" lIns="0" tIns="0" rIns="0" bIns="0" rtlCol="0" anchor="ctr"/>
          <a:lstStyle/>
          <a:p>
            <a:pPr indent="0" marL="0">
              <a:buNone/>
            </a:pPr>
            <a:r>
              <a:rPr lang="en-US" sz="2600" b="1" dirty="0">
                <a:solidFill>
                  <a:schemeClr val="bg1"/>
                </a:solidFill>
              </a:rPr>
              <a:t>Sharpen</a:t>
            </a:r>
            <a:endParaRPr lang="en-US" sz="2600" dirty="0"/>
          </a:p>
        </p:txBody>
      </p:sp>
      <p:sp>
        <p:nvSpPr>
          <p:cNvPr id="13" name="c1d"/>
          <p:cNvSpPr txBox="1"/>
          <p:nvPr/>
        </p:nvSpPr>
        <p:spPr>
          <a:xfrm>
            <a:off x="4663440" y="3017520"/>
            <a:ext cx="2880360" cy="1325880"/>
          </a:xfrm>
          <a:prstGeom prst="rect">
            <a:avLst/>
          </a:prstGeom>
          <a:noFill/>
          <a:ln/>
        </p:spPr>
        <p:txBody>
          <a:bodyPr wrap="square" lIns="0" tIns="0" rIns="0" bIns="0" rtlCol="0" anchor="t"/>
          <a:lstStyle/>
          <a:p>
            <a:pPr indent="0" marL="0">
              <a:buNone/>
            </a:pPr>
            <a:r>
              <a:rPr lang="en-US" sz="1500" dirty="0">
                <a:solidFill>
                  <a:schemeClr val="bg2"/>
                </a:solidFill>
              </a:rPr>
              <a:t>Restore what scanner blur hides. An MRI-guided Vision-Transformer U-Net sharpens the PET.</a:t>
            </a:r>
            <a:endParaRPr lang="en-US" sz="1500" dirty="0"/>
          </a:p>
        </p:txBody>
      </p:sp>
      <p:sp>
        <p:nvSpPr>
          <p:cNvPr id="14" name="c1p"/>
          <p:cNvSpPr/>
          <p:nvPr/>
        </p:nvSpPr>
        <p:spPr>
          <a:xfrm>
            <a:off x="4663440" y="4526280"/>
            <a:ext cx="2862072" cy="457200"/>
          </a:xfrm>
          <a:prstGeom prst="roundRect">
            <a:avLst>
              <a:gd name="adj" fmla="val 32000"/>
            </a:avLst>
          </a:prstGeom>
          <a:solidFill>
            <a:schemeClr val="accent1">
              <a:alpha val="20000"/>
            </a:schemeClr>
          </a:solidFill>
          <a:ln w="9525">
            <a:solidFill>
              <a:schemeClr val="accent1"/>
            </a:solidFill>
          </a:ln>
        </p:spPr>
        <p:txBody>
          <a:bodyPr wrap="square" lIns="0" tIns="0" rIns="0" bIns="0" rtlCol="0" anchor="ctr"/>
          <a:lstStyle/>
          <a:p>
            <a:pPr algn="ctr" indent="0" marL="0">
              <a:buNone/>
            </a:pPr>
            <a:r>
              <a:rPr lang="en-US" sz="1500" b="1" spc="100" kern="0" dirty="0">
                <a:solidFill>
                  <a:schemeClr val="accent1"/>
                </a:solidFill>
              </a:rPr>
              <a:t>PSNR 26.4 → 36.6 dB</a:t>
            </a:r>
            <a:endParaRPr lang="en-US" sz="1500" dirty="0"/>
          </a:p>
        </p:txBody>
      </p:sp>
      <p:sp>
        <p:nvSpPr>
          <p:cNvPr id="15" name="ch1"/>
          <p:cNvSpPr/>
          <p:nvPr/>
        </p:nvSpPr>
        <p:spPr>
          <a:xfrm>
            <a:off x="7891272" y="3310128"/>
            <a:ext cx="201168" cy="365760"/>
          </a:xfrm>
          <a:prstGeom prst="chevron">
            <a:avLst/>
          </a:prstGeom>
          <a:solidFill>
            <a:schemeClr val="bg2"/>
          </a:solidFill>
          <a:ln w="12700">
            <a:solidFill>
              <a:schemeClr val="bg2"/>
            </a:solidFill>
            <a:prstDash val="solid"/>
          </a:ln>
        </p:spPr>
      </p:sp>
      <p:sp>
        <p:nvSpPr>
          <p:cNvPr id="16" name="c2"/>
          <p:cNvSpPr/>
          <p:nvPr/>
        </p:nvSpPr>
        <p:spPr>
          <a:xfrm>
            <a:off x="8138160" y="1691640"/>
            <a:ext cx="3502152" cy="3611880"/>
          </a:xfrm>
          <a:prstGeom prst="roundRect">
            <a:avLst>
              <a:gd name="adj" fmla="val 3133"/>
            </a:avLst>
          </a:prstGeom>
          <a:solidFill>
            <a:schemeClr val="tx2"/>
          </a:solidFill>
          <a:ln w="9525">
            <a:solidFill>
              <a:schemeClr val="accent6"/>
            </a:solidFill>
            <a:prstDash val="solid"/>
          </a:ln>
        </p:spPr>
      </p:sp>
      <p:sp>
        <p:nvSpPr>
          <p:cNvPr id="17" name="!!dot3"/>
          <p:cNvSpPr/>
          <p:nvPr/>
        </p:nvSpPr>
        <p:spPr>
          <a:xfrm>
            <a:off x="8458200" y="2011680"/>
            <a:ext cx="731520" cy="731520"/>
          </a:xfrm>
          <a:prstGeom prst="ellipse">
            <a:avLst/>
          </a:prstGeom>
          <a:solidFill>
            <a:schemeClr val="accent3"/>
          </a:solidFill>
          <a:ln w="12700">
            <a:solidFill>
              <a:schemeClr val="accent3"/>
            </a:solidFill>
          </a:ln>
        </p:spPr>
        <p:txBody>
          <a:bodyPr wrap="square" lIns="0" tIns="0" rIns="0" bIns="0" rtlCol="0" anchor="ctr"/>
          <a:lstStyle/>
          <a:p>
            <a:pPr algn="ctr" indent="0" marL="0">
              <a:buNone/>
            </a:pPr>
            <a:r>
              <a:rPr lang="en-US" sz="2600" b="1" dirty="0">
                <a:solidFill>
                  <a:schemeClr val="tx1"/>
                </a:solidFill>
              </a:rPr>
              <a:t>3</a:t>
            </a:r>
            <a:endParaRPr lang="en-US" sz="2600" dirty="0"/>
          </a:p>
        </p:txBody>
      </p:sp>
      <p:sp>
        <p:nvSpPr>
          <p:cNvPr id="18" name="!!lab3"/>
          <p:cNvSpPr txBox="1"/>
          <p:nvPr/>
        </p:nvSpPr>
        <p:spPr>
          <a:xfrm>
            <a:off x="9372600" y="2011680"/>
            <a:ext cx="2148840" cy="731520"/>
          </a:xfrm>
          <a:prstGeom prst="rect">
            <a:avLst/>
          </a:prstGeom>
          <a:noFill/>
          <a:ln/>
        </p:spPr>
        <p:txBody>
          <a:bodyPr wrap="square" lIns="0" tIns="0" rIns="0" bIns="0" rtlCol="0" anchor="ctr"/>
          <a:lstStyle/>
          <a:p>
            <a:pPr indent="0" marL="0">
              <a:buNone/>
            </a:pPr>
            <a:r>
              <a:rPr lang="en-US" sz="2600" b="1" dirty="0">
                <a:solidFill>
                  <a:schemeClr val="bg1"/>
                </a:solidFill>
              </a:rPr>
              <a:t>Fuse &amp; export</a:t>
            </a:r>
            <a:endParaRPr lang="en-US" sz="2600" dirty="0"/>
          </a:p>
        </p:txBody>
      </p:sp>
      <p:sp>
        <p:nvSpPr>
          <p:cNvPr id="19" name="c2d"/>
          <p:cNvSpPr txBox="1"/>
          <p:nvPr/>
        </p:nvSpPr>
        <p:spPr>
          <a:xfrm>
            <a:off x="8458200" y="3017520"/>
            <a:ext cx="2880360" cy="1325880"/>
          </a:xfrm>
          <a:prstGeom prst="rect">
            <a:avLst/>
          </a:prstGeom>
          <a:noFill/>
          <a:ln/>
        </p:spPr>
        <p:txBody>
          <a:bodyPr wrap="square" lIns="0" tIns="0" rIns="0" bIns="0" rtlCol="0" anchor="t"/>
          <a:lstStyle/>
          <a:p>
            <a:pPr indent="0" marL="0">
              <a:buNone/>
            </a:pPr>
            <a:r>
              <a:rPr lang="en-US" sz="1500" dirty="0">
                <a:solidFill>
                  <a:schemeClr val="bg2"/>
                </a:solidFill>
              </a:rPr>
              <a:t>One colour-coded DICOM plus tumour contours, pushed straight into PACS and radiotherapy planning.</a:t>
            </a:r>
            <a:endParaRPr lang="en-US" sz="1500" dirty="0"/>
          </a:p>
        </p:txBody>
      </p:sp>
      <p:sp>
        <p:nvSpPr>
          <p:cNvPr id="20" name="c2p"/>
          <p:cNvSpPr/>
          <p:nvPr/>
        </p:nvSpPr>
        <p:spPr>
          <a:xfrm>
            <a:off x="8458200" y="4526280"/>
            <a:ext cx="2862072" cy="457200"/>
          </a:xfrm>
          <a:prstGeom prst="roundRect">
            <a:avLst>
              <a:gd name="adj" fmla="val 32000"/>
            </a:avLst>
          </a:prstGeom>
          <a:solidFill>
            <a:schemeClr val="accent3">
              <a:alpha val="20000"/>
            </a:schemeClr>
          </a:solidFill>
          <a:ln w="9525">
            <a:solidFill>
              <a:schemeClr val="accent3"/>
            </a:solidFill>
          </a:ln>
        </p:spPr>
        <p:txBody>
          <a:bodyPr wrap="square" lIns="0" tIns="0" rIns="0" bIns="0" rtlCol="0" anchor="ctr"/>
          <a:lstStyle/>
          <a:p>
            <a:pPr algn="ctr" indent="0" marL="0">
              <a:buNone/>
            </a:pPr>
            <a:r>
              <a:rPr lang="en-US" sz="1500" b="1" spc="100" kern="0" dirty="0">
                <a:solidFill>
                  <a:schemeClr val="accent3"/>
                </a:solidFill>
              </a:rPr>
              <a:t>≈ 26 s per study · CPU</a:t>
            </a:r>
            <a:endParaRPr lang="en-US" sz="1500" dirty="0"/>
          </a:p>
        </p:txBody>
      </p:sp>
      <p:sp>
        <p:nvSpPr>
          <p:cNvPr id="21" name="io"/>
          <p:cNvSpPr txBox="1"/>
          <p:nvPr/>
        </p:nvSpPr>
        <p:spPr>
          <a:xfrm>
            <a:off x="548640" y="5532120"/>
            <a:ext cx="11091672" cy="411480"/>
          </a:xfrm>
          <a:prstGeom prst="rect">
            <a:avLst/>
          </a:prstGeom>
          <a:noFill/>
          <a:ln/>
        </p:spPr>
        <p:txBody>
          <a:bodyPr wrap="square" lIns="0" tIns="0" rIns="0" bIns="0" rtlCol="0" anchor="ctr"/>
          <a:lstStyle/>
          <a:p>
            <a:pPr indent="0" marL="0">
              <a:buNone/>
            </a:pPr>
            <a:r>
              <a:rPr lang="en-US" sz="1600" b="1" dirty="0">
                <a:solidFill>
                  <a:schemeClr val="bg1"/>
                </a:solidFill>
              </a:rPr>
              <a:t>DICOM in</a:t>
            </a:r>
            <a:pPr indent="0" marL="0">
              <a:buNone/>
            </a:pPr>
            <a:r>
              <a:rPr lang="en-US" sz="1600" dirty="0">
                <a:solidFill>
                  <a:schemeClr val="bg2"/>
                </a:solidFill>
              </a:rPr>
              <a:t> from any PET and any MRI   →   </a:t>
            </a:r>
            <a:pPr indent="0" marL="0">
              <a:buNone/>
            </a:pPr>
            <a:r>
              <a:rPr lang="en-US" sz="1600" b="1" dirty="0">
                <a:solidFill>
                  <a:schemeClr val="bg1"/>
                </a:solidFill>
              </a:rPr>
              <a:t>standard DICOM out</a:t>
            </a:r>
            <a:pPr indent="0" marL="0">
              <a:buNone/>
            </a:pPr>
            <a:r>
              <a:rPr lang="en-US" sz="1600" dirty="0">
                <a:solidFill>
                  <a:schemeClr val="bg2"/>
                </a:solidFill>
              </a:rPr>
              <a:t> into the hospital. No new hardware.</a:t>
            </a:r>
            <a:endParaRPr lang="en-US" sz="16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anim calcmode="lin" valueType="num">
                                      <p:cBhvr additive="base">
                                        <p:cTn id="8" dur="700" decel="100000" fill="hold"/>
                                        <p:tgtEl>
                                          <p:spTgt spid="4"/>
                                        </p:tgtEl>
                                        <p:attrNameLst>
                                          <p:attrName>ppt_x</p:attrName>
                                        </p:attrNameLst>
                                      </p:cBhvr>
                                      <p:tavLst>
                                        <p:tav tm="0">
                                          <p:val>
                                            <p:strVal val="#ppt_x"/>
                                          </p:val>
                                        </p:tav>
                                        <p:tav tm="100000">
                                          <p:val>
                                            <p:strVal val="#ppt_x"/>
                                          </p:val>
                                        </p:tav>
                                      </p:tavLst>
                                    </p:anim>
                                    <p:anim calcmode="lin" valueType="num">
                                      <p:cBhvr additive="base">
                                        <p:cTn id="9" dur="700" decel="100000" fill="hold"/>
                                        <p:tgtEl>
                                          <p:spTgt spid="4"/>
                                        </p:tgtEl>
                                        <p:attrNameLst>
                                          <p:attrName>ppt_y</p:attrName>
                                        </p:attrNameLst>
                                      </p:cBhvr>
                                      <p:tavLst>
                                        <p:tav tm="0">
                                          <p:val>
                                            <p:strVal val="#ppt_y+0.05"/>
                                          </p:val>
                                        </p:tav>
                                        <p:tav tm="100000">
                                          <p:val>
                                            <p:strVal val="#ppt_y"/>
                                          </p:val>
                                        </p:tav>
                                      </p:tavLst>
                                    </p:anim>
                                  </p:childTnLst>
                                </p:cTn>
                              </p:par>
                              <p:par>
                                <p:cTn id="10" presetID="53" presetClass="entr" presetSubtype="16" fill="hold" grpId="0" nodeType="withEffect">
                                  <p:stCondLst>
                                    <p:cond delay="15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50" decel="100000" fill="hold"/>
                                        <p:tgtEl>
                                          <p:spTgt spid="5"/>
                                        </p:tgtEl>
                                        <p:attrNameLst>
                                          <p:attrName>ppt_w</p:attrName>
                                        </p:attrNameLst>
                                      </p:cBhvr>
                                      <p:tavLst>
                                        <p:tav tm="0">
                                          <p:val>
                                            <p:strVal val="#ppt_w*0.55"/>
                                          </p:val>
                                        </p:tav>
                                        <p:tav tm="100000">
                                          <p:val>
                                            <p:strVal val="#ppt_w"/>
                                          </p:val>
                                        </p:tav>
                                      </p:tavLst>
                                    </p:anim>
                                    <p:anim calcmode="lin" valueType="num">
                                      <p:cBhvr additive="base">
                                        <p:cTn id="13" dur="550" decel="100000" fill="hold"/>
                                        <p:tgtEl>
                                          <p:spTgt spid="5"/>
                                        </p:tgtEl>
                                        <p:attrNameLst>
                                          <p:attrName>ppt_h</p:attrName>
                                        </p:attrNameLst>
                                      </p:cBhvr>
                                      <p:tavLst>
                                        <p:tav tm="0">
                                          <p:val>
                                            <p:strVal val="#ppt_h*0.55"/>
                                          </p:val>
                                        </p:tav>
                                        <p:tav tm="100000">
                                          <p:val>
                                            <p:strVal val="#ppt_h"/>
                                          </p:val>
                                        </p:tav>
                                      </p:tavLst>
                                    </p:anim>
                                    <p:animEffect transition="in" filter="fade">
                                      <p:cBhvr>
                                        <p:cTn id="14" dur="550"/>
                                        <p:tgtEl>
                                          <p:spTgt spid="5"/>
                                        </p:tgtEl>
                                      </p:cBhvr>
                                    </p:animEffect>
                                  </p:childTnLst>
                                </p:cTn>
                              </p:par>
                              <p:par>
                                <p:cTn id="15" presetID="42" presetClass="entr" presetSubtype="0" fill="hold" grpId="0" nodeType="withEffect">
                                  <p:stCondLst>
                                    <p:cond delay="25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anim calcmode="lin" valueType="num">
                                      <p:cBhvr additive="base">
                                        <p:cTn id="18" dur="600" decel="100000" fill="hold"/>
                                        <p:tgtEl>
                                          <p:spTgt spid="6"/>
                                        </p:tgtEl>
                                        <p:attrNameLst>
                                          <p:attrName>ppt_x</p:attrName>
                                        </p:attrNameLst>
                                      </p:cBhvr>
                                      <p:tavLst>
                                        <p:tav tm="0">
                                          <p:val>
                                            <p:strVal val="#ppt_x-0.035"/>
                                          </p:val>
                                        </p:tav>
                                        <p:tav tm="100000">
                                          <p:val>
                                            <p:strVal val="#ppt_x"/>
                                          </p:val>
                                        </p:tav>
                                      </p:tavLst>
                                    </p:anim>
                                    <p:anim calcmode="lin" valueType="num">
                                      <p:cBhvr additive="base">
                                        <p:cTn id="19" dur="600" decel="100000" fill="hold"/>
                                        <p:tgtEl>
                                          <p:spTgt spid="6"/>
                                        </p:tgtEl>
                                        <p:attrNameLst>
                                          <p:attrName>ppt_y</p:attrName>
                                        </p:attrNameLst>
                                      </p:cBhvr>
                                      <p:tavLst>
                                        <p:tav tm="0">
                                          <p:val>
                                            <p:strVal val="#ppt_y"/>
                                          </p:val>
                                        </p:tav>
                                        <p:tav tm="100000">
                                          <p:val>
                                            <p:strVal val="#ppt_y"/>
                                          </p:val>
                                        </p:tav>
                                      </p:tavLst>
                                    </p:anim>
                                  </p:childTnLst>
                                </p:cTn>
                              </p:par>
                              <p:par>
                                <p:cTn id="20" presetID="10" presetClass="entr" presetSubtype="0" fill="hold" grpId="0" nodeType="withEffect">
                                  <p:stCondLst>
                                    <p:cond delay="3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childTnLst>
                                </p:cTn>
                              </p:par>
                              <p:par>
                                <p:cTn id="23" presetID="53" presetClass="entr" presetSubtype="16" fill="hold" grpId="0" nodeType="withEffect">
                                  <p:stCondLst>
                                    <p:cond delay="45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decel="100000" fill="hold"/>
                                        <p:tgtEl>
                                          <p:spTgt spid="8"/>
                                        </p:tgtEl>
                                        <p:attrNameLst>
                                          <p:attrName>ppt_w</p:attrName>
                                        </p:attrNameLst>
                                      </p:cBhvr>
                                      <p:tavLst>
                                        <p:tav tm="0">
                                          <p:val>
                                            <p:strVal val="#ppt_w*0.55"/>
                                          </p:val>
                                        </p:tav>
                                        <p:tav tm="100000">
                                          <p:val>
                                            <p:strVal val="#ppt_w"/>
                                          </p:val>
                                        </p:tav>
                                      </p:tavLst>
                                    </p:anim>
                                    <p:anim calcmode="lin" valueType="num">
                                      <p:cBhvr additive="base">
                                        <p:cTn id="26" dur="500" decel="100000" fill="hold"/>
                                        <p:tgtEl>
                                          <p:spTgt spid="8"/>
                                        </p:tgtEl>
                                        <p:attrNameLst>
                                          <p:attrName>ppt_h</p:attrName>
                                        </p:attrNameLst>
                                      </p:cBhvr>
                                      <p:tavLst>
                                        <p:tav tm="0">
                                          <p:val>
                                            <p:strVal val="#ppt_h*0.55"/>
                                          </p:val>
                                        </p:tav>
                                        <p:tav tm="100000">
                                          <p:val>
                                            <p:strVal val="#ppt_h"/>
                                          </p:val>
                                        </p:tav>
                                      </p:tavLst>
                                    </p:anim>
                                    <p:animEffect transition="in" filter="fade">
                                      <p:cBhvr>
                                        <p:cTn id="27" dur="500"/>
                                        <p:tgtEl>
                                          <p:spTgt spid="8"/>
                                        </p:tgtEl>
                                      </p:cBhvr>
                                    </p:animEffect>
                                  </p:childTnLst>
                                </p:cTn>
                              </p:par>
                              <p:par>
                                <p:cTn id="28" presetID="22" presetClass="entr" presetSubtype="8" fill="hold" grpId="0" nodeType="withEffect">
                                  <p:stCondLst>
                                    <p:cond delay="50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400"/>
                                        <p:tgtEl>
                                          <p:spTgt spid="9"/>
                                        </p:tgtEl>
                                      </p:cBhvr>
                                    </p:animEffect>
                                  </p:childTnLst>
                                </p:cTn>
                              </p:par>
                              <p:par>
                                <p:cTn id="31" presetID="42" presetClass="entr" presetSubtype="0" fill="hold" grpId="0" nodeType="withEffect">
                                  <p:stCondLst>
                                    <p:cond delay="60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700"/>
                                        <p:tgtEl>
                                          <p:spTgt spid="10"/>
                                        </p:tgtEl>
                                      </p:cBhvr>
                                    </p:animEffect>
                                    <p:anim calcmode="lin" valueType="num">
                                      <p:cBhvr additive="base">
                                        <p:cTn id="34" dur="700" decel="100000" fill="hold"/>
                                        <p:tgtEl>
                                          <p:spTgt spid="10"/>
                                        </p:tgtEl>
                                        <p:attrNameLst>
                                          <p:attrName>ppt_x</p:attrName>
                                        </p:attrNameLst>
                                      </p:cBhvr>
                                      <p:tavLst>
                                        <p:tav tm="0">
                                          <p:val>
                                            <p:strVal val="#ppt_x"/>
                                          </p:val>
                                        </p:tav>
                                        <p:tav tm="100000">
                                          <p:val>
                                            <p:strVal val="#ppt_x"/>
                                          </p:val>
                                        </p:tav>
                                      </p:tavLst>
                                    </p:anim>
                                    <p:anim calcmode="lin" valueType="num">
                                      <p:cBhvr additive="base">
                                        <p:cTn id="35" dur="700" decel="100000" fill="hold"/>
                                        <p:tgtEl>
                                          <p:spTgt spid="10"/>
                                        </p:tgtEl>
                                        <p:attrNameLst>
                                          <p:attrName>ppt_y</p:attrName>
                                        </p:attrNameLst>
                                      </p:cBhvr>
                                      <p:tavLst>
                                        <p:tav tm="0">
                                          <p:val>
                                            <p:strVal val="#ppt_y+0.05"/>
                                          </p:val>
                                        </p:tav>
                                        <p:tav tm="100000">
                                          <p:val>
                                            <p:strVal val="#ppt_y"/>
                                          </p:val>
                                        </p:tav>
                                      </p:tavLst>
                                    </p:anim>
                                  </p:childTnLst>
                                </p:cTn>
                              </p:par>
                              <p:par>
                                <p:cTn id="36" presetID="53" presetClass="entr" presetSubtype="16" fill="hold" grpId="0" nodeType="withEffect">
                                  <p:stCondLst>
                                    <p:cond delay="75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50" decel="100000" fill="hold"/>
                                        <p:tgtEl>
                                          <p:spTgt spid="11"/>
                                        </p:tgtEl>
                                        <p:attrNameLst>
                                          <p:attrName>ppt_w</p:attrName>
                                        </p:attrNameLst>
                                      </p:cBhvr>
                                      <p:tavLst>
                                        <p:tav tm="0">
                                          <p:val>
                                            <p:strVal val="#ppt_w*0.55"/>
                                          </p:val>
                                        </p:tav>
                                        <p:tav tm="100000">
                                          <p:val>
                                            <p:strVal val="#ppt_w"/>
                                          </p:val>
                                        </p:tav>
                                      </p:tavLst>
                                    </p:anim>
                                    <p:anim calcmode="lin" valueType="num">
                                      <p:cBhvr additive="base">
                                        <p:cTn id="39" dur="550" decel="100000" fill="hold"/>
                                        <p:tgtEl>
                                          <p:spTgt spid="11"/>
                                        </p:tgtEl>
                                        <p:attrNameLst>
                                          <p:attrName>ppt_h</p:attrName>
                                        </p:attrNameLst>
                                      </p:cBhvr>
                                      <p:tavLst>
                                        <p:tav tm="0">
                                          <p:val>
                                            <p:strVal val="#ppt_h*0.55"/>
                                          </p:val>
                                        </p:tav>
                                        <p:tav tm="100000">
                                          <p:val>
                                            <p:strVal val="#ppt_h"/>
                                          </p:val>
                                        </p:tav>
                                      </p:tavLst>
                                    </p:anim>
                                    <p:animEffect transition="in" filter="fade">
                                      <p:cBhvr>
                                        <p:cTn id="40" dur="550"/>
                                        <p:tgtEl>
                                          <p:spTgt spid="11"/>
                                        </p:tgtEl>
                                      </p:cBhvr>
                                    </p:animEffect>
                                  </p:childTnLst>
                                </p:cTn>
                              </p:par>
                              <p:par>
                                <p:cTn id="41" presetID="42" presetClass="entr" presetSubtype="0" fill="hold" grpId="0" nodeType="withEffect">
                                  <p:stCondLst>
                                    <p:cond delay="85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00"/>
                                        <p:tgtEl>
                                          <p:spTgt spid="12"/>
                                        </p:tgtEl>
                                      </p:cBhvr>
                                    </p:animEffect>
                                    <p:anim calcmode="lin" valueType="num">
                                      <p:cBhvr additive="base">
                                        <p:cTn id="44" dur="600" decel="100000" fill="hold"/>
                                        <p:tgtEl>
                                          <p:spTgt spid="12"/>
                                        </p:tgtEl>
                                        <p:attrNameLst>
                                          <p:attrName>ppt_x</p:attrName>
                                        </p:attrNameLst>
                                      </p:cBhvr>
                                      <p:tavLst>
                                        <p:tav tm="0">
                                          <p:val>
                                            <p:strVal val="#ppt_x-0.035"/>
                                          </p:val>
                                        </p:tav>
                                        <p:tav tm="100000">
                                          <p:val>
                                            <p:strVal val="#ppt_x"/>
                                          </p:val>
                                        </p:tav>
                                      </p:tavLst>
                                    </p:anim>
                                    <p:anim calcmode="lin" valueType="num">
                                      <p:cBhvr additive="base">
                                        <p:cTn id="45" dur="600" decel="100000" fill="hold"/>
                                        <p:tgtEl>
                                          <p:spTgt spid="12"/>
                                        </p:tgtEl>
                                        <p:attrNameLst>
                                          <p:attrName>ppt_y</p:attrName>
                                        </p:attrNameLst>
                                      </p:cBhvr>
                                      <p:tavLst>
                                        <p:tav tm="0">
                                          <p:val>
                                            <p:strVal val="#ppt_y"/>
                                          </p:val>
                                        </p:tav>
                                        <p:tav tm="100000">
                                          <p:val>
                                            <p:strVal val="#ppt_y"/>
                                          </p:val>
                                        </p:tav>
                                      </p:tavLst>
                                    </p:anim>
                                  </p:childTnLst>
                                </p:cTn>
                              </p:par>
                              <p:par>
                                <p:cTn id="46" presetID="10" presetClass="entr" presetSubtype="0" fill="hold" grpId="0" nodeType="withEffect">
                                  <p:stCondLst>
                                    <p:cond delay="95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600"/>
                                        <p:tgtEl>
                                          <p:spTgt spid="13"/>
                                        </p:tgtEl>
                                      </p:cBhvr>
                                    </p:animEffect>
                                  </p:childTnLst>
                                </p:cTn>
                              </p:par>
                              <p:par>
                                <p:cTn id="49" presetID="53" presetClass="entr" presetSubtype="16" fill="hold" grpId="0" nodeType="withEffect">
                                  <p:stCondLst>
                                    <p:cond delay="105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decel="100000" fill="hold"/>
                                        <p:tgtEl>
                                          <p:spTgt spid="14"/>
                                        </p:tgtEl>
                                        <p:attrNameLst>
                                          <p:attrName>ppt_w</p:attrName>
                                        </p:attrNameLst>
                                      </p:cBhvr>
                                      <p:tavLst>
                                        <p:tav tm="0">
                                          <p:val>
                                            <p:strVal val="#ppt_w*0.55"/>
                                          </p:val>
                                        </p:tav>
                                        <p:tav tm="100000">
                                          <p:val>
                                            <p:strVal val="#ppt_w"/>
                                          </p:val>
                                        </p:tav>
                                      </p:tavLst>
                                    </p:anim>
                                    <p:anim calcmode="lin" valueType="num">
                                      <p:cBhvr additive="base">
                                        <p:cTn id="52" dur="500" decel="100000" fill="hold"/>
                                        <p:tgtEl>
                                          <p:spTgt spid="14"/>
                                        </p:tgtEl>
                                        <p:attrNameLst>
                                          <p:attrName>ppt_h</p:attrName>
                                        </p:attrNameLst>
                                      </p:cBhvr>
                                      <p:tavLst>
                                        <p:tav tm="0">
                                          <p:val>
                                            <p:strVal val="#ppt_h*0.55"/>
                                          </p:val>
                                        </p:tav>
                                        <p:tav tm="100000">
                                          <p:val>
                                            <p:strVal val="#ppt_h"/>
                                          </p:val>
                                        </p:tav>
                                      </p:tavLst>
                                    </p:anim>
                                    <p:animEffect transition="in" filter="fade">
                                      <p:cBhvr>
                                        <p:cTn id="53" dur="500"/>
                                        <p:tgtEl>
                                          <p:spTgt spid="14"/>
                                        </p:tgtEl>
                                      </p:cBhvr>
                                    </p:animEffect>
                                  </p:childTnLst>
                                </p:cTn>
                              </p:par>
                              <p:par>
                                <p:cTn id="54" presetID="22" presetClass="entr" presetSubtype="8" fill="hold" grpId="0" nodeType="withEffect">
                                  <p:stCondLst>
                                    <p:cond delay="1100"/>
                                  </p:stCondLst>
                                  <p:childTnLst>
                                    <p:set>
                                      <p:cBhvr>
                                        <p:cTn id="55" dur="1" fill="hold">
                                          <p:stCondLst>
                                            <p:cond delay="0"/>
                                          </p:stCondLst>
                                        </p:cTn>
                                        <p:tgtEl>
                                          <p:spTgt spid="15"/>
                                        </p:tgtEl>
                                        <p:attrNameLst>
                                          <p:attrName>style.visibility</p:attrName>
                                        </p:attrNameLst>
                                      </p:cBhvr>
                                      <p:to>
                                        <p:strVal val="visible"/>
                                      </p:to>
                                    </p:set>
                                    <p:animEffect transition="in" filter="wipe(left)">
                                      <p:cBhvr>
                                        <p:cTn id="56" dur="400"/>
                                        <p:tgtEl>
                                          <p:spTgt spid="15"/>
                                        </p:tgtEl>
                                      </p:cBhvr>
                                    </p:animEffect>
                                  </p:childTnLst>
                                </p:cTn>
                              </p:par>
                              <p:par>
                                <p:cTn id="57" presetID="42" presetClass="entr" presetSubtype="0" fill="hold" grpId="0" nodeType="withEffect">
                                  <p:stCondLst>
                                    <p:cond delay="120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700"/>
                                        <p:tgtEl>
                                          <p:spTgt spid="16"/>
                                        </p:tgtEl>
                                      </p:cBhvr>
                                    </p:animEffect>
                                    <p:anim calcmode="lin" valueType="num">
                                      <p:cBhvr additive="base">
                                        <p:cTn id="60" dur="700" decel="100000" fill="hold"/>
                                        <p:tgtEl>
                                          <p:spTgt spid="16"/>
                                        </p:tgtEl>
                                        <p:attrNameLst>
                                          <p:attrName>ppt_x</p:attrName>
                                        </p:attrNameLst>
                                      </p:cBhvr>
                                      <p:tavLst>
                                        <p:tav tm="0">
                                          <p:val>
                                            <p:strVal val="#ppt_x"/>
                                          </p:val>
                                        </p:tav>
                                        <p:tav tm="100000">
                                          <p:val>
                                            <p:strVal val="#ppt_x"/>
                                          </p:val>
                                        </p:tav>
                                      </p:tavLst>
                                    </p:anim>
                                    <p:anim calcmode="lin" valueType="num">
                                      <p:cBhvr additive="base">
                                        <p:cTn id="61" dur="700" decel="100000" fill="hold"/>
                                        <p:tgtEl>
                                          <p:spTgt spid="16"/>
                                        </p:tgtEl>
                                        <p:attrNameLst>
                                          <p:attrName>ppt_y</p:attrName>
                                        </p:attrNameLst>
                                      </p:cBhvr>
                                      <p:tavLst>
                                        <p:tav tm="0">
                                          <p:val>
                                            <p:strVal val="#ppt_y+0.05"/>
                                          </p:val>
                                        </p:tav>
                                        <p:tav tm="100000">
                                          <p:val>
                                            <p:strVal val="#ppt_y"/>
                                          </p:val>
                                        </p:tav>
                                      </p:tavLst>
                                    </p:anim>
                                  </p:childTnLst>
                                </p:cTn>
                              </p:par>
                              <p:par>
                                <p:cTn id="62" presetID="53" presetClass="entr" presetSubtype="16" fill="hold" grpId="0" nodeType="withEffect">
                                  <p:stCondLst>
                                    <p:cond delay="1350"/>
                                  </p:stCondLst>
                                  <p:childTnLst>
                                    <p:set>
                                      <p:cBhvr>
                                        <p:cTn id="63" dur="1" fill="hold">
                                          <p:stCondLst>
                                            <p:cond delay="0"/>
                                          </p:stCondLst>
                                        </p:cTn>
                                        <p:tgtEl>
                                          <p:spTgt spid="17"/>
                                        </p:tgtEl>
                                        <p:attrNameLst>
                                          <p:attrName>style.visibility</p:attrName>
                                        </p:attrNameLst>
                                      </p:cBhvr>
                                      <p:to>
                                        <p:strVal val="visible"/>
                                      </p:to>
                                    </p:set>
                                    <p:anim calcmode="lin" valueType="num">
                                      <p:cBhvr additive="base">
                                        <p:cTn id="64" dur="550" decel="100000" fill="hold"/>
                                        <p:tgtEl>
                                          <p:spTgt spid="17"/>
                                        </p:tgtEl>
                                        <p:attrNameLst>
                                          <p:attrName>ppt_w</p:attrName>
                                        </p:attrNameLst>
                                      </p:cBhvr>
                                      <p:tavLst>
                                        <p:tav tm="0">
                                          <p:val>
                                            <p:strVal val="#ppt_w*0.55"/>
                                          </p:val>
                                        </p:tav>
                                        <p:tav tm="100000">
                                          <p:val>
                                            <p:strVal val="#ppt_w"/>
                                          </p:val>
                                        </p:tav>
                                      </p:tavLst>
                                    </p:anim>
                                    <p:anim calcmode="lin" valueType="num">
                                      <p:cBhvr additive="base">
                                        <p:cTn id="65" dur="550" decel="100000" fill="hold"/>
                                        <p:tgtEl>
                                          <p:spTgt spid="17"/>
                                        </p:tgtEl>
                                        <p:attrNameLst>
                                          <p:attrName>ppt_h</p:attrName>
                                        </p:attrNameLst>
                                      </p:cBhvr>
                                      <p:tavLst>
                                        <p:tav tm="0">
                                          <p:val>
                                            <p:strVal val="#ppt_h*0.55"/>
                                          </p:val>
                                        </p:tav>
                                        <p:tav tm="100000">
                                          <p:val>
                                            <p:strVal val="#ppt_h"/>
                                          </p:val>
                                        </p:tav>
                                      </p:tavLst>
                                    </p:anim>
                                    <p:animEffect transition="in" filter="fade">
                                      <p:cBhvr>
                                        <p:cTn id="66" dur="550"/>
                                        <p:tgtEl>
                                          <p:spTgt spid="17"/>
                                        </p:tgtEl>
                                      </p:cBhvr>
                                    </p:animEffect>
                                  </p:childTnLst>
                                </p:cTn>
                              </p:par>
                              <p:par>
                                <p:cTn id="67" presetID="42" presetClass="entr" presetSubtype="0" fill="hold" grpId="0" nodeType="withEffect">
                                  <p:stCondLst>
                                    <p:cond delay="145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600"/>
                                        <p:tgtEl>
                                          <p:spTgt spid="18"/>
                                        </p:tgtEl>
                                      </p:cBhvr>
                                    </p:animEffect>
                                    <p:anim calcmode="lin" valueType="num">
                                      <p:cBhvr additive="base">
                                        <p:cTn id="70" dur="600" decel="100000" fill="hold"/>
                                        <p:tgtEl>
                                          <p:spTgt spid="18"/>
                                        </p:tgtEl>
                                        <p:attrNameLst>
                                          <p:attrName>ppt_x</p:attrName>
                                        </p:attrNameLst>
                                      </p:cBhvr>
                                      <p:tavLst>
                                        <p:tav tm="0">
                                          <p:val>
                                            <p:strVal val="#ppt_x-0.035"/>
                                          </p:val>
                                        </p:tav>
                                        <p:tav tm="100000">
                                          <p:val>
                                            <p:strVal val="#ppt_x"/>
                                          </p:val>
                                        </p:tav>
                                      </p:tavLst>
                                    </p:anim>
                                    <p:anim calcmode="lin" valueType="num">
                                      <p:cBhvr additive="base">
                                        <p:cTn id="71" dur="600" decel="100000" fill="hold"/>
                                        <p:tgtEl>
                                          <p:spTgt spid="18"/>
                                        </p:tgtEl>
                                        <p:attrNameLst>
                                          <p:attrName>ppt_y</p:attrName>
                                        </p:attrNameLst>
                                      </p:cBhvr>
                                      <p:tavLst>
                                        <p:tav tm="0">
                                          <p:val>
                                            <p:strVal val="#ppt_y"/>
                                          </p:val>
                                        </p:tav>
                                        <p:tav tm="100000">
                                          <p:val>
                                            <p:strVal val="#ppt_y"/>
                                          </p:val>
                                        </p:tav>
                                      </p:tavLst>
                                    </p:anim>
                                  </p:childTnLst>
                                </p:cTn>
                              </p:par>
                              <p:par>
                                <p:cTn id="72" presetID="10" presetClass="entr" presetSubtype="0" fill="hold" grpId="0" nodeType="withEffect">
                                  <p:stCondLst>
                                    <p:cond delay="155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600"/>
                                        <p:tgtEl>
                                          <p:spTgt spid="19"/>
                                        </p:tgtEl>
                                      </p:cBhvr>
                                    </p:animEffect>
                                  </p:childTnLst>
                                </p:cTn>
                              </p:par>
                              <p:par>
                                <p:cTn id="75" presetID="53" presetClass="entr" presetSubtype="16" fill="hold" grpId="0" nodeType="withEffect">
                                  <p:stCondLst>
                                    <p:cond delay="1650"/>
                                  </p:stCondLst>
                                  <p:childTnLst>
                                    <p:set>
                                      <p:cBhvr>
                                        <p:cTn id="76" dur="1" fill="hold">
                                          <p:stCondLst>
                                            <p:cond delay="0"/>
                                          </p:stCondLst>
                                        </p:cTn>
                                        <p:tgtEl>
                                          <p:spTgt spid="20"/>
                                        </p:tgtEl>
                                        <p:attrNameLst>
                                          <p:attrName>style.visibility</p:attrName>
                                        </p:attrNameLst>
                                      </p:cBhvr>
                                      <p:to>
                                        <p:strVal val="visible"/>
                                      </p:to>
                                    </p:set>
                                    <p:anim calcmode="lin" valueType="num">
                                      <p:cBhvr additive="base">
                                        <p:cTn id="77" dur="500" decel="100000" fill="hold"/>
                                        <p:tgtEl>
                                          <p:spTgt spid="20"/>
                                        </p:tgtEl>
                                        <p:attrNameLst>
                                          <p:attrName>ppt_w</p:attrName>
                                        </p:attrNameLst>
                                      </p:cBhvr>
                                      <p:tavLst>
                                        <p:tav tm="0">
                                          <p:val>
                                            <p:strVal val="#ppt_w*0.55"/>
                                          </p:val>
                                        </p:tav>
                                        <p:tav tm="100000">
                                          <p:val>
                                            <p:strVal val="#ppt_w"/>
                                          </p:val>
                                        </p:tav>
                                      </p:tavLst>
                                    </p:anim>
                                    <p:anim calcmode="lin" valueType="num">
                                      <p:cBhvr additive="base">
                                        <p:cTn id="78" dur="500" decel="100000" fill="hold"/>
                                        <p:tgtEl>
                                          <p:spTgt spid="20"/>
                                        </p:tgtEl>
                                        <p:attrNameLst>
                                          <p:attrName>ppt_h</p:attrName>
                                        </p:attrNameLst>
                                      </p:cBhvr>
                                      <p:tavLst>
                                        <p:tav tm="0">
                                          <p:val>
                                            <p:strVal val="#ppt_h*0.55"/>
                                          </p:val>
                                        </p:tav>
                                        <p:tav tm="100000">
                                          <p:val>
                                            <p:strVal val="#ppt_h"/>
                                          </p:val>
                                        </p:tav>
                                      </p:tavLst>
                                    </p:anim>
                                    <p:animEffect transition="in" filter="fade">
                                      <p:cBhvr>
                                        <p:cTn id="79" dur="500"/>
                                        <p:tgtEl>
                                          <p:spTgt spid="20"/>
                                        </p:tgtEl>
                                      </p:cBhvr>
                                    </p:animEffect>
                                  </p:childTnLst>
                                </p:cTn>
                              </p:par>
                              <p:par>
                                <p:cTn id="80" presetID="10" presetClass="entr" presetSubtype="0" fill="hold" grpId="0" nodeType="withEffect">
                                  <p:stCondLst>
                                    <p:cond delay="190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7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
          <p:cNvSpPr/>
          <p:nvPr>
            <p:ph idx="100" type="body" hasCustomPrompt="1"/>
          </p:nvPr>
        </p:nvSpPr>
        <p:spPr>
          <a:xfrm>
            <a:off x="548640" y="384048"/>
            <a:ext cx="7863840" cy="310896"/>
          </a:xfrm>
          <a:prstGeom prst="rect">
            <a:avLst/>
          </a:prstGeom>
          <a:noFill/>
          <a:ln/>
        </p:spPr>
        <p:txBody>
          <a:bodyPr wrap="square" lIns="0" tIns="0" rIns="0" bIns="0" rtlCol="0" anchor="ctr"/>
          <a:lstStyle/>
          <a:p>
            <a:pPr algn="l" indent="0" marL="0">
              <a:buNone/>
            </a:pPr>
            <a:r>
              <a:rPr lang="en-US" sz="1300" b="1" spc="300" kern="0" dirty="0">
                <a:solidFill>
                  <a:schemeClr val="accent2"/>
                </a:solidFill>
              </a:rPr>
              <a:t>STEP 1  ·  REGISTER</a:t>
            </a:r>
            <a:endParaRPr lang="en-US" sz="1300" dirty="0"/>
          </a:p>
        </p:txBody>
      </p:sp>
      <p:sp>
        <p:nvSpPr>
          <p:cNvPr id="3" name="ttl"/>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200" b="1" dirty="0">
                <a:solidFill>
                  <a:schemeClr val="bg1"/>
                </a:solidFill>
              </a:rPr>
              <a:t>Fix the mismatch between scanners</a:t>
            </a:r>
            <a:endParaRPr lang="en-US" sz="3200" dirty="0"/>
          </a:p>
        </p:txBody>
      </p:sp>
      <p:sp>
        <p:nvSpPr>
          <p:cNvPr id="4" name="!!track"/>
          <p:cNvSpPr/>
          <p:nvPr/>
        </p:nvSpPr>
        <p:spPr>
          <a:xfrm>
            <a:off x="9326880" y="548640"/>
            <a:ext cx="1920240" cy="0"/>
          </a:xfrm>
          <a:prstGeom prst="line">
            <a:avLst/>
          </a:prstGeom>
          <a:noFill/>
          <a:ln w="19050">
            <a:solidFill>
              <a:schemeClr val="accent6"/>
            </a:solidFill>
            <a:prstDash val="solid"/>
          </a:ln>
        </p:spPr>
      </p:sp>
      <p:sp>
        <p:nvSpPr>
          <p:cNvPr id="5" name="!!dot1"/>
          <p:cNvSpPr/>
          <p:nvPr/>
        </p:nvSpPr>
        <p:spPr>
          <a:xfrm>
            <a:off x="9098280" y="320040"/>
            <a:ext cx="457200" cy="457200"/>
          </a:xfrm>
          <a:prstGeom prst="ellipse">
            <a:avLst/>
          </a:prstGeom>
          <a:solidFill>
            <a:schemeClr val="accent2"/>
          </a:solidFill>
          <a:ln w="12700">
            <a:solidFill>
              <a:schemeClr val="accent2"/>
            </a:solid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lab1"/>
          <p:cNvSpPr txBox="1"/>
          <p:nvPr/>
        </p:nvSpPr>
        <p:spPr>
          <a:xfrm>
            <a:off x="8823960" y="822960"/>
            <a:ext cx="1005840" cy="237744"/>
          </a:xfrm>
          <a:prstGeom prst="rect">
            <a:avLst/>
          </a:prstGeom>
          <a:noFill/>
          <a:ln/>
        </p:spPr>
        <p:txBody>
          <a:bodyPr wrap="square" lIns="0" tIns="0" rIns="0" bIns="0" rtlCol="0" anchor="t"/>
          <a:lstStyle/>
          <a:p>
            <a:pPr algn="ctr" indent="0" marL="0">
              <a:buNone/>
            </a:pPr>
            <a:r>
              <a:rPr lang="en-US" sz="1100" b="1" dirty="0">
                <a:solidFill>
                  <a:schemeClr val="accent2"/>
                </a:solidFill>
              </a:rPr>
              <a:t>Register</a:t>
            </a:r>
            <a:endParaRPr lang="en-US" sz="1100" dirty="0"/>
          </a:p>
        </p:txBody>
      </p:sp>
      <p:sp>
        <p:nvSpPr>
          <p:cNvPr id="7" name="!!dot2"/>
          <p:cNvSpPr/>
          <p:nvPr/>
        </p:nvSpPr>
        <p:spPr>
          <a:xfrm>
            <a:off x="10131552" y="393192"/>
            <a:ext cx="310896" cy="310896"/>
          </a:xfrm>
          <a:prstGeom prst="ellipse">
            <a:avLst/>
          </a:prstGeom>
          <a:solidFill>
            <a:schemeClr val="tx2"/>
          </a:solidFill>
          <a:ln w="12700">
            <a:solidFill>
              <a:schemeClr val="bg2"/>
            </a:solidFill>
          </a:ln>
        </p:spPr>
        <p:txBody>
          <a:bodyPr wrap="square" lIns="0" tIns="0" rIns="0" bIns="0" rtlCol="0" anchor="ctr"/>
          <a:lstStyle/>
          <a:p>
            <a:pPr algn="ctr" indent="0" marL="0">
              <a:buNone/>
            </a:pPr>
            <a:r>
              <a:rPr lang="en-US" sz="1100" b="1" dirty="0">
                <a:solidFill>
                  <a:schemeClr val="bg2"/>
                </a:solidFill>
              </a:rPr>
              <a:t>2</a:t>
            </a:r>
            <a:endParaRPr lang="en-US" sz="1100" dirty="0"/>
          </a:p>
        </p:txBody>
      </p:sp>
      <p:sp>
        <p:nvSpPr>
          <p:cNvPr id="8" name="!!lab2"/>
          <p:cNvSpPr txBox="1"/>
          <p:nvPr/>
        </p:nvSpPr>
        <p:spPr>
          <a:xfrm>
            <a:off x="9784080" y="822960"/>
            <a:ext cx="1005840" cy="237744"/>
          </a:xfrm>
          <a:prstGeom prst="rect">
            <a:avLst/>
          </a:prstGeom>
          <a:noFill/>
          <a:ln/>
        </p:spPr>
        <p:txBody>
          <a:bodyPr wrap="square" lIns="0" tIns="0" rIns="0" bIns="0" rtlCol="0" anchor="t"/>
          <a:lstStyle/>
          <a:p>
            <a:pPr algn="ctr" indent="0" marL="0">
              <a:buNone/>
            </a:pPr>
            <a:r>
              <a:rPr lang="en-US" sz="1100" dirty="0">
                <a:solidFill>
                  <a:schemeClr val="bg2"/>
                </a:solidFill>
              </a:rPr>
              <a:t>Sharpen</a:t>
            </a:r>
            <a:endParaRPr lang="en-US" sz="1100" dirty="0"/>
          </a:p>
        </p:txBody>
      </p:sp>
      <p:sp>
        <p:nvSpPr>
          <p:cNvPr id="9" name="!!dot3"/>
          <p:cNvSpPr/>
          <p:nvPr/>
        </p:nvSpPr>
        <p:spPr>
          <a:xfrm>
            <a:off x="11091672" y="393192"/>
            <a:ext cx="310896" cy="310896"/>
          </a:xfrm>
          <a:prstGeom prst="ellipse">
            <a:avLst/>
          </a:prstGeom>
          <a:solidFill>
            <a:schemeClr val="tx2"/>
          </a:solidFill>
          <a:ln w="12700">
            <a:solidFill>
              <a:schemeClr val="bg2"/>
            </a:solidFill>
          </a:ln>
        </p:spPr>
        <p:txBody>
          <a:bodyPr wrap="square" lIns="0" tIns="0" rIns="0" bIns="0" rtlCol="0" anchor="ctr"/>
          <a:lstStyle/>
          <a:p>
            <a:pPr algn="ctr" indent="0" marL="0">
              <a:buNone/>
            </a:pPr>
            <a:r>
              <a:rPr lang="en-US" sz="1100" b="1" dirty="0">
                <a:solidFill>
                  <a:schemeClr val="bg2"/>
                </a:solidFill>
              </a:rPr>
              <a:t>3</a:t>
            </a:r>
            <a:endParaRPr lang="en-US" sz="1100" dirty="0"/>
          </a:p>
        </p:txBody>
      </p:sp>
      <p:sp>
        <p:nvSpPr>
          <p:cNvPr id="10" name="!!lab3"/>
          <p:cNvSpPr txBox="1"/>
          <p:nvPr/>
        </p:nvSpPr>
        <p:spPr>
          <a:xfrm>
            <a:off x="10744200" y="822960"/>
            <a:ext cx="1005840" cy="237744"/>
          </a:xfrm>
          <a:prstGeom prst="rect">
            <a:avLst/>
          </a:prstGeom>
          <a:noFill/>
          <a:ln/>
        </p:spPr>
        <p:txBody>
          <a:bodyPr wrap="square" lIns="0" tIns="0" rIns="0" bIns="0" rtlCol="0" anchor="t"/>
          <a:lstStyle/>
          <a:p>
            <a:pPr algn="ctr" indent="0" marL="0">
              <a:buNone/>
            </a:pPr>
            <a:r>
              <a:rPr lang="en-US" sz="1100" dirty="0">
                <a:solidFill>
                  <a:schemeClr val="bg2"/>
                </a:solidFill>
              </a:rPr>
              <a:t>Fuse &amp; export</a:t>
            </a:r>
            <a:endParaRPr lang="en-US" sz="1100" dirty="0"/>
          </a:p>
        </p:txBody>
      </p:sp>
      <p:sp>
        <p:nvSpPr>
          <p:cNvPr id="11" name="reg_frame"/>
          <p:cNvSpPr/>
          <p:nvPr/>
        </p:nvSpPr>
        <p:spPr>
          <a:xfrm>
            <a:off x="548640" y="1691640"/>
            <a:ext cx="3236976" cy="4526280"/>
          </a:xfrm>
          <a:prstGeom prst="roundRect">
            <a:avLst>
              <a:gd name="adj" fmla="val 3390"/>
            </a:avLst>
          </a:prstGeom>
          <a:solidFill>
            <a:schemeClr val="tx1"/>
          </a:solidFill>
          <a:ln w="9525">
            <a:solidFill>
              <a:schemeClr val="accent6"/>
            </a:solidFill>
            <a:prstDash val="solid"/>
          </a:ln>
        </p:spPr>
      </p:sp>
      <p:pic>
        <p:nvPicPr>
          <p:cNvPr id="12" name="reg" descr="Animation: PET slides into alignment with the MRI while the tumour position error drops from 13.2 mm to 0.3 mm">    </p:cNvPr>
          <p:cNvPicPr>
            <a:picLocks noChangeAspect="1"/>
          </p:cNvPicPr>
          <p:nvPr/>
        </p:nvPicPr>
        <p:blipFill>
          <a:blip r:embed="rId1"/>
          <a:stretch>
            <a:fillRect/>
          </a:stretch>
        </p:blipFill>
        <p:spPr>
          <a:xfrm>
            <a:off x="640080" y="1783080"/>
            <a:ext cx="3054096" cy="4343400"/>
          </a:xfrm>
          <a:prstGeom prst="rect">
            <a:avLst/>
          </a:prstGeom>
        </p:spPr>
      </p:pic>
      <p:sp>
        <p:nvSpPr>
          <p:cNvPr id="13" name="hero"/>
          <p:cNvSpPr txBox="1"/>
          <p:nvPr/>
        </p:nvSpPr>
        <p:spPr>
          <a:xfrm>
            <a:off x="4434840" y="1645920"/>
            <a:ext cx="7205472" cy="1097280"/>
          </a:xfrm>
          <a:prstGeom prst="rect">
            <a:avLst/>
          </a:prstGeom>
          <a:noFill/>
          <a:ln/>
        </p:spPr>
        <p:txBody>
          <a:bodyPr wrap="square" lIns="0" tIns="0" rIns="0" bIns="0" rtlCol="0" anchor="b"/>
          <a:lstStyle/>
          <a:p>
            <a:pPr indent="0" marL="0">
              <a:buNone/>
            </a:pPr>
            <a:r>
              <a:rPr lang="en-US" sz="3600" b="1" dirty="0">
                <a:solidFill>
                  <a:schemeClr val="accent5"/>
                </a:solidFill>
              </a:rPr>
              <a:t>11.8 mm</a:t>
            </a:r>
            <a:pPr indent="0" marL="0">
              <a:buNone/>
            </a:pPr>
            <a:r>
              <a:rPr lang="en-US" sz="3200" dirty="0">
                <a:solidFill>
                  <a:schemeClr val="bg2"/>
                </a:solidFill>
              </a:rPr>
              <a:t>   →   </a:t>
            </a:r>
            <a:pPr indent="0" marL="0">
              <a:buNone/>
            </a:pPr>
            <a:r>
              <a:rPr lang="en-US" sz="6600" b="1" dirty="0">
                <a:solidFill>
                  <a:schemeClr val="accent3"/>
                </a:solidFill>
              </a:rPr>
              <a:t>0.86 mm</a:t>
            </a:r>
            <a:endParaRPr lang="en-US" sz="3600" dirty="0"/>
          </a:p>
        </p:txBody>
      </p:sp>
      <p:sp>
        <p:nvSpPr>
          <p:cNvPr id="14" name="hero_cap"/>
          <p:cNvSpPr txBox="1"/>
          <p:nvPr/>
        </p:nvSpPr>
        <p:spPr>
          <a:xfrm>
            <a:off x="4434840" y="2761488"/>
            <a:ext cx="7205472" cy="365760"/>
          </a:xfrm>
          <a:prstGeom prst="rect">
            <a:avLst/>
          </a:prstGeom>
          <a:noFill/>
          <a:ln/>
        </p:spPr>
        <p:txBody>
          <a:bodyPr wrap="square" lIns="0" tIns="0" rIns="0" bIns="0" rtlCol="0" anchor="t"/>
          <a:lstStyle/>
          <a:p>
            <a:pPr indent="0" marL="0">
              <a:buNone/>
            </a:pPr>
            <a:r>
              <a:rPr lang="en-US" sz="1500" dirty="0">
                <a:solidFill>
                  <a:schemeClr val="bg2"/>
                </a:solidFill>
              </a:rPr>
              <a:t>average PET-to-MRI alignment error, 12 held-out test patients</a:t>
            </a:r>
            <a:endParaRPr lang="en-US" sz="1500" dirty="0"/>
          </a:p>
        </p:txBody>
      </p:sp>
      <p:sp>
        <p:nvSpPr>
          <p:cNvPr id="15" name="m0"/>
          <p:cNvSpPr/>
          <p:nvPr/>
        </p:nvSpPr>
        <p:spPr>
          <a:xfrm>
            <a:off x="4434840" y="3291840"/>
            <a:ext cx="2286000" cy="1280160"/>
          </a:xfrm>
          <a:prstGeom prst="roundRect">
            <a:avLst>
              <a:gd name="adj" fmla="val 8571"/>
            </a:avLst>
          </a:prstGeom>
          <a:solidFill>
            <a:schemeClr val="tx2"/>
          </a:solidFill>
          <a:ln w="9525">
            <a:solidFill>
              <a:schemeClr val="accent6"/>
            </a:solidFill>
            <a:prstDash val="solid"/>
          </a:ln>
        </p:spPr>
      </p:sp>
      <p:sp>
        <p:nvSpPr>
          <p:cNvPr id="16" name="m0t"/>
          <p:cNvSpPr txBox="1"/>
          <p:nvPr/>
        </p:nvSpPr>
        <p:spPr>
          <a:xfrm>
            <a:off x="4636008" y="3383280"/>
            <a:ext cx="1920240" cy="1097280"/>
          </a:xfrm>
          <a:prstGeom prst="rect">
            <a:avLst/>
          </a:prstGeom>
          <a:noFill/>
          <a:ln/>
        </p:spPr>
        <p:txBody>
          <a:bodyPr wrap="square" lIns="0" tIns="0" rIns="0" bIns="0" rtlCol="0" anchor="ctr"/>
          <a:lstStyle/>
          <a:p>
            <a:pPr indent="0" marL="0">
              <a:buNone/>
            </a:pPr>
            <a:r>
              <a:rPr lang="en-US" sz="3000" b="1" dirty="0">
                <a:solidFill>
                  <a:schemeClr val="accent2"/>
                </a:solidFill>
              </a:rPr>
              <a:t>13×</a:t>
            </a:r>
            <a:endParaRPr lang="en-US" sz="3000" dirty="0"/>
          </a:p>
          <a:p>
            <a:pPr indent="0" marL="0">
              <a:buNone/>
            </a:pPr>
            <a:r>
              <a:rPr lang="en-US" sz="1300" dirty="0">
                <a:solidFill>
                  <a:schemeClr val="bg2"/>
                </a:solidFill>
              </a:rPr>
              <a:t>smaller error than overlaying the scans as-is</a:t>
            </a:r>
            <a:endParaRPr lang="en-US" sz="3000" dirty="0"/>
          </a:p>
        </p:txBody>
      </p:sp>
      <p:sp>
        <p:nvSpPr>
          <p:cNvPr id="17" name="m1"/>
          <p:cNvSpPr/>
          <p:nvPr/>
        </p:nvSpPr>
        <p:spPr>
          <a:xfrm>
            <a:off x="6894576" y="3291840"/>
            <a:ext cx="2286000" cy="1280160"/>
          </a:xfrm>
          <a:prstGeom prst="roundRect">
            <a:avLst>
              <a:gd name="adj" fmla="val 8571"/>
            </a:avLst>
          </a:prstGeom>
          <a:solidFill>
            <a:schemeClr val="tx2"/>
          </a:solidFill>
          <a:ln w="9525">
            <a:solidFill>
              <a:schemeClr val="accent6"/>
            </a:solidFill>
            <a:prstDash val="solid"/>
          </a:ln>
        </p:spPr>
      </p:sp>
      <p:sp>
        <p:nvSpPr>
          <p:cNvPr id="18" name="m1t"/>
          <p:cNvSpPr txBox="1"/>
          <p:nvPr/>
        </p:nvSpPr>
        <p:spPr>
          <a:xfrm>
            <a:off x="7095744" y="3383280"/>
            <a:ext cx="1920240" cy="1097280"/>
          </a:xfrm>
          <a:prstGeom prst="rect">
            <a:avLst/>
          </a:prstGeom>
          <a:noFill/>
          <a:ln/>
        </p:spPr>
        <p:txBody>
          <a:bodyPr wrap="square" lIns="0" tIns="0" rIns="0" bIns="0" rtlCol="0" anchor="ctr"/>
          <a:lstStyle/>
          <a:p>
            <a:pPr indent="0" marL="0">
              <a:buNone/>
            </a:pPr>
            <a:r>
              <a:rPr lang="en-US" sz="3000" b="1" dirty="0">
                <a:solidFill>
                  <a:schemeClr val="accent2"/>
                </a:solidFill>
              </a:rPr>
              <a:t>&lt; 1 s</a:t>
            </a:r>
            <a:endParaRPr lang="en-US" sz="3000" dirty="0"/>
          </a:p>
          <a:p>
            <a:pPr indent="0" marL="0">
              <a:buNone/>
            </a:pPr>
            <a:r>
              <a:rPr lang="en-US" sz="1300" dirty="0">
                <a:solidFill>
                  <a:schemeClr val="bg2"/>
                </a:solidFill>
              </a:rPr>
              <a:t>to align a full study on an ordinary CPU</a:t>
            </a:r>
            <a:endParaRPr lang="en-US" sz="3000" dirty="0"/>
          </a:p>
        </p:txBody>
      </p:sp>
      <p:sp>
        <p:nvSpPr>
          <p:cNvPr id="19" name="m2"/>
          <p:cNvSpPr/>
          <p:nvPr/>
        </p:nvSpPr>
        <p:spPr>
          <a:xfrm>
            <a:off x="9354312" y="3291840"/>
            <a:ext cx="2286000" cy="1280160"/>
          </a:xfrm>
          <a:prstGeom prst="roundRect">
            <a:avLst>
              <a:gd name="adj" fmla="val 8571"/>
            </a:avLst>
          </a:prstGeom>
          <a:solidFill>
            <a:schemeClr val="tx2"/>
          </a:solidFill>
          <a:ln w="9525">
            <a:solidFill>
              <a:schemeClr val="accent6"/>
            </a:solidFill>
            <a:prstDash val="solid"/>
          </a:ln>
        </p:spPr>
      </p:sp>
      <p:sp>
        <p:nvSpPr>
          <p:cNvPr id="20" name="m2t"/>
          <p:cNvSpPr txBox="1"/>
          <p:nvPr/>
        </p:nvSpPr>
        <p:spPr>
          <a:xfrm>
            <a:off x="9555480" y="3383280"/>
            <a:ext cx="1920240" cy="1097280"/>
          </a:xfrm>
          <a:prstGeom prst="rect">
            <a:avLst/>
          </a:prstGeom>
          <a:noFill/>
          <a:ln/>
        </p:spPr>
        <p:txBody>
          <a:bodyPr wrap="square" lIns="0" tIns="0" rIns="0" bIns="0" rtlCol="0" anchor="ctr"/>
          <a:lstStyle/>
          <a:p>
            <a:pPr indent="0" marL="0">
              <a:buNone/>
            </a:pPr>
            <a:r>
              <a:rPr lang="en-US" sz="3000" b="1" dirty="0">
                <a:solidFill>
                  <a:schemeClr val="accent3"/>
                </a:solidFill>
              </a:rPr>
              <a:t>12 / 12</a:t>
            </a:r>
            <a:endParaRPr lang="en-US" sz="3000" dirty="0"/>
          </a:p>
          <a:p>
            <a:pPr indent="0" marL="0">
              <a:buNone/>
            </a:pPr>
            <a:r>
              <a:rPr lang="en-US" sz="1300" dirty="0">
                <a:solidFill>
                  <a:schemeClr val="bg2"/>
                </a:solidFill>
              </a:rPr>
              <a:t>patients with 95 % of the brain within 2 mm</a:t>
            </a:r>
            <a:endParaRPr lang="en-US" sz="3000" dirty="0"/>
          </a:p>
        </p:txBody>
      </p:sp>
      <p:sp>
        <p:nvSpPr>
          <p:cNvPr id="21" name="row1_ring"/>
          <p:cNvSpPr/>
          <p:nvPr/>
        </p:nvSpPr>
        <p:spPr>
          <a:xfrm>
            <a:off x="4434840" y="4800600"/>
            <a:ext cx="502920" cy="502920"/>
          </a:xfrm>
          <a:prstGeom prst="ellipse">
            <a:avLst/>
          </a:prstGeom>
          <a:solidFill>
            <a:schemeClr val="tx2"/>
          </a:solidFill>
          <a:ln w="15875">
            <a:solidFill>
              <a:schemeClr val="accent2"/>
            </a:solidFill>
            <a:prstDash val="solid"/>
          </a:ln>
        </p:spPr>
      </p:sp>
      <p:pic>
        <p:nvPicPr>
          <p:cNvPr id="22" name="row1_icon" descr="target icon">    </p:cNvPr>
          <p:cNvPicPr>
            <a:picLocks noChangeAspect="1"/>
          </p:cNvPicPr>
          <p:nvPr/>
        </p:nvPicPr>
        <p:blipFill>
          <a:blip r:embed="rId2"/>
          <a:stretch>
            <a:fillRect/>
          </a:stretch>
        </p:blipFill>
        <p:spPr>
          <a:xfrm>
            <a:off x="4555541" y="4921301"/>
            <a:ext cx="261518" cy="261518"/>
          </a:xfrm>
          <a:prstGeom prst="rect">
            <a:avLst/>
          </a:prstGeom>
        </p:spPr>
      </p:pic>
      <p:sp>
        <p:nvSpPr>
          <p:cNvPr id="23" name="row1_txt"/>
          <p:cNvSpPr txBox="1"/>
          <p:nvPr/>
        </p:nvSpPr>
        <p:spPr>
          <a:xfrm>
            <a:off x="5120640" y="4782312"/>
            <a:ext cx="6519672" cy="566928"/>
          </a:xfrm>
          <a:prstGeom prst="rect">
            <a:avLst/>
          </a:prstGeom>
          <a:noFill/>
          <a:ln/>
        </p:spPr>
        <p:txBody>
          <a:bodyPr wrap="square" lIns="0" tIns="0" rIns="0" bIns="0" rtlCol="0" anchor="ctr"/>
          <a:lstStyle/>
          <a:p>
            <a:pPr indent="0" marL="0">
              <a:buNone/>
            </a:pPr>
            <a:r>
              <a:rPr lang="en-US" sz="1500" b="1" dirty="0">
                <a:solidFill>
                  <a:schemeClr val="bg1"/>
                </a:solidFill>
              </a:rPr>
              <a:t>Mutual information </a:t>
            </a:r>
            <a:pPr indent="0" marL="0">
              <a:buNone/>
            </a:pPr>
            <a:r>
              <a:rPr lang="en-US" sz="1500" dirty="0">
                <a:solidFill>
                  <a:schemeClr val="bg2"/>
                </a:solidFill>
              </a:rPr>
              <a:t>aligns scans whose contrasts look nothing alike: PET versus MRI.</a:t>
            </a:r>
            <a:endParaRPr lang="en-US" sz="1500" dirty="0"/>
          </a:p>
        </p:txBody>
      </p:sp>
      <p:sp>
        <p:nvSpPr>
          <p:cNvPr id="24" name="row2_ring"/>
          <p:cNvSpPr/>
          <p:nvPr/>
        </p:nvSpPr>
        <p:spPr>
          <a:xfrm>
            <a:off x="4434840" y="5486400"/>
            <a:ext cx="502920" cy="502920"/>
          </a:xfrm>
          <a:prstGeom prst="ellipse">
            <a:avLst/>
          </a:prstGeom>
          <a:solidFill>
            <a:schemeClr val="tx2"/>
          </a:solidFill>
          <a:ln w="15875">
            <a:solidFill>
              <a:schemeClr val="accent2"/>
            </a:solidFill>
            <a:prstDash val="solid"/>
          </a:ln>
        </p:spPr>
      </p:sp>
      <p:pic>
        <p:nvPicPr>
          <p:cNvPr id="25" name="row2_icon" descr="microchip icon">    </p:cNvPr>
          <p:cNvPicPr>
            <a:picLocks noChangeAspect="1"/>
          </p:cNvPicPr>
          <p:nvPr/>
        </p:nvPicPr>
        <p:blipFill>
          <a:blip r:embed="rId3"/>
          <a:stretch>
            <a:fillRect/>
          </a:stretch>
        </p:blipFill>
        <p:spPr>
          <a:xfrm>
            <a:off x="4555541" y="5607101"/>
            <a:ext cx="261518" cy="261518"/>
          </a:xfrm>
          <a:prstGeom prst="rect">
            <a:avLst/>
          </a:prstGeom>
        </p:spPr>
      </p:pic>
      <p:sp>
        <p:nvSpPr>
          <p:cNvPr id="26" name="row2_txt"/>
          <p:cNvSpPr txBox="1"/>
          <p:nvPr/>
        </p:nvSpPr>
        <p:spPr>
          <a:xfrm>
            <a:off x="5120640" y="5468112"/>
            <a:ext cx="6519672" cy="566928"/>
          </a:xfrm>
          <a:prstGeom prst="rect">
            <a:avLst/>
          </a:prstGeom>
          <a:noFill/>
          <a:ln/>
        </p:spPr>
        <p:txBody>
          <a:bodyPr wrap="square" lIns="0" tIns="0" rIns="0" bIns="0" rtlCol="0" anchor="ctr"/>
          <a:lstStyle/>
          <a:p>
            <a:pPr indent="0" marL="0">
              <a:buNone/>
            </a:pPr>
            <a:r>
              <a:rPr lang="en-US" sz="1500" b="1" dirty="0">
                <a:solidFill>
                  <a:schemeClr val="bg1"/>
                </a:solidFill>
              </a:rPr>
              <a:t>VoxelMorph AI is built in </a:t>
            </a:r>
            <a:pPr indent="0" marL="0">
              <a:buNone/>
            </a:pPr>
            <a:r>
              <a:rPr lang="en-US" sz="1500" dirty="0">
                <a:solidFill>
                  <a:schemeClr val="bg2"/>
                </a:solidFill>
              </a:rPr>
              <a:t>for organs that deform, and switches on only when its own validation beats the classical method.</a:t>
            </a:r>
            <a:endParaRPr lang="en-US" sz="15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7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700"/>
                                        <p:tgtEl>
                                          <p:spTgt spid="12"/>
                                        </p:tgtEl>
                                      </p:cBhvr>
                                    </p:animEffect>
                                  </p:childTnLst>
                                </p:cTn>
                              </p:par>
                              <p:par>
                                <p:cTn id="11" presetID="53" presetClass="entr" presetSubtype="16" fill="hold" grpId="0" nodeType="withEffect">
                                  <p:stCondLst>
                                    <p:cond delay="30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700" decel="100000" fill="hold"/>
                                        <p:tgtEl>
                                          <p:spTgt spid="13"/>
                                        </p:tgtEl>
                                        <p:attrNameLst>
                                          <p:attrName>ppt_w</p:attrName>
                                        </p:attrNameLst>
                                      </p:cBhvr>
                                      <p:tavLst>
                                        <p:tav tm="0">
                                          <p:val>
                                            <p:strVal val="#ppt_w*0.55"/>
                                          </p:val>
                                        </p:tav>
                                        <p:tav tm="100000">
                                          <p:val>
                                            <p:strVal val="#ppt_w"/>
                                          </p:val>
                                        </p:tav>
                                      </p:tavLst>
                                    </p:anim>
                                    <p:anim calcmode="lin" valueType="num">
                                      <p:cBhvr additive="base">
                                        <p:cTn id="14" dur="700" decel="100000" fill="hold"/>
                                        <p:tgtEl>
                                          <p:spTgt spid="13"/>
                                        </p:tgtEl>
                                        <p:attrNameLst>
                                          <p:attrName>ppt_h</p:attrName>
                                        </p:attrNameLst>
                                      </p:cBhvr>
                                      <p:tavLst>
                                        <p:tav tm="0">
                                          <p:val>
                                            <p:strVal val="#ppt_h*0.55"/>
                                          </p:val>
                                        </p:tav>
                                        <p:tav tm="100000">
                                          <p:val>
                                            <p:strVal val="#ppt_h"/>
                                          </p:val>
                                        </p:tav>
                                      </p:tavLst>
                                    </p:anim>
                                    <p:animEffect transition="in" filter="fade">
                                      <p:cBhvr>
                                        <p:cTn id="15" dur="700"/>
                                        <p:tgtEl>
                                          <p:spTgt spid="13"/>
                                        </p:tgtEl>
                                      </p:cBhvr>
                                    </p:animEffect>
                                  </p:childTnLst>
                                </p:cTn>
                              </p:par>
                              <p:par>
                                <p:cTn id="16" presetID="10" presetClass="entr" presetSubtype="0" fill="hold" grpId="0" nodeType="withEffect">
                                  <p:stCondLst>
                                    <p:cond delay="65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600"/>
                                        <p:tgtEl>
                                          <p:spTgt spid="14"/>
                                        </p:tgtEl>
                                      </p:cBhvr>
                                    </p:animEffect>
                                  </p:childTnLst>
                                </p:cTn>
                              </p:par>
                              <p:par>
                                <p:cTn id="19" presetID="42" presetClass="entr" presetSubtype="0" fill="hold" grpId="0" nodeType="withEffect">
                                  <p:stCondLst>
                                    <p:cond delay="90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600"/>
                                        <p:tgtEl>
                                          <p:spTgt spid="15"/>
                                        </p:tgtEl>
                                      </p:cBhvr>
                                    </p:animEffect>
                                    <p:anim calcmode="lin" valueType="num">
                                      <p:cBhvr additive="base">
                                        <p:cTn id="22" dur="600" decel="100000" fill="hold"/>
                                        <p:tgtEl>
                                          <p:spTgt spid="15"/>
                                        </p:tgtEl>
                                        <p:attrNameLst>
                                          <p:attrName>ppt_x</p:attrName>
                                        </p:attrNameLst>
                                      </p:cBhvr>
                                      <p:tavLst>
                                        <p:tav tm="0">
                                          <p:val>
                                            <p:strVal val="#ppt_x"/>
                                          </p:val>
                                        </p:tav>
                                        <p:tav tm="100000">
                                          <p:val>
                                            <p:strVal val="#ppt_x"/>
                                          </p:val>
                                        </p:tav>
                                      </p:tavLst>
                                    </p:anim>
                                    <p:anim calcmode="lin" valueType="num">
                                      <p:cBhvr additive="base">
                                        <p:cTn id="23" dur="600" decel="100000" fill="hold"/>
                                        <p:tgtEl>
                                          <p:spTgt spid="15"/>
                                        </p:tgtEl>
                                        <p:attrNameLst>
                                          <p:attrName>ppt_y</p:attrName>
                                        </p:attrNameLst>
                                      </p:cBhvr>
                                      <p:tavLst>
                                        <p:tav tm="0">
                                          <p:val>
                                            <p:strVal val="#ppt_y+0.05"/>
                                          </p:val>
                                        </p:tav>
                                        <p:tav tm="100000">
                                          <p:val>
                                            <p:strVal val="#ppt_y"/>
                                          </p:val>
                                        </p:tav>
                                      </p:tavLst>
                                    </p:anim>
                                  </p:childTnLst>
                                </p:cTn>
                              </p:par>
                              <p:par>
                                <p:cTn id="24" presetID="42" presetClass="entr" presetSubtype="0" fill="hold" grpId="0" nodeType="withEffect">
                                  <p:stCondLst>
                                    <p:cond delay="90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600"/>
                                        <p:tgtEl>
                                          <p:spTgt spid="16"/>
                                        </p:tgtEl>
                                      </p:cBhvr>
                                    </p:animEffect>
                                    <p:anim calcmode="lin" valueType="num">
                                      <p:cBhvr additive="base">
                                        <p:cTn id="27" dur="600" decel="100000" fill="hold"/>
                                        <p:tgtEl>
                                          <p:spTgt spid="16"/>
                                        </p:tgtEl>
                                        <p:attrNameLst>
                                          <p:attrName>ppt_x</p:attrName>
                                        </p:attrNameLst>
                                      </p:cBhvr>
                                      <p:tavLst>
                                        <p:tav tm="0">
                                          <p:val>
                                            <p:strVal val="#ppt_x"/>
                                          </p:val>
                                        </p:tav>
                                        <p:tav tm="100000">
                                          <p:val>
                                            <p:strVal val="#ppt_x"/>
                                          </p:val>
                                        </p:tav>
                                      </p:tavLst>
                                    </p:anim>
                                    <p:anim calcmode="lin" valueType="num">
                                      <p:cBhvr additive="base">
                                        <p:cTn id="28" dur="600" decel="100000" fill="hold"/>
                                        <p:tgtEl>
                                          <p:spTgt spid="16"/>
                                        </p:tgtEl>
                                        <p:attrNameLst>
                                          <p:attrName>ppt_y</p:attrName>
                                        </p:attrNameLst>
                                      </p:cBhvr>
                                      <p:tavLst>
                                        <p:tav tm="0">
                                          <p:val>
                                            <p:strVal val="#ppt_y+0.05"/>
                                          </p:val>
                                        </p:tav>
                                        <p:tav tm="100000">
                                          <p:val>
                                            <p:strVal val="#ppt_y"/>
                                          </p:val>
                                        </p:tav>
                                      </p:tavLst>
                                    </p:anim>
                                  </p:childTnLst>
                                </p:cTn>
                              </p:par>
                              <p:par>
                                <p:cTn id="29" presetID="42" presetClass="entr" presetSubtype="0" fill="hold" grpId="0" nodeType="withEffect">
                                  <p:stCondLst>
                                    <p:cond delay="110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600"/>
                                        <p:tgtEl>
                                          <p:spTgt spid="17"/>
                                        </p:tgtEl>
                                      </p:cBhvr>
                                    </p:animEffect>
                                    <p:anim calcmode="lin" valueType="num">
                                      <p:cBhvr additive="base">
                                        <p:cTn id="32" dur="600" decel="100000" fill="hold"/>
                                        <p:tgtEl>
                                          <p:spTgt spid="17"/>
                                        </p:tgtEl>
                                        <p:attrNameLst>
                                          <p:attrName>ppt_x</p:attrName>
                                        </p:attrNameLst>
                                      </p:cBhvr>
                                      <p:tavLst>
                                        <p:tav tm="0">
                                          <p:val>
                                            <p:strVal val="#ppt_x"/>
                                          </p:val>
                                        </p:tav>
                                        <p:tav tm="100000">
                                          <p:val>
                                            <p:strVal val="#ppt_x"/>
                                          </p:val>
                                        </p:tav>
                                      </p:tavLst>
                                    </p:anim>
                                    <p:anim calcmode="lin" valueType="num">
                                      <p:cBhvr additive="base">
                                        <p:cTn id="33" dur="600" decel="100000" fill="hold"/>
                                        <p:tgtEl>
                                          <p:spTgt spid="17"/>
                                        </p:tgtEl>
                                        <p:attrNameLst>
                                          <p:attrName>ppt_y</p:attrName>
                                        </p:attrNameLst>
                                      </p:cBhvr>
                                      <p:tavLst>
                                        <p:tav tm="0">
                                          <p:val>
                                            <p:strVal val="#ppt_y+0.05"/>
                                          </p:val>
                                        </p:tav>
                                        <p:tav tm="100000">
                                          <p:val>
                                            <p:strVal val="#ppt_y"/>
                                          </p:val>
                                        </p:tav>
                                      </p:tavLst>
                                    </p:anim>
                                  </p:childTnLst>
                                </p:cTn>
                              </p:par>
                              <p:par>
                                <p:cTn id="34" presetID="42" presetClass="entr" presetSubtype="0" fill="hold" grpId="0" nodeType="withEffect">
                                  <p:stCondLst>
                                    <p:cond delay="110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600"/>
                                        <p:tgtEl>
                                          <p:spTgt spid="18"/>
                                        </p:tgtEl>
                                      </p:cBhvr>
                                    </p:animEffect>
                                    <p:anim calcmode="lin" valueType="num">
                                      <p:cBhvr additive="base">
                                        <p:cTn id="37" dur="600" decel="100000" fill="hold"/>
                                        <p:tgtEl>
                                          <p:spTgt spid="18"/>
                                        </p:tgtEl>
                                        <p:attrNameLst>
                                          <p:attrName>ppt_x</p:attrName>
                                        </p:attrNameLst>
                                      </p:cBhvr>
                                      <p:tavLst>
                                        <p:tav tm="0">
                                          <p:val>
                                            <p:strVal val="#ppt_x"/>
                                          </p:val>
                                        </p:tav>
                                        <p:tav tm="100000">
                                          <p:val>
                                            <p:strVal val="#ppt_x"/>
                                          </p:val>
                                        </p:tav>
                                      </p:tavLst>
                                    </p:anim>
                                    <p:anim calcmode="lin" valueType="num">
                                      <p:cBhvr additive="base">
                                        <p:cTn id="38" dur="600" decel="100000" fill="hold"/>
                                        <p:tgtEl>
                                          <p:spTgt spid="18"/>
                                        </p:tgtEl>
                                        <p:attrNameLst>
                                          <p:attrName>ppt_y</p:attrName>
                                        </p:attrNameLst>
                                      </p:cBhvr>
                                      <p:tavLst>
                                        <p:tav tm="0">
                                          <p:val>
                                            <p:strVal val="#ppt_y+0.05"/>
                                          </p:val>
                                        </p:tav>
                                        <p:tav tm="100000">
                                          <p:val>
                                            <p:strVal val="#ppt_y"/>
                                          </p:val>
                                        </p:tav>
                                      </p:tavLst>
                                    </p:anim>
                                  </p:childTnLst>
                                </p:cTn>
                              </p:par>
                              <p:par>
                                <p:cTn id="39" presetID="42" presetClass="entr" presetSubtype="0" fill="hold" grpId="0" nodeType="withEffect">
                                  <p:stCondLst>
                                    <p:cond delay="130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600"/>
                                        <p:tgtEl>
                                          <p:spTgt spid="19"/>
                                        </p:tgtEl>
                                      </p:cBhvr>
                                    </p:animEffect>
                                    <p:anim calcmode="lin" valueType="num">
                                      <p:cBhvr additive="base">
                                        <p:cTn id="42" dur="600" decel="100000" fill="hold"/>
                                        <p:tgtEl>
                                          <p:spTgt spid="19"/>
                                        </p:tgtEl>
                                        <p:attrNameLst>
                                          <p:attrName>ppt_x</p:attrName>
                                        </p:attrNameLst>
                                      </p:cBhvr>
                                      <p:tavLst>
                                        <p:tav tm="0">
                                          <p:val>
                                            <p:strVal val="#ppt_x"/>
                                          </p:val>
                                        </p:tav>
                                        <p:tav tm="100000">
                                          <p:val>
                                            <p:strVal val="#ppt_x"/>
                                          </p:val>
                                        </p:tav>
                                      </p:tavLst>
                                    </p:anim>
                                    <p:anim calcmode="lin" valueType="num">
                                      <p:cBhvr additive="base">
                                        <p:cTn id="43" dur="600" decel="100000" fill="hold"/>
                                        <p:tgtEl>
                                          <p:spTgt spid="19"/>
                                        </p:tgtEl>
                                        <p:attrNameLst>
                                          <p:attrName>ppt_y</p:attrName>
                                        </p:attrNameLst>
                                      </p:cBhvr>
                                      <p:tavLst>
                                        <p:tav tm="0">
                                          <p:val>
                                            <p:strVal val="#ppt_y+0.05"/>
                                          </p:val>
                                        </p:tav>
                                        <p:tav tm="100000">
                                          <p:val>
                                            <p:strVal val="#ppt_y"/>
                                          </p:val>
                                        </p:tav>
                                      </p:tavLst>
                                    </p:anim>
                                  </p:childTnLst>
                                </p:cTn>
                              </p:par>
                              <p:par>
                                <p:cTn id="44" presetID="42" presetClass="entr" presetSubtype="0" fill="hold" grpId="0" nodeType="withEffect">
                                  <p:stCondLst>
                                    <p:cond delay="130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600"/>
                                        <p:tgtEl>
                                          <p:spTgt spid="20"/>
                                        </p:tgtEl>
                                      </p:cBhvr>
                                    </p:animEffect>
                                    <p:anim calcmode="lin" valueType="num">
                                      <p:cBhvr additive="base">
                                        <p:cTn id="47" dur="600" decel="100000" fill="hold"/>
                                        <p:tgtEl>
                                          <p:spTgt spid="20"/>
                                        </p:tgtEl>
                                        <p:attrNameLst>
                                          <p:attrName>ppt_x</p:attrName>
                                        </p:attrNameLst>
                                      </p:cBhvr>
                                      <p:tavLst>
                                        <p:tav tm="0">
                                          <p:val>
                                            <p:strVal val="#ppt_x"/>
                                          </p:val>
                                        </p:tav>
                                        <p:tav tm="100000">
                                          <p:val>
                                            <p:strVal val="#ppt_x"/>
                                          </p:val>
                                        </p:tav>
                                      </p:tavLst>
                                    </p:anim>
                                    <p:anim calcmode="lin" valueType="num">
                                      <p:cBhvr additive="base">
                                        <p:cTn id="48" dur="600" decel="100000" fill="hold"/>
                                        <p:tgtEl>
                                          <p:spTgt spid="20"/>
                                        </p:tgtEl>
                                        <p:attrNameLst>
                                          <p:attrName>ppt_y</p:attrName>
                                        </p:attrNameLst>
                                      </p:cBhvr>
                                      <p:tavLst>
                                        <p:tav tm="0">
                                          <p:val>
                                            <p:strVal val="#ppt_y+0.05"/>
                                          </p:val>
                                        </p:tav>
                                        <p:tav tm="100000">
                                          <p:val>
                                            <p:strVal val="#ppt_y"/>
                                          </p:val>
                                        </p:tav>
                                      </p:tavLst>
                                    </p:anim>
                                  </p:childTnLst>
                                </p:cTn>
                              </p:par>
                              <p:par>
                                <p:cTn id="49" presetID="53" presetClass="entr" presetSubtype="16" fill="hold" grpId="0" nodeType="withEffect">
                                  <p:stCondLst>
                                    <p:cond delay="1550"/>
                                  </p:stCondLst>
                                  <p:childTnLst>
                                    <p:set>
                                      <p:cBhvr>
                                        <p:cTn id="50" dur="1" fill="hold">
                                          <p:stCondLst>
                                            <p:cond delay="0"/>
                                          </p:stCondLst>
                                        </p:cTn>
                                        <p:tgtEl>
                                          <p:spTgt spid="21"/>
                                        </p:tgtEl>
                                        <p:attrNameLst>
                                          <p:attrName>style.visibility</p:attrName>
                                        </p:attrNameLst>
                                      </p:cBhvr>
                                      <p:to>
                                        <p:strVal val="visible"/>
                                      </p:to>
                                    </p:set>
                                    <p:anim calcmode="lin" valueType="num">
                                      <p:cBhvr additive="base">
                                        <p:cTn id="51" dur="500" decel="100000" fill="hold"/>
                                        <p:tgtEl>
                                          <p:spTgt spid="21"/>
                                        </p:tgtEl>
                                        <p:attrNameLst>
                                          <p:attrName>ppt_w</p:attrName>
                                        </p:attrNameLst>
                                      </p:cBhvr>
                                      <p:tavLst>
                                        <p:tav tm="0">
                                          <p:val>
                                            <p:strVal val="#ppt_w*0.55"/>
                                          </p:val>
                                        </p:tav>
                                        <p:tav tm="100000">
                                          <p:val>
                                            <p:strVal val="#ppt_w"/>
                                          </p:val>
                                        </p:tav>
                                      </p:tavLst>
                                    </p:anim>
                                    <p:anim calcmode="lin" valueType="num">
                                      <p:cBhvr additive="base">
                                        <p:cTn id="52" dur="500" decel="100000" fill="hold"/>
                                        <p:tgtEl>
                                          <p:spTgt spid="21"/>
                                        </p:tgtEl>
                                        <p:attrNameLst>
                                          <p:attrName>ppt_h</p:attrName>
                                        </p:attrNameLst>
                                      </p:cBhvr>
                                      <p:tavLst>
                                        <p:tav tm="0">
                                          <p:val>
                                            <p:strVal val="#ppt_h*0.55"/>
                                          </p:val>
                                        </p:tav>
                                        <p:tav tm="100000">
                                          <p:val>
                                            <p:strVal val="#ppt_h"/>
                                          </p:val>
                                        </p:tav>
                                      </p:tavLst>
                                    </p:anim>
                                    <p:animEffect transition="in" filter="fade">
                                      <p:cBhvr>
                                        <p:cTn id="53" dur="500"/>
                                        <p:tgtEl>
                                          <p:spTgt spid="21"/>
                                        </p:tgtEl>
                                      </p:cBhvr>
                                    </p:animEffect>
                                  </p:childTnLst>
                                </p:cTn>
                              </p:par>
                              <p:par>
                                <p:cTn id="54" presetID="53" presetClass="entr" presetSubtype="16" fill="hold" grpId="0" nodeType="withEffect">
                                  <p:stCondLst>
                                    <p:cond delay="1550"/>
                                  </p:stCondLst>
                                  <p:childTnLst>
                                    <p:set>
                                      <p:cBhvr>
                                        <p:cTn id="55" dur="1" fill="hold">
                                          <p:stCondLst>
                                            <p:cond delay="0"/>
                                          </p:stCondLst>
                                        </p:cTn>
                                        <p:tgtEl>
                                          <p:spTgt spid="22"/>
                                        </p:tgtEl>
                                        <p:attrNameLst>
                                          <p:attrName>style.visibility</p:attrName>
                                        </p:attrNameLst>
                                      </p:cBhvr>
                                      <p:to>
                                        <p:strVal val="visible"/>
                                      </p:to>
                                    </p:set>
                                    <p:anim calcmode="lin" valueType="num">
                                      <p:cBhvr additive="base">
                                        <p:cTn id="56" dur="500" decel="100000" fill="hold"/>
                                        <p:tgtEl>
                                          <p:spTgt spid="22"/>
                                        </p:tgtEl>
                                        <p:attrNameLst>
                                          <p:attrName>ppt_w</p:attrName>
                                        </p:attrNameLst>
                                      </p:cBhvr>
                                      <p:tavLst>
                                        <p:tav tm="0">
                                          <p:val>
                                            <p:strVal val="#ppt_w*0.55"/>
                                          </p:val>
                                        </p:tav>
                                        <p:tav tm="100000">
                                          <p:val>
                                            <p:strVal val="#ppt_w"/>
                                          </p:val>
                                        </p:tav>
                                      </p:tavLst>
                                    </p:anim>
                                    <p:anim calcmode="lin" valueType="num">
                                      <p:cBhvr additive="base">
                                        <p:cTn id="57" dur="500" decel="100000" fill="hold"/>
                                        <p:tgtEl>
                                          <p:spTgt spid="22"/>
                                        </p:tgtEl>
                                        <p:attrNameLst>
                                          <p:attrName>ppt_h</p:attrName>
                                        </p:attrNameLst>
                                      </p:cBhvr>
                                      <p:tavLst>
                                        <p:tav tm="0">
                                          <p:val>
                                            <p:strVal val="#ppt_h*0.55"/>
                                          </p:val>
                                        </p:tav>
                                        <p:tav tm="100000">
                                          <p:val>
                                            <p:strVal val="#ppt_h"/>
                                          </p:val>
                                        </p:tav>
                                      </p:tavLst>
                                    </p:anim>
                                    <p:animEffect transition="in" filter="fade">
                                      <p:cBhvr>
                                        <p:cTn id="58" dur="500"/>
                                        <p:tgtEl>
                                          <p:spTgt spid="22"/>
                                        </p:tgtEl>
                                      </p:cBhvr>
                                    </p:animEffect>
                                  </p:childTnLst>
                                </p:cTn>
                              </p:par>
                              <p:par>
                                <p:cTn id="59" presetID="42" presetClass="entr" presetSubtype="0" fill="hold" grpId="0" nodeType="withEffect">
                                  <p:stCondLst>
                                    <p:cond delay="165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600"/>
                                        <p:tgtEl>
                                          <p:spTgt spid="23"/>
                                        </p:tgtEl>
                                      </p:cBhvr>
                                    </p:animEffect>
                                    <p:anim calcmode="lin" valueType="num">
                                      <p:cBhvr additive="base">
                                        <p:cTn id="62" dur="600" decel="100000" fill="hold"/>
                                        <p:tgtEl>
                                          <p:spTgt spid="23"/>
                                        </p:tgtEl>
                                        <p:attrNameLst>
                                          <p:attrName>ppt_x</p:attrName>
                                        </p:attrNameLst>
                                      </p:cBhvr>
                                      <p:tavLst>
                                        <p:tav tm="0">
                                          <p:val>
                                            <p:strVal val="#ppt_x-0.035"/>
                                          </p:val>
                                        </p:tav>
                                        <p:tav tm="100000">
                                          <p:val>
                                            <p:strVal val="#ppt_x"/>
                                          </p:val>
                                        </p:tav>
                                      </p:tavLst>
                                    </p:anim>
                                    <p:anim calcmode="lin" valueType="num">
                                      <p:cBhvr additive="base">
                                        <p:cTn id="63" dur="600" decel="100000" fill="hold"/>
                                        <p:tgtEl>
                                          <p:spTgt spid="23"/>
                                        </p:tgtEl>
                                        <p:attrNameLst>
                                          <p:attrName>ppt_y</p:attrName>
                                        </p:attrNameLst>
                                      </p:cBhvr>
                                      <p:tavLst>
                                        <p:tav tm="0">
                                          <p:val>
                                            <p:strVal val="#ppt_y"/>
                                          </p:val>
                                        </p:tav>
                                        <p:tav tm="100000">
                                          <p:val>
                                            <p:strVal val="#ppt_y"/>
                                          </p:val>
                                        </p:tav>
                                      </p:tavLst>
                                    </p:anim>
                                  </p:childTnLst>
                                </p:cTn>
                              </p:par>
                              <p:par>
                                <p:cTn id="64" presetID="53" presetClass="entr" presetSubtype="16" fill="hold" grpId="0" nodeType="withEffect">
                                  <p:stCondLst>
                                    <p:cond delay="1800"/>
                                  </p:stCondLst>
                                  <p:childTnLst>
                                    <p:set>
                                      <p:cBhvr>
                                        <p:cTn id="65" dur="1" fill="hold">
                                          <p:stCondLst>
                                            <p:cond delay="0"/>
                                          </p:stCondLst>
                                        </p:cTn>
                                        <p:tgtEl>
                                          <p:spTgt spid="24"/>
                                        </p:tgtEl>
                                        <p:attrNameLst>
                                          <p:attrName>style.visibility</p:attrName>
                                        </p:attrNameLst>
                                      </p:cBhvr>
                                      <p:to>
                                        <p:strVal val="visible"/>
                                      </p:to>
                                    </p:set>
                                    <p:anim calcmode="lin" valueType="num">
                                      <p:cBhvr additive="base">
                                        <p:cTn id="66" dur="500" decel="100000" fill="hold"/>
                                        <p:tgtEl>
                                          <p:spTgt spid="24"/>
                                        </p:tgtEl>
                                        <p:attrNameLst>
                                          <p:attrName>ppt_w</p:attrName>
                                        </p:attrNameLst>
                                      </p:cBhvr>
                                      <p:tavLst>
                                        <p:tav tm="0">
                                          <p:val>
                                            <p:strVal val="#ppt_w*0.55"/>
                                          </p:val>
                                        </p:tav>
                                        <p:tav tm="100000">
                                          <p:val>
                                            <p:strVal val="#ppt_w"/>
                                          </p:val>
                                        </p:tav>
                                      </p:tavLst>
                                    </p:anim>
                                    <p:anim calcmode="lin" valueType="num">
                                      <p:cBhvr additive="base">
                                        <p:cTn id="67" dur="500" decel="100000" fill="hold"/>
                                        <p:tgtEl>
                                          <p:spTgt spid="24"/>
                                        </p:tgtEl>
                                        <p:attrNameLst>
                                          <p:attrName>ppt_h</p:attrName>
                                        </p:attrNameLst>
                                      </p:cBhvr>
                                      <p:tavLst>
                                        <p:tav tm="0">
                                          <p:val>
                                            <p:strVal val="#ppt_h*0.55"/>
                                          </p:val>
                                        </p:tav>
                                        <p:tav tm="100000">
                                          <p:val>
                                            <p:strVal val="#ppt_h"/>
                                          </p:val>
                                        </p:tav>
                                      </p:tavLst>
                                    </p:anim>
                                    <p:animEffect transition="in" filter="fade">
                                      <p:cBhvr>
                                        <p:cTn id="68" dur="500"/>
                                        <p:tgtEl>
                                          <p:spTgt spid="24"/>
                                        </p:tgtEl>
                                      </p:cBhvr>
                                    </p:animEffect>
                                  </p:childTnLst>
                                </p:cTn>
                              </p:par>
                              <p:par>
                                <p:cTn id="69" presetID="53" presetClass="entr" presetSubtype="16" fill="hold" grpId="0" nodeType="withEffect">
                                  <p:stCondLst>
                                    <p:cond delay="1800"/>
                                  </p:stCondLst>
                                  <p:childTnLst>
                                    <p:set>
                                      <p:cBhvr>
                                        <p:cTn id="70" dur="1" fill="hold">
                                          <p:stCondLst>
                                            <p:cond delay="0"/>
                                          </p:stCondLst>
                                        </p:cTn>
                                        <p:tgtEl>
                                          <p:spTgt spid="25"/>
                                        </p:tgtEl>
                                        <p:attrNameLst>
                                          <p:attrName>style.visibility</p:attrName>
                                        </p:attrNameLst>
                                      </p:cBhvr>
                                      <p:to>
                                        <p:strVal val="visible"/>
                                      </p:to>
                                    </p:set>
                                    <p:anim calcmode="lin" valueType="num">
                                      <p:cBhvr additive="base">
                                        <p:cTn id="71" dur="500" decel="100000" fill="hold"/>
                                        <p:tgtEl>
                                          <p:spTgt spid="25"/>
                                        </p:tgtEl>
                                        <p:attrNameLst>
                                          <p:attrName>ppt_w</p:attrName>
                                        </p:attrNameLst>
                                      </p:cBhvr>
                                      <p:tavLst>
                                        <p:tav tm="0">
                                          <p:val>
                                            <p:strVal val="#ppt_w*0.55"/>
                                          </p:val>
                                        </p:tav>
                                        <p:tav tm="100000">
                                          <p:val>
                                            <p:strVal val="#ppt_w"/>
                                          </p:val>
                                        </p:tav>
                                      </p:tavLst>
                                    </p:anim>
                                    <p:anim calcmode="lin" valueType="num">
                                      <p:cBhvr additive="base">
                                        <p:cTn id="72" dur="500" decel="100000" fill="hold"/>
                                        <p:tgtEl>
                                          <p:spTgt spid="25"/>
                                        </p:tgtEl>
                                        <p:attrNameLst>
                                          <p:attrName>ppt_h</p:attrName>
                                        </p:attrNameLst>
                                      </p:cBhvr>
                                      <p:tavLst>
                                        <p:tav tm="0">
                                          <p:val>
                                            <p:strVal val="#ppt_h*0.55"/>
                                          </p:val>
                                        </p:tav>
                                        <p:tav tm="100000">
                                          <p:val>
                                            <p:strVal val="#ppt_h"/>
                                          </p:val>
                                        </p:tav>
                                      </p:tavLst>
                                    </p:anim>
                                    <p:animEffect transition="in" filter="fade">
                                      <p:cBhvr>
                                        <p:cTn id="73" dur="500"/>
                                        <p:tgtEl>
                                          <p:spTgt spid="25"/>
                                        </p:tgtEl>
                                      </p:cBhvr>
                                    </p:animEffect>
                                  </p:childTnLst>
                                </p:cTn>
                              </p:par>
                              <p:par>
                                <p:cTn id="74" presetID="42" presetClass="entr" presetSubtype="0" fill="hold" grpId="0" nodeType="withEffect">
                                  <p:stCondLst>
                                    <p:cond delay="190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600"/>
                                        <p:tgtEl>
                                          <p:spTgt spid="26"/>
                                        </p:tgtEl>
                                      </p:cBhvr>
                                    </p:animEffect>
                                    <p:anim calcmode="lin" valueType="num">
                                      <p:cBhvr additive="base">
                                        <p:cTn id="77" dur="600" decel="100000" fill="hold"/>
                                        <p:tgtEl>
                                          <p:spTgt spid="26"/>
                                        </p:tgtEl>
                                        <p:attrNameLst>
                                          <p:attrName>ppt_x</p:attrName>
                                        </p:attrNameLst>
                                      </p:cBhvr>
                                      <p:tavLst>
                                        <p:tav tm="0">
                                          <p:val>
                                            <p:strVal val="#ppt_x-0.035"/>
                                          </p:val>
                                        </p:tav>
                                        <p:tav tm="100000">
                                          <p:val>
                                            <p:strVal val="#ppt_x"/>
                                          </p:val>
                                        </p:tav>
                                      </p:tavLst>
                                    </p:anim>
                                    <p:anim calcmode="lin" valueType="num">
                                      <p:cBhvr additive="base">
                                        <p:cTn id="78" dur="600" decel="1000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5" grpId="0" animBg="1"/>
      <p:bldP spid="16" grpId="0" animBg="1"/>
      <p:bldP spid="17" grpId="0" animBg="1"/>
      <p:bldP spid="18" grpId="0" animBg="1"/>
      <p:bldP spid="19" grpId="0" animBg="1"/>
      <p:bldP spid="20" grpId="0" animBg="1"/>
      <p:bldP spid="21" grpId="0" animBg="1"/>
      <p:bldP spid="23" grpId="0" animBg="1"/>
      <p:bldP spid="24" grpId="0" animBg="1"/>
      <p:bldP spid="2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
          <p:cNvSpPr/>
          <p:nvPr>
            <p:ph idx="100" type="body" hasCustomPrompt="1"/>
          </p:nvPr>
        </p:nvSpPr>
        <p:spPr>
          <a:xfrm>
            <a:off x="548640" y="384048"/>
            <a:ext cx="7863840" cy="310896"/>
          </a:xfrm>
          <a:prstGeom prst="rect">
            <a:avLst/>
          </a:prstGeom>
          <a:noFill/>
          <a:ln/>
        </p:spPr>
        <p:txBody>
          <a:bodyPr wrap="square" lIns="0" tIns="0" rIns="0" bIns="0" rtlCol="0" anchor="ctr"/>
          <a:lstStyle/>
          <a:p>
            <a:pPr algn="l" indent="0" marL="0">
              <a:buNone/>
            </a:pPr>
            <a:r>
              <a:rPr lang="en-US" sz="1300" b="1" spc="300" kern="0" dirty="0">
                <a:solidFill>
                  <a:schemeClr val="accent1"/>
                </a:solidFill>
              </a:rPr>
              <a:t>STEP 2  ·  SHARPEN</a:t>
            </a:r>
            <a:endParaRPr lang="en-US" sz="1300" dirty="0"/>
          </a:p>
        </p:txBody>
      </p:sp>
      <p:sp>
        <p:nvSpPr>
          <p:cNvPr id="3" name="ttl"/>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200" b="1" dirty="0">
                <a:solidFill>
                  <a:schemeClr val="bg1"/>
                </a:solidFill>
              </a:rPr>
              <a:t>Recover the detail scanner blur hides</a:t>
            </a:r>
            <a:endParaRPr lang="en-US" sz="3200" dirty="0"/>
          </a:p>
        </p:txBody>
      </p:sp>
      <p:sp>
        <p:nvSpPr>
          <p:cNvPr id="4" name="!!track"/>
          <p:cNvSpPr/>
          <p:nvPr/>
        </p:nvSpPr>
        <p:spPr>
          <a:xfrm>
            <a:off x="9326880" y="548640"/>
            <a:ext cx="1920240" cy="0"/>
          </a:xfrm>
          <a:prstGeom prst="line">
            <a:avLst/>
          </a:prstGeom>
          <a:noFill/>
          <a:ln w="19050">
            <a:solidFill>
              <a:schemeClr val="accent6"/>
            </a:solidFill>
            <a:prstDash val="solid"/>
          </a:ln>
        </p:spPr>
      </p:sp>
      <p:sp>
        <p:nvSpPr>
          <p:cNvPr id="5" name="!!dot1"/>
          <p:cNvSpPr/>
          <p:nvPr/>
        </p:nvSpPr>
        <p:spPr>
          <a:xfrm>
            <a:off x="9171432" y="393192"/>
            <a:ext cx="310896" cy="310896"/>
          </a:xfrm>
          <a:prstGeom prst="ellipse">
            <a:avLst/>
          </a:prstGeom>
          <a:solidFill>
            <a:schemeClr val="tx2"/>
          </a:solidFill>
          <a:ln w="12700">
            <a:solidFill>
              <a:schemeClr val="bg2"/>
            </a:solidFill>
          </a:ln>
        </p:spPr>
        <p:txBody>
          <a:bodyPr wrap="square" lIns="0" tIns="0" rIns="0" bIns="0" rtlCol="0" anchor="ctr"/>
          <a:lstStyle/>
          <a:p>
            <a:pPr algn="ctr" indent="0" marL="0">
              <a:buNone/>
            </a:pPr>
            <a:r>
              <a:rPr lang="en-US" sz="1100" b="1" dirty="0">
                <a:solidFill>
                  <a:schemeClr val="bg2"/>
                </a:solidFill>
              </a:rPr>
              <a:t>1</a:t>
            </a:r>
            <a:endParaRPr lang="en-US" sz="1100" dirty="0"/>
          </a:p>
        </p:txBody>
      </p:sp>
      <p:sp>
        <p:nvSpPr>
          <p:cNvPr id="6" name="!!lab1"/>
          <p:cNvSpPr txBox="1"/>
          <p:nvPr/>
        </p:nvSpPr>
        <p:spPr>
          <a:xfrm>
            <a:off x="8823960" y="822960"/>
            <a:ext cx="1005840" cy="237744"/>
          </a:xfrm>
          <a:prstGeom prst="rect">
            <a:avLst/>
          </a:prstGeom>
          <a:noFill/>
          <a:ln/>
        </p:spPr>
        <p:txBody>
          <a:bodyPr wrap="square" lIns="0" tIns="0" rIns="0" bIns="0" rtlCol="0" anchor="t"/>
          <a:lstStyle/>
          <a:p>
            <a:pPr algn="ctr" indent="0" marL="0">
              <a:buNone/>
            </a:pPr>
            <a:r>
              <a:rPr lang="en-US" sz="1100" dirty="0">
                <a:solidFill>
                  <a:schemeClr val="bg2"/>
                </a:solidFill>
              </a:rPr>
              <a:t>Register</a:t>
            </a:r>
            <a:endParaRPr lang="en-US" sz="1100" dirty="0"/>
          </a:p>
        </p:txBody>
      </p:sp>
      <p:sp>
        <p:nvSpPr>
          <p:cNvPr id="7" name="!!dot2"/>
          <p:cNvSpPr/>
          <p:nvPr/>
        </p:nvSpPr>
        <p:spPr>
          <a:xfrm>
            <a:off x="10058400" y="320040"/>
            <a:ext cx="457200" cy="457200"/>
          </a:xfrm>
          <a:prstGeom prst="ellipse">
            <a:avLst/>
          </a:prstGeom>
          <a:solidFill>
            <a:schemeClr val="accent1"/>
          </a:solidFill>
          <a:ln w="12700">
            <a:solidFill>
              <a:schemeClr val="accent1"/>
            </a:solid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8" name="!!lab2"/>
          <p:cNvSpPr txBox="1"/>
          <p:nvPr/>
        </p:nvSpPr>
        <p:spPr>
          <a:xfrm>
            <a:off x="9784080" y="822960"/>
            <a:ext cx="1005840" cy="237744"/>
          </a:xfrm>
          <a:prstGeom prst="rect">
            <a:avLst/>
          </a:prstGeom>
          <a:noFill/>
          <a:ln/>
        </p:spPr>
        <p:txBody>
          <a:bodyPr wrap="square" lIns="0" tIns="0" rIns="0" bIns="0" rtlCol="0" anchor="t"/>
          <a:lstStyle/>
          <a:p>
            <a:pPr algn="ctr" indent="0" marL="0">
              <a:buNone/>
            </a:pPr>
            <a:r>
              <a:rPr lang="en-US" sz="1100" b="1" dirty="0">
                <a:solidFill>
                  <a:schemeClr val="accent1"/>
                </a:solidFill>
              </a:rPr>
              <a:t>Sharpen</a:t>
            </a:r>
            <a:endParaRPr lang="en-US" sz="1100" dirty="0"/>
          </a:p>
        </p:txBody>
      </p:sp>
      <p:sp>
        <p:nvSpPr>
          <p:cNvPr id="9" name="!!dot3"/>
          <p:cNvSpPr/>
          <p:nvPr/>
        </p:nvSpPr>
        <p:spPr>
          <a:xfrm>
            <a:off x="11091672" y="393192"/>
            <a:ext cx="310896" cy="310896"/>
          </a:xfrm>
          <a:prstGeom prst="ellipse">
            <a:avLst/>
          </a:prstGeom>
          <a:solidFill>
            <a:schemeClr val="tx2"/>
          </a:solidFill>
          <a:ln w="12700">
            <a:solidFill>
              <a:schemeClr val="bg2"/>
            </a:solidFill>
          </a:ln>
        </p:spPr>
        <p:txBody>
          <a:bodyPr wrap="square" lIns="0" tIns="0" rIns="0" bIns="0" rtlCol="0" anchor="ctr"/>
          <a:lstStyle/>
          <a:p>
            <a:pPr algn="ctr" indent="0" marL="0">
              <a:buNone/>
            </a:pPr>
            <a:r>
              <a:rPr lang="en-US" sz="1100" b="1" dirty="0">
                <a:solidFill>
                  <a:schemeClr val="bg2"/>
                </a:solidFill>
              </a:rPr>
              <a:t>3</a:t>
            </a:r>
            <a:endParaRPr lang="en-US" sz="1100" dirty="0"/>
          </a:p>
        </p:txBody>
      </p:sp>
      <p:sp>
        <p:nvSpPr>
          <p:cNvPr id="10" name="!!lab3"/>
          <p:cNvSpPr txBox="1"/>
          <p:nvPr/>
        </p:nvSpPr>
        <p:spPr>
          <a:xfrm>
            <a:off x="10744200" y="822960"/>
            <a:ext cx="1005840" cy="237744"/>
          </a:xfrm>
          <a:prstGeom prst="rect">
            <a:avLst/>
          </a:prstGeom>
          <a:noFill/>
          <a:ln/>
        </p:spPr>
        <p:txBody>
          <a:bodyPr wrap="square" lIns="0" tIns="0" rIns="0" bIns="0" rtlCol="0" anchor="t"/>
          <a:lstStyle/>
          <a:p>
            <a:pPr algn="ctr" indent="0" marL="0">
              <a:buNone/>
            </a:pPr>
            <a:r>
              <a:rPr lang="en-US" sz="1100" dirty="0">
                <a:solidFill>
                  <a:schemeClr val="bg2"/>
                </a:solidFill>
              </a:rPr>
              <a:t>Fuse &amp; export</a:t>
            </a:r>
            <a:endParaRPr lang="en-US" sz="1100" dirty="0"/>
          </a:p>
        </p:txBody>
      </p:sp>
      <p:sp>
        <p:nvSpPr>
          <p:cNvPr id="11" name="sharp_frame"/>
          <p:cNvSpPr/>
          <p:nvPr/>
        </p:nvSpPr>
        <p:spPr>
          <a:xfrm>
            <a:off x="548640" y="1691640"/>
            <a:ext cx="3392424" cy="4526280"/>
          </a:xfrm>
          <a:prstGeom prst="roundRect">
            <a:avLst>
              <a:gd name="adj" fmla="val 3235"/>
            </a:avLst>
          </a:prstGeom>
          <a:solidFill>
            <a:schemeClr val="tx1"/>
          </a:solidFill>
          <a:ln w="9525">
            <a:solidFill>
              <a:schemeClr val="accent6"/>
            </a:solidFill>
            <a:prstDash val="solid"/>
          </a:ln>
        </p:spPr>
      </p:sp>
      <p:pic>
        <p:nvPicPr>
          <p:cNvPr id="12" name="sharp" descr="Animation: a swipe compares the blurry acquired PET with the AI-sharpened PET">    </p:cNvPr>
          <p:cNvPicPr>
            <a:picLocks noChangeAspect="1"/>
          </p:cNvPicPr>
          <p:nvPr/>
        </p:nvPicPr>
        <p:blipFill>
          <a:blip r:embed="rId1"/>
          <a:stretch>
            <a:fillRect/>
          </a:stretch>
        </p:blipFill>
        <p:spPr>
          <a:xfrm>
            <a:off x="640080" y="1783080"/>
            <a:ext cx="3209544" cy="4343400"/>
          </a:xfrm>
          <a:prstGeom prst="rect">
            <a:avLst/>
          </a:prstGeom>
        </p:spPr>
      </p:pic>
      <p:sp>
        <p:nvSpPr>
          <p:cNvPr id="13" name="k0"/>
          <p:cNvSpPr txBox="1"/>
          <p:nvPr/>
        </p:nvSpPr>
        <p:spPr>
          <a:xfrm>
            <a:off x="4434840" y="1691640"/>
            <a:ext cx="2286000" cy="1417320"/>
          </a:xfrm>
          <a:prstGeom prst="rect">
            <a:avLst/>
          </a:prstGeom>
          <a:noFill/>
          <a:ln/>
        </p:spPr>
        <p:txBody>
          <a:bodyPr wrap="square" lIns="0" tIns="0" rIns="0" bIns="0" rtlCol="0" anchor="t"/>
          <a:lstStyle/>
          <a:p>
            <a:pPr indent="0" marL="0">
              <a:buNone/>
            </a:pPr>
            <a:r>
              <a:rPr lang="en-US" sz="4000" b="1" dirty="0">
                <a:solidFill>
                  <a:schemeClr val="accent1"/>
                </a:solidFill>
              </a:rPr>
              <a:t>36.6 dB</a:t>
            </a:r>
            <a:endParaRPr lang="en-US" sz="4000" dirty="0"/>
          </a:p>
          <a:p>
            <a:pPr indent="0" marL="0">
              <a:buNone/>
            </a:pPr>
            <a:r>
              <a:rPr lang="en-US" sz="1400" dirty="0">
                <a:solidFill>
                  <a:schemeClr val="bg2"/>
                </a:solidFill>
              </a:rPr>
              <a:t>image fidelity (PSNR), up from 26.4 dB</a:t>
            </a:r>
            <a:endParaRPr lang="en-US" sz="4000" dirty="0"/>
          </a:p>
        </p:txBody>
      </p:sp>
      <p:sp>
        <p:nvSpPr>
          <p:cNvPr id="14" name="k1"/>
          <p:cNvSpPr txBox="1"/>
          <p:nvPr/>
        </p:nvSpPr>
        <p:spPr>
          <a:xfrm>
            <a:off x="6894576" y="1691640"/>
            <a:ext cx="2286000" cy="1417320"/>
          </a:xfrm>
          <a:prstGeom prst="rect">
            <a:avLst/>
          </a:prstGeom>
          <a:noFill/>
          <a:ln/>
        </p:spPr>
        <p:txBody>
          <a:bodyPr wrap="square" lIns="0" tIns="0" rIns="0" bIns="0" rtlCol="0" anchor="t"/>
          <a:lstStyle/>
          <a:p>
            <a:pPr indent="0" marL="0">
              <a:buNone/>
            </a:pPr>
            <a:r>
              <a:rPr lang="en-US" sz="4000" b="1" dirty="0">
                <a:solidFill>
                  <a:schemeClr val="accent1"/>
                </a:solidFill>
              </a:rPr>
              <a:t>0.98</a:t>
            </a:r>
            <a:endParaRPr lang="en-US" sz="4000" dirty="0"/>
          </a:p>
          <a:p>
            <a:pPr indent="0" marL="0">
              <a:buNone/>
            </a:pPr>
            <a:r>
              <a:rPr lang="en-US" sz="1400" dirty="0">
                <a:solidFill>
                  <a:schemeClr val="bg2"/>
                </a:solidFill>
              </a:rPr>
              <a:t>structural similarity (SSIM), up from 0.65</a:t>
            </a:r>
            <a:endParaRPr lang="en-US" sz="4000" dirty="0"/>
          </a:p>
        </p:txBody>
      </p:sp>
      <p:sp>
        <p:nvSpPr>
          <p:cNvPr id="15" name="k2"/>
          <p:cNvSpPr txBox="1"/>
          <p:nvPr/>
        </p:nvSpPr>
        <p:spPr>
          <a:xfrm>
            <a:off x="9354312" y="1691640"/>
            <a:ext cx="2286000" cy="1417320"/>
          </a:xfrm>
          <a:prstGeom prst="rect">
            <a:avLst/>
          </a:prstGeom>
          <a:noFill/>
          <a:ln/>
        </p:spPr>
        <p:txBody>
          <a:bodyPr wrap="square" lIns="0" tIns="0" rIns="0" bIns="0" rtlCol="0" anchor="t"/>
          <a:lstStyle/>
          <a:p>
            <a:pPr indent="0" marL="0">
              <a:buNone/>
            </a:pPr>
            <a:r>
              <a:rPr lang="en-US" sz="4000" b="1" dirty="0">
                <a:solidFill>
                  <a:schemeClr val="accent1"/>
                </a:solidFill>
              </a:rPr>
              <a:t>99 %</a:t>
            </a:r>
            <a:endParaRPr lang="en-US" sz="4000" dirty="0"/>
          </a:p>
          <a:p>
            <a:pPr indent="0" marL="0">
              <a:buNone/>
            </a:pPr>
            <a:r>
              <a:rPr lang="en-US" sz="1400" dirty="0">
                <a:solidFill>
                  <a:schemeClr val="bg2"/>
                </a:solidFill>
              </a:rPr>
              <a:t>of true tumour brightness recovered, up from 91 %</a:t>
            </a:r>
            <a:endParaRPr lang="en-US" sz="4000" dirty="0"/>
          </a:p>
        </p:txBody>
      </p:sp>
      <p:sp>
        <p:nvSpPr>
          <p:cNvPr id="16" name="how"/>
          <p:cNvSpPr txBox="1"/>
          <p:nvPr/>
        </p:nvSpPr>
        <p:spPr>
          <a:xfrm>
            <a:off x="4434840" y="3310128"/>
            <a:ext cx="3657600" cy="274320"/>
          </a:xfrm>
          <a:prstGeom prst="rect">
            <a:avLst/>
          </a:prstGeom>
          <a:noFill/>
          <a:ln/>
        </p:spPr>
        <p:txBody>
          <a:bodyPr wrap="square" lIns="0" tIns="0" rIns="0" bIns="0" rtlCol="0" anchor="t"/>
          <a:lstStyle/>
          <a:p>
            <a:pPr indent="0" marL="0">
              <a:buNone/>
            </a:pPr>
            <a:r>
              <a:rPr lang="en-US" sz="1200" b="1" spc="200" kern="0" dirty="0">
                <a:solidFill>
                  <a:schemeClr val="bg2"/>
                </a:solidFill>
              </a:rPr>
              <a:t>HOW THE AI WORKS</a:t>
            </a:r>
            <a:endParaRPr lang="en-US" sz="1200" dirty="0"/>
          </a:p>
        </p:txBody>
      </p:sp>
      <p:sp>
        <p:nvSpPr>
          <p:cNvPr id="17" name="n0"/>
          <p:cNvSpPr/>
          <p:nvPr/>
        </p:nvSpPr>
        <p:spPr>
          <a:xfrm>
            <a:off x="4434840" y="3657600"/>
            <a:ext cx="1188720" cy="868680"/>
          </a:xfrm>
          <a:prstGeom prst="roundRect">
            <a:avLst>
              <a:gd name="adj" fmla="val 10526"/>
            </a:avLst>
          </a:prstGeom>
          <a:solidFill>
            <a:schemeClr val="tx2"/>
          </a:solidFill>
          <a:ln w="9525">
            <a:solidFill>
              <a:schemeClr val="accent6"/>
            </a:solidFill>
          </a:ln>
        </p:spPr>
        <p:txBody>
          <a:bodyPr wrap="square" lIns="0" tIns="0" rIns="0" bIns="0" rtlCol="0" anchor="ctr"/>
          <a:lstStyle/>
          <a:p>
            <a:pPr algn="ctr" indent="0" marL="0">
              <a:buNone/>
            </a:pPr>
            <a:r>
              <a:rPr lang="en-US" sz="1400" b="1" dirty="0">
                <a:solidFill>
                  <a:schemeClr val="bg1"/>
                </a:solidFill>
              </a:rPr>
              <a:t>PET + MRI</a:t>
            </a:r>
            <a:endParaRPr lang="en-US" sz="1400" dirty="0"/>
          </a:p>
          <a:p>
            <a:pPr algn="ctr" indent="0" marL="0">
              <a:buNone/>
            </a:pPr>
            <a:r>
              <a:rPr lang="en-US" sz="1100" dirty="0">
                <a:solidFill>
                  <a:schemeClr val="bg2"/>
                </a:solidFill>
              </a:rPr>
              <a:t>3 neighbouring slices</a:t>
            </a:r>
            <a:endParaRPr lang="en-US" sz="1400" dirty="0"/>
          </a:p>
        </p:txBody>
      </p:sp>
      <p:sp>
        <p:nvSpPr>
          <p:cNvPr id="18" name="na0"/>
          <p:cNvSpPr/>
          <p:nvPr/>
        </p:nvSpPr>
        <p:spPr>
          <a:xfrm>
            <a:off x="5664708" y="3986784"/>
            <a:ext cx="237744" cy="219456"/>
          </a:xfrm>
          <a:prstGeom prst="rightArrow">
            <a:avLst/>
          </a:prstGeom>
          <a:solidFill>
            <a:schemeClr val="bg2"/>
          </a:solidFill>
          <a:ln w="12700">
            <a:solidFill>
              <a:schemeClr val="bg2"/>
            </a:solidFill>
            <a:prstDash val="solid"/>
          </a:ln>
        </p:spPr>
      </p:sp>
      <p:sp>
        <p:nvSpPr>
          <p:cNvPr id="19" name="n1"/>
          <p:cNvSpPr/>
          <p:nvPr/>
        </p:nvSpPr>
        <p:spPr>
          <a:xfrm>
            <a:off x="5939028" y="3657600"/>
            <a:ext cx="1188720" cy="868680"/>
          </a:xfrm>
          <a:prstGeom prst="roundRect">
            <a:avLst>
              <a:gd name="adj" fmla="val 10526"/>
            </a:avLst>
          </a:prstGeom>
          <a:solidFill>
            <a:schemeClr val="tx2"/>
          </a:solidFill>
          <a:ln w="9525">
            <a:solidFill>
              <a:schemeClr val="accent6"/>
            </a:solidFill>
          </a:ln>
        </p:spPr>
        <p:txBody>
          <a:bodyPr wrap="square" lIns="0" tIns="0" rIns="0" bIns="0" rtlCol="0" anchor="ctr"/>
          <a:lstStyle/>
          <a:p>
            <a:pPr algn="ctr" indent="0" marL="0">
              <a:buNone/>
            </a:pPr>
            <a:r>
              <a:rPr lang="en-US" sz="1400" b="1" dirty="0">
                <a:solidFill>
                  <a:schemeClr val="bg1"/>
                </a:solidFill>
              </a:rPr>
              <a:t>CNN encoder</a:t>
            </a:r>
            <a:endParaRPr lang="en-US" sz="1400" dirty="0"/>
          </a:p>
          <a:p>
            <a:pPr algn="ctr" indent="0" marL="0">
              <a:buNone/>
            </a:pPr>
            <a:r>
              <a:rPr lang="en-US" sz="1100" dirty="0">
                <a:solidFill>
                  <a:schemeClr val="bg2"/>
                </a:solidFill>
              </a:rPr>
              <a:t>local edges</a:t>
            </a:r>
            <a:endParaRPr lang="en-US" sz="1400" dirty="0"/>
          </a:p>
        </p:txBody>
      </p:sp>
      <p:sp>
        <p:nvSpPr>
          <p:cNvPr id="20" name="na1"/>
          <p:cNvSpPr/>
          <p:nvPr/>
        </p:nvSpPr>
        <p:spPr>
          <a:xfrm>
            <a:off x="7168896" y="3986784"/>
            <a:ext cx="237744" cy="219456"/>
          </a:xfrm>
          <a:prstGeom prst="rightArrow">
            <a:avLst/>
          </a:prstGeom>
          <a:solidFill>
            <a:schemeClr val="bg2"/>
          </a:solidFill>
          <a:ln w="12700">
            <a:solidFill>
              <a:schemeClr val="bg2"/>
            </a:solidFill>
            <a:prstDash val="solid"/>
          </a:ln>
        </p:spPr>
      </p:sp>
      <p:sp>
        <p:nvSpPr>
          <p:cNvPr id="21" name="n2"/>
          <p:cNvSpPr/>
          <p:nvPr/>
        </p:nvSpPr>
        <p:spPr>
          <a:xfrm>
            <a:off x="7443216" y="3657600"/>
            <a:ext cx="1188720" cy="868680"/>
          </a:xfrm>
          <a:prstGeom prst="roundRect">
            <a:avLst>
              <a:gd name="adj" fmla="val 10526"/>
            </a:avLst>
          </a:prstGeom>
          <a:solidFill>
            <a:schemeClr val="tx2"/>
          </a:solidFill>
          <a:ln w="19050">
            <a:solidFill>
              <a:schemeClr val="accent1"/>
            </a:solidFill>
          </a:ln>
        </p:spPr>
        <p:txBody>
          <a:bodyPr wrap="square" lIns="0" tIns="0" rIns="0" bIns="0" rtlCol="0" anchor="ctr"/>
          <a:lstStyle/>
          <a:p>
            <a:pPr algn="ctr" indent="0" marL="0">
              <a:buNone/>
            </a:pPr>
            <a:r>
              <a:rPr lang="en-US" sz="1400" b="1" dirty="0">
                <a:solidFill>
                  <a:schemeClr val="bg1"/>
                </a:solidFill>
              </a:rPr>
              <a:t>ViT attention</a:t>
            </a:r>
            <a:endParaRPr lang="en-US" sz="1400" dirty="0"/>
          </a:p>
          <a:p>
            <a:pPr algn="ctr" indent="0" marL="0">
              <a:buNone/>
            </a:pPr>
            <a:r>
              <a:rPr lang="en-US" sz="1100" dirty="0">
                <a:solidFill>
                  <a:schemeClr val="bg2"/>
                </a:solidFill>
              </a:rPr>
              <a:t>global context</a:t>
            </a:r>
            <a:endParaRPr lang="en-US" sz="1400" dirty="0"/>
          </a:p>
        </p:txBody>
      </p:sp>
      <p:sp>
        <p:nvSpPr>
          <p:cNvPr id="22" name="na2"/>
          <p:cNvSpPr/>
          <p:nvPr/>
        </p:nvSpPr>
        <p:spPr>
          <a:xfrm>
            <a:off x="8673084" y="3986784"/>
            <a:ext cx="237744" cy="219456"/>
          </a:xfrm>
          <a:prstGeom prst="rightArrow">
            <a:avLst/>
          </a:prstGeom>
          <a:solidFill>
            <a:schemeClr val="bg2"/>
          </a:solidFill>
          <a:ln w="12700">
            <a:solidFill>
              <a:schemeClr val="bg2"/>
            </a:solidFill>
            <a:prstDash val="solid"/>
          </a:ln>
        </p:spPr>
      </p:sp>
      <p:sp>
        <p:nvSpPr>
          <p:cNvPr id="23" name="n3"/>
          <p:cNvSpPr/>
          <p:nvPr/>
        </p:nvSpPr>
        <p:spPr>
          <a:xfrm>
            <a:off x="8947404" y="3657600"/>
            <a:ext cx="1188720" cy="868680"/>
          </a:xfrm>
          <a:prstGeom prst="roundRect">
            <a:avLst>
              <a:gd name="adj" fmla="val 10526"/>
            </a:avLst>
          </a:prstGeom>
          <a:solidFill>
            <a:schemeClr val="tx2"/>
          </a:solidFill>
          <a:ln w="9525">
            <a:solidFill>
              <a:schemeClr val="accent6"/>
            </a:solidFill>
          </a:ln>
        </p:spPr>
        <p:txBody>
          <a:bodyPr wrap="square" lIns="0" tIns="0" rIns="0" bIns="0" rtlCol="0" anchor="ctr"/>
          <a:lstStyle/>
          <a:p>
            <a:pPr algn="ctr" indent="0" marL="0">
              <a:buNone/>
            </a:pPr>
            <a:r>
              <a:rPr lang="en-US" sz="1400" b="1" dirty="0">
                <a:solidFill>
                  <a:schemeClr val="bg1"/>
                </a:solidFill>
              </a:rPr>
              <a:t>CNN decoder</a:t>
            </a:r>
            <a:endParaRPr lang="en-US" sz="1400" dirty="0"/>
          </a:p>
          <a:p>
            <a:pPr algn="ctr" indent="0" marL="0">
              <a:buNone/>
            </a:pPr>
            <a:r>
              <a:rPr lang="en-US" sz="1100" dirty="0">
                <a:solidFill>
                  <a:schemeClr val="bg2"/>
                </a:solidFill>
              </a:rPr>
              <a:t>full detail</a:t>
            </a:r>
            <a:endParaRPr lang="en-US" sz="1400" dirty="0"/>
          </a:p>
        </p:txBody>
      </p:sp>
      <p:sp>
        <p:nvSpPr>
          <p:cNvPr id="24" name="na3"/>
          <p:cNvSpPr/>
          <p:nvPr/>
        </p:nvSpPr>
        <p:spPr>
          <a:xfrm>
            <a:off x="10177272" y="3986784"/>
            <a:ext cx="237744" cy="219456"/>
          </a:xfrm>
          <a:prstGeom prst="rightArrow">
            <a:avLst/>
          </a:prstGeom>
          <a:solidFill>
            <a:schemeClr val="bg2"/>
          </a:solidFill>
          <a:ln w="12700">
            <a:solidFill>
              <a:schemeClr val="bg2"/>
            </a:solidFill>
            <a:prstDash val="solid"/>
          </a:ln>
        </p:spPr>
      </p:sp>
      <p:sp>
        <p:nvSpPr>
          <p:cNvPr id="25" name="n4"/>
          <p:cNvSpPr/>
          <p:nvPr/>
        </p:nvSpPr>
        <p:spPr>
          <a:xfrm>
            <a:off x="10451592" y="3657600"/>
            <a:ext cx="1188720" cy="868680"/>
          </a:xfrm>
          <a:prstGeom prst="roundRect">
            <a:avLst>
              <a:gd name="adj" fmla="val 10526"/>
            </a:avLst>
          </a:prstGeom>
          <a:solidFill>
            <a:schemeClr val="accent1">
              <a:alpha val="20000"/>
            </a:schemeClr>
          </a:solidFill>
          <a:ln w="19050">
            <a:solidFill>
              <a:schemeClr val="accent1"/>
            </a:solidFill>
          </a:ln>
        </p:spPr>
        <p:txBody>
          <a:bodyPr wrap="square" lIns="0" tIns="0" rIns="0" bIns="0" rtlCol="0" anchor="ctr"/>
          <a:lstStyle/>
          <a:p>
            <a:pPr algn="ctr" indent="0" marL="0">
              <a:buNone/>
            </a:pPr>
            <a:r>
              <a:rPr lang="en-US" sz="1400" b="1" dirty="0">
                <a:solidFill>
                  <a:schemeClr val="bg1"/>
                </a:solidFill>
              </a:rPr>
              <a:t>Sharp PET</a:t>
            </a:r>
            <a:endParaRPr lang="en-US" sz="1400" dirty="0"/>
          </a:p>
          <a:p>
            <a:pPr algn="ctr" indent="0" marL="0">
              <a:buNone/>
            </a:pPr>
            <a:r>
              <a:rPr lang="en-US" sz="1100" dirty="0">
                <a:solidFill>
                  <a:schemeClr val="bg2"/>
                </a:solidFill>
              </a:rPr>
              <a:t>SUV preserved</a:t>
            </a:r>
            <a:endParaRPr lang="en-US" sz="1400" dirty="0"/>
          </a:p>
        </p:txBody>
      </p:sp>
      <p:sp>
        <p:nvSpPr>
          <p:cNvPr id="26" name="net_cap"/>
          <p:cNvSpPr txBox="1"/>
          <p:nvPr/>
        </p:nvSpPr>
        <p:spPr>
          <a:xfrm>
            <a:off x="4434840" y="4599432"/>
            <a:ext cx="7205472" cy="274320"/>
          </a:xfrm>
          <a:prstGeom prst="rect">
            <a:avLst/>
          </a:prstGeom>
          <a:noFill/>
          <a:ln/>
        </p:spPr>
        <p:txBody>
          <a:bodyPr wrap="square" lIns="0" tIns="0" rIns="0" bIns="0" rtlCol="0" anchor="t"/>
          <a:lstStyle/>
          <a:p>
            <a:pPr indent="0" marL="0">
              <a:buNone/>
            </a:pPr>
            <a:r>
              <a:rPr lang="en-US" sz="1100" dirty="0">
                <a:solidFill>
                  <a:schemeClr val="bg2"/>
                </a:solidFill>
              </a:rPr>
              <a:t>2.45 M parameters  ·  trained on 29 simulated volumes  ·  ~6 s per study on CPU (ONNX Runtime)</a:t>
            </a:r>
            <a:endParaRPr lang="en-US" sz="1100" dirty="0"/>
          </a:p>
        </p:txBody>
      </p:sp>
      <p:sp>
        <p:nvSpPr>
          <p:cNvPr id="27" name="row1_ring"/>
          <p:cNvSpPr/>
          <p:nvPr/>
        </p:nvSpPr>
        <p:spPr>
          <a:xfrm>
            <a:off x="4434840" y="4983480"/>
            <a:ext cx="502920" cy="502920"/>
          </a:xfrm>
          <a:prstGeom prst="ellipse">
            <a:avLst/>
          </a:prstGeom>
          <a:solidFill>
            <a:schemeClr val="tx2"/>
          </a:solidFill>
          <a:ln w="15875">
            <a:solidFill>
              <a:schemeClr val="accent1"/>
            </a:solidFill>
            <a:prstDash val="solid"/>
          </a:ln>
        </p:spPr>
      </p:sp>
      <p:pic>
        <p:nvPicPr>
          <p:cNvPr id="28" name="row1_icon" descr="brain icon">    </p:cNvPr>
          <p:cNvPicPr>
            <a:picLocks noChangeAspect="1"/>
          </p:cNvPicPr>
          <p:nvPr/>
        </p:nvPicPr>
        <p:blipFill>
          <a:blip r:embed="rId2"/>
          <a:stretch>
            <a:fillRect/>
          </a:stretch>
        </p:blipFill>
        <p:spPr>
          <a:xfrm>
            <a:off x="4555541" y="5104181"/>
            <a:ext cx="261518" cy="261518"/>
          </a:xfrm>
          <a:prstGeom prst="rect">
            <a:avLst/>
          </a:prstGeom>
        </p:spPr>
      </p:pic>
      <p:sp>
        <p:nvSpPr>
          <p:cNvPr id="29" name="row1_txt"/>
          <p:cNvSpPr txBox="1"/>
          <p:nvPr/>
        </p:nvSpPr>
        <p:spPr>
          <a:xfrm>
            <a:off x="5120640" y="4965192"/>
            <a:ext cx="6519672" cy="566928"/>
          </a:xfrm>
          <a:prstGeom prst="rect">
            <a:avLst/>
          </a:prstGeom>
          <a:noFill/>
          <a:ln/>
        </p:spPr>
        <p:txBody>
          <a:bodyPr wrap="square" lIns="0" tIns="0" rIns="0" bIns="0" rtlCol="0" anchor="ctr"/>
          <a:lstStyle/>
          <a:p>
            <a:pPr indent="0" marL="0">
              <a:buNone/>
            </a:pPr>
            <a:r>
              <a:rPr lang="en-US" sz="1500" b="1" dirty="0">
                <a:solidFill>
                  <a:schemeClr val="bg1"/>
                </a:solidFill>
              </a:rPr>
              <a:t>MRI-guided: </a:t>
            </a:r>
            <a:pPr indent="0" marL="0">
              <a:buNone/>
            </a:pPr>
            <a:r>
              <a:rPr lang="en-US" sz="1500" dirty="0">
                <a:solidFill>
                  <a:schemeClr val="bg2"/>
                </a:solidFill>
              </a:rPr>
              <a:t>the anatomy tells the network where the true edges are.</a:t>
            </a:r>
            <a:endParaRPr lang="en-US" sz="1500" dirty="0"/>
          </a:p>
        </p:txBody>
      </p:sp>
      <p:sp>
        <p:nvSpPr>
          <p:cNvPr id="30" name="row2_ring"/>
          <p:cNvSpPr/>
          <p:nvPr/>
        </p:nvSpPr>
        <p:spPr>
          <a:xfrm>
            <a:off x="4434840" y="5596128"/>
            <a:ext cx="502920" cy="502920"/>
          </a:xfrm>
          <a:prstGeom prst="ellipse">
            <a:avLst/>
          </a:prstGeom>
          <a:solidFill>
            <a:schemeClr val="tx2"/>
          </a:solidFill>
          <a:ln w="15875">
            <a:solidFill>
              <a:schemeClr val="accent3"/>
            </a:solidFill>
            <a:prstDash val="solid"/>
          </a:ln>
        </p:spPr>
      </p:sp>
      <p:pic>
        <p:nvPicPr>
          <p:cNvPr id="31" name="row2_icon" descr="shield icon">    </p:cNvPr>
          <p:cNvPicPr>
            <a:picLocks noChangeAspect="1"/>
          </p:cNvPicPr>
          <p:nvPr/>
        </p:nvPicPr>
        <p:blipFill>
          <a:blip r:embed="rId3"/>
          <a:stretch>
            <a:fillRect/>
          </a:stretch>
        </p:blipFill>
        <p:spPr>
          <a:xfrm>
            <a:off x="4555541" y="5716829"/>
            <a:ext cx="261518" cy="261518"/>
          </a:xfrm>
          <a:prstGeom prst="rect">
            <a:avLst/>
          </a:prstGeom>
        </p:spPr>
      </p:pic>
      <p:sp>
        <p:nvSpPr>
          <p:cNvPr id="32" name="row2_txt"/>
          <p:cNvSpPr txBox="1"/>
          <p:nvPr/>
        </p:nvSpPr>
        <p:spPr>
          <a:xfrm>
            <a:off x="5120640" y="5577840"/>
            <a:ext cx="6519672" cy="566928"/>
          </a:xfrm>
          <a:prstGeom prst="rect">
            <a:avLst/>
          </a:prstGeom>
          <a:noFill/>
          <a:ln/>
        </p:spPr>
        <p:txBody>
          <a:bodyPr wrap="square" lIns="0" tIns="0" rIns="0" bIns="0" rtlCol="0" anchor="ctr"/>
          <a:lstStyle/>
          <a:p>
            <a:pPr indent="0" marL="0">
              <a:buNone/>
            </a:pPr>
            <a:r>
              <a:rPr lang="en-US" sz="1500" b="1" dirty="0">
                <a:solidFill>
                  <a:schemeClr val="bg1"/>
                </a:solidFill>
              </a:rPr>
              <a:t>Never invents tumours: </a:t>
            </a:r>
            <a:pPr indent="0" marL="0">
              <a:buNone/>
            </a:pPr>
            <a:r>
              <a:rPr lang="en-US" sz="1500" dirty="0">
                <a:solidFill>
                  <a:schemeClr val="bg2"/>
                </a:solidFill>
              </a:rPr>
              <a:t>dead tissue that MRI shows but PET doesn't stays cold.</a:t>
            </a:r>
            <a:endParaRPr lang="en-US" sz="15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7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700"/>
                                        <p:tgtEl>
                                          <p:spTgt spid="12"/>
                                        </p:tgtEl>
                                      </p:cBhvr>
                                    </p:animEffect>
                                  </p:childTnLst>
                                </p:cTn>
                              </p:par>
                              <p:par>
                                <p:cTn id="11" presetID="53" presetClass="entr" presetSubtype="16" fill="hold" grpId="0" nodeType="withEffect">
                                  <p:stCondLst>
                                    <p:cond delay="30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600" decel="100000" fill="hold"/>
                                        <p:tgtEl>
                                          <p:spTgt spid="13"/>
                                        </p:tgtEl>
                                        <p:attrNameLst>
                                          <p:attrName>ppt_w</p:attrName>
                                        </p:attrNameLst>
                                      </p:cBhvr>
                                      <p:tavLst>
                                        <p:tav tm="0">
                                          <p:val>
                                            <p:strVal val="#ppt_w*0.55"/>
                                          </p:val>
                                        </p:tav>
                                        <p:tav tm="100000">
                                          <p:val>
                                            <p:strVal val="#ppt_w"/>
                                          </p:val>
                                        </p:tav>
                                      </p:tavLst>
                                    </p:anim>
                                    <p:anim calcmode="lin" valueType="num">
                                      <p:cBhvr additive="base">
                                        <p:cTn id="14" dur="600" decel="100000" fill="hold"/>
                                        <p:tgtEl>
                                          <p:spTgt spid="13"/>
                                        </p:tgtEl>
                                        <p:attrNameLst>
                                          <p:attrName>ppt_h</p:attrName>
                                        </p:attrNameLst>
                                      </p:cBhvr>
                                      <p:tavLst>
                                        <p:tav tm="0">
                                          <p:val>
                                            <p:strVal val="#ppt_h*0.55"/>
                                          </p:val>
                                        </p:tav>
                                        <p:tav tm="100000">
                                          <p:val>
                                            <p:strVal val="#ppt_h"/>
                                          </p:val>
                                        </p:tav>
                                      </p:tavLst>
                                    </p:anim>
                                    <p:animEffect transition="in" filter="fade">
                                      <p:cBhvr>
                                        <p:cTn id="15" dur="600"/>
                                        <p:tgtEl>
                                          <p:spTgt spid="13"/>
                                        </p:tgtEl>
                                      </p:cBhvr>
                                    </p:animEffect>
                                  </p:childTnLst>
                                </p:cTn>
                              </p:par>
                              <p:par>
                                <p:cTn id="16" presetID="53" presetClass="entr" presetSubtype="16" fill="hold" grpId="0" nodeType="withEffect">
                                  <p:stCondLst>
                                    <p:cond delay="50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600" decel="100000" fill="hold"/>
                                        <p:tgtEl>
                                          <p:spTgt spid="14"/>
                                        </p:tgtEl>
                                        <p:attrNameLst>
                                          <p:attrName>ppt_w</p:attrName>
                                        </p:attrNameLst>
                                      </p:cBhvr>
                                      <p:tavLst>
                                        <p:tav tm="0">
                                          <p:val>
                                            <p:strVal val="#ppt_w*0.55"/>
                                          </p:val>
                                        </p:tav>
                                        <p:tav tm="100000">
                                          <p:val>
                                            <p:strVal val="#ppt_w"/>
                                          </p:val>
                                        </p:tav>
                                      </p:tavLst>
                                    </p:anim>
                                    <p:anim calcmode="lin" valueType="num">
                                      <p:cBhvr additive="base">
                                        <p:cTn id="19" dur="600" decel="100000" fill="hold"/>
                                        <p:tgtEl>
                                          <p:spTgt spid="14"/>
                                        </p:tgtEl>
                                        <p:attrNameLst>
                                          <p:attrName>ppt_h</p:attrName>
                                        </p:attrNameLst>
                                      </p:cBhvr>
                                      <p:tavLst>
                                        <p:tav tm="0">
                                          <p:val>
                                            <p:strVal val="#ppt_h*0.55"/>
                                          </p:val>
                                        </p:tav>
                                        <p:tav tm="100000">
                                          <p:val>
                                            <p:strVal val="#ppt_h"/>
                                          </p:val>
                                        </p:tav>
                                      </p:tavLst>
                                    </p:anim>
                                    <p:animEffect transition="in" filter="fade">
                                      <p:cBhvr>
                                        <p:cTn id="20" dur="600"/>
                                        <p:tgtEl>
                                          <p:spTgt spid="14"/>
                                        </p:tgtEl>
                                      </p:cBhvr>
                                    </p:animEffect>
                                  </p:childTnLst>
                                </p:cTn>
                              </p:par>
                              <p:par>
                                <p:cTn id="21" presetID="53" presetClass="entr" presetSubtype="16"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600" decel="100000" fill="hold"/>
                                        <p:tgtEl>
                                          <p:spTgt spid="15"/>
                                        </p:tgtEl>
                                        <p:attrNameLst>
                                          <p:attrName>ppt_w</p:attrName>
                                        </p:attrNameLst>
                                      </p:cBhvr>
                                      <p:tavLst>
                                        <p:tav tm="0">
                                          <p:val>
                                            <p:strVal val="#ppt_w*0.55"/>
                                          </p:val>
                                        </p:tav>
                                        <p:tav tm="100000">
                                          <p:val>
                                            <p:strVal val="#ppt_w"/>
                                          </p:val>
                                        </p:tav>
                                      </p:tavLst>
                                    </p:anim>
                                    <p:anim calcmode="lin" valueType="num">
                                      <p:cBhvr additive="base">
                                        <p:cTn id="24" dur="600" decel="100000" fill="hold"/>
                                        <p:tgtEl>
                                          <p:spTgt spid="15"/>
                                        </p:tgtEl>
                                        <p:attrNameLst>
                                          <p:attrName>ppt_h</p:attrName>
                                        </p:attrNameLst>
                                      </p:cBhvr>
                                      <p:tavLst>
                                        <p:tav tm="0">
                                          <p:val>
                                            <p:strVal val="#ppt_h*0.55"/>
                                          </p:val>
                                        </p:tav>
                                        <p:tav tm="100000">
                                          <p:val>
                                            <p:strVal val="#ppt_h"/>
                                          </p:val>
                                        </p:tav>
                                      </p:tavLst>
                                    </p:anim>
                                    <p:animEffect transition="in" filter="fade">
                                      <p:cBhvr>
                                        <p:cTn id="25" dur="600"/>
                                        <p:tgtEl>
                                          <p:spTgt spid="15"/>
                                        </p:tgtEl>
                                      </p:cBhvr>
                                    </p:animEffect>
                                  </p:childTnLst>
                                </p:cTn>
                              </p:par>
                              <p:par>
                                <p:cTn id="26" presetID="10" presetClass="entr" presetSubtype="0" fill="hold" grpId="0" nodeType="withEffect">
                                  <p:stCondLst>
                                    <p:cond delay="95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22" presetClass="entr" presetSubtype="8" fill="hold" grpId="0" nodeType="withEffect">
                                  <p:stCondLst>
                                    <p:cond delay="1100"/>
                                  </p:stCondLst>
                                  <p:childTnLst>
                                    <p:set>
                                      <p:cBhvr>
                                        <p:cTn id="30" dur="1" fill="hold">
                                          <p:stCondLst>
                                            <p:cond delay="0"/>
                                          </p:stCondLst>
                                        </p:cTn>
                                        <p:tgtEl>
                                          <p:spTgt spid="17"/>
                                        </p:tgtEl>
                                        <p:attrNameLst>
                                          <p:attrName>style.visibility</p:attrName>
                                        </p:attrNameLst>
                                      </p:cBhvr>
                                      <p:to>
                                        <p:strVal val="visible"/>
                                      </p:to>
                                    </p:set>
                                    <p:animEffect transition="in" filter="wipe(left)">
                                      <p:cBhvr>
                                        <p:cTn id="31" dur="450"/>
                                        <p:tgtEl>
                                          <p:spTgt spid="17"/>
                                        </p:tgtEl>
                                      </p:cBhvr>
                                    </p:animEffect>
                                  </p:childTnLst>
                                </p:cTn>
                              </p:par>
                              <p:par>
                                <p:cTn id="32" presetID="22" presetClass="entr" presetSubtype="8" fill="hold" grpId="0" nodeType="withEffect">
                                  <p:stCondLst>
                                    <p:cond delay="1250"/>
                                  </p:stCondLst>
                                  <p:childTnLst>
                                    <p:set>
                                      <p:cBhvr>
                                        <p:cTn id="33" dur="1" fill="hold">
                                          <p:stCondLst>
                                            <p:cond delay="0"/>
                                          </p:stCondLst>
                                        </p:cTn>
                                        <p:tgtEl>
                                          <p:spTgt spid="18"/>
                                        </p:tgtEl>
                                        <p:attrNameLst>
                                          <p:attrName>style.visibility</p:attrName>
                                        </p:attrNameLst>
                                      </p:cBhvr>
                                      <p:to>
                                        <p:strVal val="visible"/>
                                      </p:to>
                                    </p:set>
                                    <p:animEffect transition="in" filter="wipe(left)">
                                      <p:cBhvr>
                                        <p:cTn id="34" dur="300"/>
                                        <p:tgtEl>
                                          <p:spTgt spid="18"/>
                                        </p:tgtEl>
                                      </p:cBhvr>
                                    </p:animEffect>
                                  </p:childTnLst>
                                </p:cTn>
                              </p:par>
                              <p:par>
                                <p:cTn id="35" presetID="22" presetClass="entr" presetSubtype="8" fill="hold" grpId="0" nodeType="withEffect">
                                  <p:stCondLst>
                                    <p:cond delay="1320"/>
                                  </p:stCondLst>
                                  <p:childTnLst>
                                    <p:set>
                                      <p:cBhvr>
                                        <p:cTn id="36" dur="1" fill="hold">
                                          <p:stCondLst>
                                            <p:cond delay="0"/>
                                          </p:stCondLst>
                                        </p:cTn>
                                        <p:tgtEl>
                                          <p:spTgt spid="19"/>
                                        </p:tgtEl>
                                        <p:attrNameLst>
                                          <p:attrName>style.visibility</p:attrName>
                                        </p:attrNameLst>
                                      </p:cBhvr>
                                      <p:to>
                                        <p:strVal val="visible"/>
                                      </p:to>
                                    </p:set>
                                    <p:animEffect transition="in" filter="wipe(left)">
                                      <p:cBhvr>
                                        <p:cTn id="37" dur="450"/>
                                        <p:tgtEl>
                                          <p:spTgt spid="19"/>
                                        </p:tgtEl>
                                      </p:cBhvr>
                                    </p:animEffect>
                                  </p:childTnLst>
                                </p:cTn>
                              </p:par>
                              <p:par>
                                <p:cTn id="38" presetID="22" presetClass="entr" presetSubtype="8" fill="hold" grpId="0" nodeType="withEffect">
                                  <p:stCondLst>
                                    <p:cond delay="1470"/>
                                  </p:stCondLst>
                                  <p:childTnLst>
                                    <p:set>
                                      <p:cBhvr>
                                        <p:cTn id="39" dur="1" fill="hold">
                                          <p:stCondLst>
                                            <p:cond delay="0"/>
                                          </p:stCondLst>
                                        </p:cTn>
                                        <p:tgtEl>
                                          <p:spTgt spid="20"/>
                                        </p:tgtEl>
                                        <p:attrNameLst>
                                          <p:attrName>style.visibility</p:attrName>
                                        </p:attrNameLst>
                                      </p:cBhvr>
                                      <p:to>
                                        <p:strVal val="visible"/>
                                      </p:to>
                                    </p:set>
                                    <p:animEffect transition="in" filter="wipe(left)">
                                      <p:cBhvr>
                                        <p:cTn id="40" dur="300"/>
                                        <p:tgtEl>
                                          <p:spTgt spid="20"/>
                                        </p:tgtEl>
                                      </p:cBhvr>
                                    </p:animEffect>
                                  </p:childTnLst>
                                </p:cTn>
                              </p:par>
                              <p:par>
                                <p:cTn id="41" presetID="22" presetClass="entr" presetSubtype="8" fill="hold" grpId="0" nodeType="withEffect">
                                  <p:stCondLst>
                                    <p:cond delay="1540"/>
                                  </p:stCondLst>
                                  <p:childTnLst>
                                    <p:set>
                                      <p:cBhvr>
                                        <p:cTn id="42" dur="1" fill="hold">
                                          <p:stCondLst>
                                            <p:cond delay="0"/>
                                          </p:stCondLst>
                                        </p:cTn>
                                        <p:tgtEl>
                                          <p:spTgt spid="21"/>
                                        </p:tgtEl>
                                        <p:attrNameLst>
                                          <p:attrName>style.visibility</p:attrName>
                                        </p:attrNameLst>
                                      </p:cBhvr>
                                      <p:to>
                                        <p:strVal val="visible"/>
                                      </p:to>
                                    </p:set>
                                    <p:animEffect transition="in" filter="wipe(left)">
                                      <p:cBhvr>
                                        <p:cTn id="43" dur="450"/>
                                        <p:tgtEl>
                                          <p:spTgt spid="21"/>
                                        </p:tgtEl>
                                      </p:cBhvr>
                                    </p:animEffect>
                                  </p:childTnLst>
                                </p:cTn>
                              </p:par>
                              <p:par>
                                <p:cTn id="44" presetID="22" presetClass="entr" presetSubtype="8" fill="hold" grpId="0" nodeType="withEffect">
                                  <p:stCondLst>
                                    <p:cond delay="1690"/>
                                  </p:stCondLst>
                                  <p:childTnLst>
                                    <p:set>
                                      <p:cBhvr>
                                        <p:cTn id="45" dur="1" fill="hold">
                                          <p:stCondLst>
                                            <p:cond delay="0"/>
                                          </p:stCondLst>
                                        </p:cTn>
                                        <p:tgtEl>
                                          <p:spTgt spid="22"/>
                                        </p:tgtEl>
                                        <p:attrNameLst>
                                          <p:attrName>style.visibility</p:attrName>
                                        </p:attrNameLst>
                                      </p:cBhvr>
                                      <p:to>
                                        <p:strVal val="visible"/>
                                      </p:to>
                                    </p:set>
                                    <p:animEffect transition="in" filter="wipe(left)">
                                      <p:cBhvr>
                                        <p:cTn id="46" dur="300"/>
                                        <p:tgtEl>
                                          <p:spTgt spid="22"/>
                                        </p:tgtEl>
                                      </p:cBhvr>
                                    </p:animEffect>
                                  </p:childTnLst>
                                </p:cTn>
                              </p:par>
                              <p:par>
                                <p:cTn id="47" presetID="22" presetClass="entr" presetSubtype="8" fill="hold" grpId="0" nodeType="withEffect">
                                  <p:stCondLst>
                                    <p:cond delay="1760"/>
                                  </p:stCondLst>
                                  <p:childTnLst>
                                    <p:set>
                                      <p:cBhvr>
                                        <p:cTn id="48" dur="1" fill="hold">
                                          <p:stCondLst>
                                            <p:cond delay="0"/>
                                          </p:stCondLst>
                                        </p:cTn>
                                        <p:tgtEl>
                                          <p:spTgt spid="23"/>
                                        </p:tgtEl>
                                        <p:attrNameLst>
                                          <p:attrName>style.visibility</p:attrName>
                                        </p:attrNameLst>
                                      </p:cBhvr>
                                      <p:to>
                                        <p:strVal val="visible"/>
                                      </p:to>
                                    </p:set>
                                    <p:animEffect transition="in" filter="wipe(left)">
                                      <p:cBhvr>
                                        <p:cTn id="49" dur="450"/>
                                        <p:tgtEl>
                                          <p:spTgt spid="23"/>
                                        </p:tgtEl>
                                      </p:cBhvr>
                                    </p:animEffect>
                                  </p:childTnLst>
                                </p:cTn>
                              </p:par>
                              <p:par>
                                <p:cTn id="50" presetID="22" presetClass="entr" presetSubtype="8" fill="hold" grpId="0" nodeType="withEffect">
                                  <p:stCondLst>
                                    <p:cond delay="1910"/>
                                  </p:stCondLst>
                                  <p:childTnLst>
                                    <p:set>
                                      <p:cBhvr>
                                        <p:cTn id="51" dur="1" fill="hold">
                                          <p:stCondLst>
                                            <p:cond delay="0"/>
                                          </p:stCondLst>
                                        </p:cTn>
                                        <p:tgtEl>
                                          <p:spTgt spid="24"/>
                                        </p:tgtEl>
                                        <p:attrNameLst>
                                          <p:attrName>style.visibility</p:attrName>
                                        </p:attrNameLst>
                                      </p:cBhvr>
                                      <p:to>
                                        <p:strVal val="visible"/>
                                      </p:to>
                                    </p:set>
                                    <p:animEffect transition="in" filter="wipe(left)">
                                      <p:cBhvr>
                                        <p:cTn id="52" dur="300"/>
                                        <p:tgtEl>
                                          <p:spTgt spid="24"/>
                                        </p:tgtEl>
                                      </p:cBhvr>
                                    </p:animEffect>
                                  </p:childTnLst>
                                </p:cTn>
                              </p:par>
                              <p:par>
                                <p:cTn id="53" presetID="22" presetClass="entr" presetSubtype="8" fill="hold" grpId="0" nodeType="withEffect">
                                  <p:stCondLst>
                                    <p:cond delay="1980"/>
                                  </p:stCondLst>
                                  <p:childTnLst>
                                    <p:set>
                                      <p:cBhvr>
                                        <p:cTn id="54" dur="1" fill="hold">
                                          <p:stCondLst>
                                            <p:cond delay="0"/>
                                          </p:stCondLst>
                                        </p:cTn>
                                        <p:tgtEl>
                                          <p:spTgt spid="25"/>
                                        </p:tgtEl>
                                        <p:attrNameLst>
                                          <p:attrName>style.visibility</p:attrName>
                                        </p:attrNameLst>
                                      </p:cBhvr>
                                      <p:to>
                                        <p:strVal val="visible"/>
                                      </p:to>
                                    </p:set>
                                    <p:animEffect transition="in" filter="wipe(left)">
                                      <p:cBhvr>
                                        <p:cTn id="55" dur="450"/>
                                        <p:tgtEl>
                                          <p:spTgt spid="25"/>
                                        </p:tgtEl>
                                      </p:cBhvr>
                                    </p:animEffect>
                                  </p:childTnLst>
                                </p:cTn>
                              </p:par>
                              <p:par>
                                <p:cTn id="56" presetID="10" presetClass="entr" presetSubtype="0" fill="hold" grpId="0" nodeType="withEffect">
                                  <p:stCondLst>
                                    <p:cond delay="220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500"/>
                                        <p:tgtEl>
                                          <p:spTgt spid="26"/>
                                        </p:tgtEl>
                                      </p:cBhvr>
                                    </p:animEffect>
                                  </p:childTnLst>
                                </p:cTn>
                              </p:par>
                              <p:par>
                                <p:cTn id="59" presetID="53" presetClass="entr" presetSubtype="16" fill="hold" grpId="0" nodeType="withEffect">
                                  <p:stCondLst>
                                    <p:cond delay="2350"/>
                                  </p:stCondLst>
                                  <p:childTnLst>
                                    <p:set>
                                      <p:cBhvr>
                                        <p:cTn id="60" dur="1" fill="hold">
                                          <p:stCondLst>
                                            <p:cond delay="0"/>
                                          </p:stCondLst>
                                        </p:cTn>
                                        <p:tgtEl>
                                          <p:spTgt spid="27"/>
                                        </p:tgtEl>
                                        <p:attrNameLst>
                                          <p:attrName>style.visibility</p:attrName>
                                        </p:attrNameLst>
                                      </p:cBhvr>
                                      <p:to>
                                        <p:strVal val="visible"/>
                                      </p:to>
                                    </p:set>
                                    <p:anim calcmode="lin" valueType="num">
                                      <p:cBhvr additive="base">
                                        <p:cTn id="61" dur="500" decel="100000" fill="hold"/>
                                        <p:tgtEl>
                                          <p:spTgt spid="27"/>
                                        </p:tgtEl>
                                        <p:attrNameLst>
                                          <p:attrName>ppt_w</p:attrName>
                                        </p:attrNameLst>
                                      </p:cBhvr>
                                      <p:tavLst>
                                        <p:tav tm="0">
                                          <p:val>
                                            <p:strVal val="#ppt_w*0.55"/>
                                          </p:val>
                                        </p:tav>
                                        <p:tav tm="100000">
                                          <p:val>
                                            <p:strVal val="#ppt_w"/>
                                          </p:val>
                                        </p:tav>
                                      </p:tavLst>
                                    </p:anim>
                                    <p:anim calcmode="lin" valueType="num">
                                      <p:cBhvr additive="base">
                                        <p:cTn id="62" dur="500" decel="100000" fill="hold"/>
                                        <p:tgtEl>
                                          <p:spTgt spid="27"/>
                                        </p:tgtEl>
                                        <p:attrNameLst>
                                          <p:attrName>ppt_h</p:attrName>
                                        </p:attrNameLst>
                                      </p:cBhvr>
                                      <p:tavLst>
                                        <p:tav tm="0">
                                          <p:val>
                                            <p:strVal val="#ppt_h*0.55"/>
                                          </p:val>
                                        </p:tav>
                                        <p:tav tm="100000">
                                          <p:val>
                                            <p:strVal val="#ppt_h"/>
                                          </p:val>
                                        </p:tav>
                                      </p:tavLst>
                                    </p:anim>
                                    <p:animEffect transition="in" filter="fade">
                                      <p:cBhvr>
                                        <p:cTn id="63" dur="500"/>
                                        <p:tgtEl>
                                          <p:spTgt spid="27"/>
                                        </p:tgtEl>
                                      </p:cBhvr>
                                    </p:animEffect>
                                  </p:childTnLst>
                                </p:cTn>
                              </p:par>
                              <p:par>
                                <p:cTn id="64" presetID="53" presetClass="entr" presetSubtype="16" fill="hold" grpId="0" nodeType="withEffect">
                                  <p:stCondLst>
                                    <p:cond delay="2350"/>
                                  </p:stCondLst>
                                  <p:childTnLst>
                                    <p:set>
                                      <p:cBhvr>
                                        <p:cTn id="65" dur="1" fill="hold">
                                          <p:stCondLst>
                                            <p:cond delay="0"/>
                                          </p:stCondLst>
                                        </p:cTn>
                                        <p:tgtEl>
                                          <p:spTgt spid="28"/>
                                        </p:tgtEl>
                                        <p:attrNameLst>
                                          <p:attrName>style.visibility</p:attrName>
                                        </p:attrNameLst>
                                      </p:cBhvr>
                                      <p:to>
                                        <p:strVal val="visible"/>
                                      </p:to>
                                    </p:set>
                                    <p:anim calcmode="lin" valueType="num">
                                      <p:cBhvr additive="base">
                                        <p:cTn id="66" dur="500" decel="100000" fill="hold"/>
                                        <p:tgtEl>
                                          <p:spTgt spid="28"/>
                                        </p:tgtEl>
                                        <p:attrNameLst>
                                          <p:attrName>ppt_w</p:attrName>
                                        </p:attrNameLst>
                                      </p:cBhvr>
                                      <p:tavLst>
                                        <p:tav tm="0">
                                          <p:val>
                                            <p:strVal val="#ppt_w*0.55"/>
                                          </p:val>
                                        </p:tav>
                                        <p:tav tm="100000">
                                          <p:val>
                                            <p:strVal val="#ppt_w"/>
                                          </p:val>
                                        </p:tav>
                                      </p:tavLst>
                                    </p:anim>
                                    <p:anim calcmode="lin" valueType="num">
                                      <p:cBhvr additive="base">
                                        <p:cTn id="67" dur="500" decel="100000" fill="hold"/>
                                        <p:tgtEl>
                                          <p:spTgt spid="28"/>
                                        </p:tgtEl>
                                        <p:attrNameLst>
                                          <p:attrName>ppt_h</p:attrName>
                                        </p:attrNameLst>
                                      </p:cBhvr>
                                      <p:tavLst>
                                        <p:tav tm="0">
                                          <p:val>
                                            <p:strVal val="#ppt_h*0.55"/>
                                          </p:val>
                                        </p:tav>
                                        <p:tav tm="100000">
                                          <p:val>
                                            <p:strVal val="#ppt_h"/>
                                          </p:val>
                                        </p:tav>
                                      </p:tavLst>
                                    </p:anim>
                                    <p:animEffect transition="in" filter="fade">
                                      <p:cBhvr>
                                        <p:cTn id="68" dur="500"/>
                                        <p:tgtEl>
                                          <p:spTgt spid="28"/>
                                        </p:tgtEl>
                                      </p:cBhvr>
                                    </p:animEffect>
                                  </p:childTnLst>
                                </p:cTn>
                              </p:par>
                              <p:par>
                                <p:cTn id="69" presetID="42" presetClass="entr" presetSubtype="0" fill="hold" grpId="0" nodeType="withEffect">
                                  <p:stCondLst>
                                    <p:cond delay="245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600"/>
                                        <p:tgtEl>
                                          <p:spTgt spid="29"/>
                                        </p:tgtEl>
                                      </p:cBhvr>
                                    </p:animEffect>
                                    <p:anim calcmode="lin" valueType="num">
                                      <p:cBhvr additive="base">
                                        <p:cTn id="72" dur="600" decel="100000" fill="hold"/>
                                        <p:tgtEl>
                                          <p:spTgt spid="29"/>
                                        </p:tgtEl>
                                        <p:attrNameLst>
                                          <p:attrName>ppt_x</p:attrName>
                                        </p:attrNameLst>
                                      </p:cBhvr>
                                      <p:tavLst>
                                        <p:tav tm="0">
                                          <p:val>
                                            <p:strVal val="#ppt_x-0.035"/>
                                          </p:val>
                                        </p:tav>
                                        <p:tav tm="100000">
                                          <p:val>
                                            <p:strVal val="#ppt_x"/>
                                          </p:val>
                                        </p:tav>
                                      </p:tavLst>
                                    </p:anim>
                                    <p:anim calcmode="lin" valueType="num">
                                      <p:cBhvr additive="base">
                                        <p:cTn id="73" dur="600" decel="100000" fill="hold"/>
                                        <p:tgtEl>
                                          <p:spTgt spid="29"/>
                                        </p:tgtEl>
                                        <p:attrNameLst>
                                          <p:attrName>ppt_y</p:attrName>
                                        </p:attrNameLst>
                                      </p:cBhvr>
                                      <p:tavLst>
                                        <p:tav tm="0">
                                          <p:val>
                                            <p:strVal val="#ppt_y"/>
                                          </p:val>
                                        </p:tav>
                                        <p:tav tm="100000">
                                          <p:val>
                                            <p:strVal val="#ppt_y"/>
                                          </p:val>
                                        </p:tav>
                                      </p:tavLst>
                                    </p:anim>
                                  </p:childTnLst>
                                </p:cTn>
                              </p:par>
                              <p:par>
                                <p:cTn id="74" presetID="53" presetClass="entr" presetSubtype="16" fill="hold" grpId="0" nodeType="withEffect">
                                  <p:stCondLst>
                                    <p:cond delay="2600"/>
                                  </p:stCondLst>
                                  <p:childTnLst>
                                    <p:set>
                                      <p:cBhvr>
                                        <p:cTn id="75" dur="1" fill="hold">
                                          <p:stCondLst>
                                            <p:cond delay="0"/>
                                          </p:stCondLst>
                                        </p:cTn>
                                        <p:tgtEl>
                                          <p:spTgt spid="30"/>
                                        </p:tgtEl>
                                        <p:attrNameLst>
                                          <p:attrName>style.visibility</p:attrName>
                                        </p:attrNameLst>
                                      </p:cBhvr>
                                      <p:to>
                                        <p:strVal val="visible"/>
                                      </p:to>
                                    </p:set>
                                    <p:anim calcmode="lin" valueType="num">
                                      <p:cBhvr additive="base">
                                        <p:cTn id="76" dur="500" decel="100000" fill="hold"/>
                                        <p:tgtEl>
                                          <p:spTgt spid="30"/>
                                        </p:tgtEl>
                                        <p:attrNameLst>
                                          <p:attrName>ppt_w</p:attrName>
                                        </p:attrNameLst>
                                      </p:cBhvr>
                                      <p:tavLst>
                                        <p:tav tm="0">
                                          <p:val>
                                            <p:strVal val="#ppt_w*0.55"/>
                                          </p:val>
                                        </p:tav>
                                        <p:tav tm="100000">
                                          <p:val>
                                            <p:strVal val="#ppt_w"/>
                                          </p:val>
                                        </p:tav>
                                      </p:tavLst>
                                    </p:anim>
                                    <p:anim calcmode="lin" valueType="num">
                                      <p:cBhvr additive="base">
                                        <p:cTn id="77" dur="500" decel="100000" fill="hold"/>
                                        <p:tgtEl>
                                          <p:spTgt spid="30"/>
                                        </p:tgtEl>
                                        <p:attrNameLst>
                                          <p:attrName>ppt_h</p:attrName>
                                        </p:attrNameLst>
                                      </p:cBhvr>
                                      <p:tavLst>
                                        <p:tav tm="0">
                                          <p:val>
                                            <p:strVal val="#ppt_h*0.55"/>
                                          </p:val>
                                        </p:tav>
                                        <p:tav tm="100000">
                                          <p:val>
                                            <p:strVal val="#ppt_h"/>
                                          </p:val>
                                        </p:tav>
                                      </p:tavLst>
                                    </p:anim>
                                    <p:animEffect transition="in" filter="fade">
                                      <p:cBhvr>
                                        <p:cTn id="78" dur="500"/>
                                        <p:tgtEl>
                                          <p:spTgt spid="30"/>
                                        </p:tgtEl>
                                      </p:cBhvr>
                                    </p:animEffect>
                                  </p:childTnLst>
                                </p:cTn>
                              </p:par>
                              <p:par>
                                <p:cTn id="79" presetID="53" presetClass="entr" presetSubtype="16" fill="hold" grpId="0" nodeType="withEffect">
                                  <p:stCondLst>
                                    <p:cond delay="2600"/>
                                  </p:stCondLst>
                                  <p:childTnLst>
                                    <p:set>
                                      <p:cBhvr>
                                        <p:cTn id="80" dur="1" fill="hold">
                                          <p:stCondLst>
                                            <p:cond delay="0"/>
                                          </p:stCondLst>
                                        </p:cTn>
                                        <p:tgtEl>
                                          <p:spTgt spid="31"/>
                                        </p:tgtEl>
                                        <p:attrNameLst>
                                          <p:attrName>style.visibility</p:attrName>
                                        </p:attrNameLst>
                                      </p:cBhvr>
                                      <p:to>
                                        <p:strVal val="visible"/>
                                      </p:to>
                                    </p:set>
                                    <p:anim calcmode="lin" valueType="num">
                                      <p:cBhvr additive="base">
                                        <p:cTn id="81" dur="500" decel="100000" fill="hold"/>
                                        <p:tgtEl>
                                          <p:spTgt spid="31"/>
                                        </p:tgtEl>
                                        <p:attrNameLst>
                                          <p:attrName>ppt_w</p:attrName>
                                        </p:attrNameLst>
                                      </p:cBhvr>
                                      <p:tavLst>
                                        <p:tav tm="0">
                                          <p:val>
                                            <p:strVal val="#ppt_w*0.55"/>
                                          </p:val>
                                        </p:tav>
                                        <p:tav tm="100000">
                                          <p:val>
                                            <p:strVal val="#ppt_w"/>
                                          </p:val>
                                        </p:tav>
                                      </p:tavLst>
                                    </p:anim>
                                    <p:anim calcmode="lin" valueType="num">
                                      <p:cBhvr additive="base">
                                        <p:cTn id="82" dur="500" decel="100000" fill="hold"/>
                                        <p:tgtEl>
                                          <p:spTgt spid="31"/>
                                        </p:tgtEl>
                                        <p:attrNameLst>
                                          <p:attrName>ppt_h</p:attrName>
                                        </p:attrNameLst>
                                      </p:cBhvr>
                                      <p:tavLst>
                                        <p:tav tm="0">
                                          <p:val>
                                            <p:strVal val="#ppt_h*0.55"/>
                                          </p:val>
                                        </p:tav>
                                        <p:tav tm="100000">
                                          <p:val>
                                            <p:strVal val="#ppt_h"/>
                                          </p:val>
                                        </p:tav>
                                      </p:tavLst>
                                    </p:anim>
                                    <p:animEffect transition="in" filter="fade">
                                      <p:cBhvr>
                                        <p:cTn id="83" dur="500"/>
                                        <p:tgtEl>
                                          <p:spTgt spid="31"/>
                                        </p:tgtEl>
                                      </p:cBhvr>
                                    </p:animEffect>
                                  </p:childTnLst>
                                </p:cTn>
                              </p:par>
                              <p:par>
                                <p:cTn id="84" presetID="42" presetClass="entr" presetSubtype="0" fill="hold" grpId="0" nodeType="withEffect">
                                  <p:stCondLst>
                                    <p:cond delay="270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600"/>
                                        <p:tgtEl>
                                          <p:spTgt spid="32"/>
                                        </p:tgtEl>
                                      </p:cBhvr>
                                    </p:animEffect>
                                    <p:anim calcmode="lin" valueType="num">
                                      <p:cBhvr additive="base">
                                        <p:cTn id="87" dur="600" decel="100000" fill="hold"/>
                                        <p:tgtEl>
                                          <p:spTgt spid="32"/>
                                        </p:tgtEl>
                                        <p:attrNameLst>
                                          <p:attrName>ppt_x</p:attrName>
                                        </p:attrNameLst>
                                      </p:cBhvr>
                                      <p:tavLst>
                                        <p:tav tm="0">
                                          <p:val>
                                            <p:strVal val="#ppt_x-0.035"/>
                                          </p:val>
                                        </p:tav>
                                        <p:tav tm="100000">
                                          <p:val>
                                            <p:strVal val="#ppt_x"/>
                                          </p:val>
                                        </p:tav>
                                      </p:tavLst>
                                    </p:anim>
                                    <p:anim calcmode="lin" valueType="num">
                                      <p:cBhvr additive="base">
                                        <p:cTn id="88" dur="600" decel="1000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9" grpId="0" animBg="1"/>
      <p:bldP spid="30" grpId="0" animBg="1"/>
      <p:bldP spid="3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
          <p:cNvSpPr/>
          <p:nvPr>
            <p:ph idx="100" type="body" hasCustomPrompt="1"/>
          </p:nvPr>
        </p:nvSpPr>
        <p:spPr>
          <a:xfrm>
            <a:off x="548640" y="384048"/>
            <a:ext cx="7863840" cy="310896"/>
          </a:xfrm>
          <a:prstGeom prst="rect">
            <a:avLst/>
          </a:prstGeom>
          <a:noFill/>
          <a:ln/>
        </p:spPr>
        <p:txBody>
          <a:bodyPr wrap="square" lIns="0" tIns="0" rIns="0" bIns="0" rtlCol="0" anchor="ctr"/>
          <a:lstStyle/>
          <a:p>
            <a:pPr algn="l" indent="0" marL="0">
              <a:buNone/>
            </a:pPr>
            <a:r>
              <a:rPr lang="en-US" sz="1300" b="1" spc="300" kern="0" dirty="0">
                <a:solidFill>
                  <a:schemeClr val="accent3"/>
                </a:solidFill>
              </a:rPr>
              <a:t>STEP 3  ·  FUSE &amp; EXPORT</a:t>
            </a:r>
            <a:endParaRPr lang="en-US" sz="1300" dirty="0"/>
          </a:p>
        </p:txBody>
      </p:sp>
      <p:sp>
        <p:nvSpPr>
          <p:cNvPr id="3" name="ttl"/>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200" b="1" dirty="0">
                <a:solidFill>
                  <a:schemeClr val="bg1"/>
                </a:solidFill>
              </a:rPr>
              <a:t>One colour-coded study, straight into PACS</a:t>
            </a:r>
            <a:endParaRPr lang="en-US" sz="3200" dirty="0"/>
          </a:p>
        </p:txBody>
      </p:sp>
      <p:sp>
        <p:nvSpPr>
          <p:cNvPr id="4" name="!!track"/>
          <p:cNvSpPr/>
          <p:nvPr/>
        </p:nvSpPr>
        <p:spPr>
          <a:xfrm>
            <a:off x="9326880" y="548640"/>
            <a:ext cx="1920240" cy="0"/>
          </a:xfrm>
          <a:prstGeom prst="line">
            <a:avLst/>
          </a:prstGeom>
          <a:noFill/>
          <a:ln w="19050">
            <a:solidFill>
              <a:schemeClr val="accent6"/>
            </a:solidFill>
            <a:prstDash val="solid"/>
          </a:ln>
        </p:spPr>
      </p:sp>
      <p:sp>
        <p:nvSpPr>
          <p:cNvPr id="5" name="!!dot1"/>
          <p:cNvSpPr/>
          <p:nvPr/>
        </p:nvSpPr>
        <p:spPr>
          <a:xfrm>
            <a:off x="9171432" y="393192"/>
            <a:ext cx="310896" cy="310896"/>
          </a:xfrm>
          <a:prstGeom prst="ellipse">
            <a:avLst/>
          </a:prstGeom>
          <a:solidFill>
            <a:schemeClr val="tx2"/>
          </a:solidFill>
          <a:ln w="12700">
            <a:solidFill>
              <a:schemeClr val="bg2"/>
            </a:solidFill>
          </a:ln>
        </p:spPr>
        <p:txBody>
          <a:bodyPr wrap="square" lIns="0" tIns="0" rIns="0" bIns="0" rtlCol="0" anchor="ctr"/>
          <a:lstStyle/>
          <a:p>
            <a:pPr algn="ctr" indent="0" marL="0">
              <a:buNone/>
            </a:pPr>
            <a:r>
              <a:rPr lang="en-US" sz="1100" b="1" dirty="0">
                <a:solidFill>
                  <a:schemeClr val="bg2"/>
                </a:solidFill>
              </a:rPr>
              <a:t>1</a:t>
            </a:r>
            <a:endParaRPr lang="en-US" sz="1100" dirty="0"/>
          </a:p>
        </p:txBody>
      </p:sp>
      <p:sp>
        <p:nvSpPr>
          <p:cNvPr id="6" name="!!lab1"/>
          <p:cNvSpPr txBox="1"/>
          <p:nvPr/>
        </p:nvSpPr>
        <p:spPr>
          <a:xfrm>
            <a:off x="8823960" y="822960"/>
            <a:ext cx="1005840" cy="237744"/>
          </a:xfrm>
          <a:prstGeom prst="rect">
            <a:avLst/>
          </a:prstGeom>
          <a:noFill/>
          <a:ln/>
        </p:spPr>
        <p:txBody>
          <a:bodyPr wrap="square" lIns="0" tIns="0" rIns="0" bIns="0" rtlCol="0" anchor="t"/>
          <a:lstStyle/>
          <a:p>
            <a:pPr algn="ctr" indent="0" marL="0">
              <a:buNone/>
            </a:pPr>
            <a:r>
              <a:rPr lang="en-US" sz="1100" dirty="0">
                <a:solidFill>
                  <a:schemeClr val="bg2"/>
                </a:solidFill>
              </a:rPr>
              <a:t>Register</a:t>
            </a:r>
            <a:endParaRPr lang="en-US" sz="1100" dirty="0"/>
          </a:p>
        </p:txBody>
      </p:sp>
      <p:sp>
        <p:nvSpPr>
          <p:cNvPr id="7" name="!!dot2"/>
          <p:cNvSpPr/>
          <p:nvPr/>
        </p:nvSpPr>
        <p:spPr>
          <a:xfrm>
            <a:off x="10131552" y="393192"/>
            <a:ext cx="310896" cy="310896"/>
          </a:xfrm>
          <a:prstGeom prst="ellipse">
            <a:avLst/>
          </a:prstGeom>
          <a:solidFill>
            <a:schemeClr val="tx2"/>
          </a:solidFill>
          <a:ln w="12700">
            <a:solidFill>
              <a:schemeClr val="bg2"/>
            </a:solidFill>
          </a:ln>
        </p:spPr>
        <p:txBody>
          <a:bodyPr wrap="square" lIns="0" tIns="0" rIns="0" bIns="0" rtlCol="0" anchor="ctr"/>
          <a:lstStyle/>
          <a:p>
            <a:pPr algn="ctr" indent="0" marL="0">
              <a:buNone/>
            </a:pPr>
            <a:r>
              <a:rPr lang="en-US" sz="1100" b="1" dirty="0">
                <a:solidFill>
                  <a:schemeClr val="bg2"/>
                </a:solidFill>
              </a:rPr>
              <a:t>2</a:t>
            </a:r>
            <a:endParaRPr lang="en-US" sz="1100" dirty="0"/>
          </a:p>
        </p:txBody>
      </p:sp>
      <p:sp>
        <p:nvSpPr>
          <p:cNvPr id="8" name="!!lab2"/>
          <p:cNvSpPr txBox="1"/>
          <p:nvPr/>
        </p:nvSpPr>
        <p:spPr>
          <a:xfrm>
            <a:off x="9784080" y="822960"/>
            <a:ext cx="1005840" cy="237744"/>
          </a:xfrm>
          <a:prstGeom prst="rect">
            <a:avLst/>
          </a:prstGeom>
          <a:noFill/>
          <a:ln/>
        </p:spPr>
        <p:txBody>
          <a:bodyPr wrap="square" lIns="0" tIns="0" rIns="0" bIns="0" rtlCol="0" anchor="t"/>
          <a:lstStyle/>
          <a:p>
            <a:pPr algn="ctr" indent="0" marL="0">
              <a:buNone/>
            </a:pPr>
            <a:r>
              <a:rPr lang="en-US" sz="1100" dirty="0">
                <a:solidFill>
                  <a:schemeClr val="bg2"/>
                </a:solidFill>
              </a:rPr>
              <a:t>Sharpen</a:t>
            </a:r>
            <a:endParaRPr lang="en-US" sz="1100" dirty="0"/>
          </a:p>
        </p:txBody>
      </p:sp>
      <p:sp>
        <p:nvSpPr>
          <p:cNvPr id="9" name="!!dot3"/>
          <p:cNvSpPr/>
          <p:nvPr/>
        </p:nvSpPr>
        <p:spPr>
          <a:xfrm>
            <a:off x="11018520" y="320040"/>
            <a:ext cx="457200" cy="457200"/>
          </a:xfrm>
          <a:prstGeom prst="ellipse">
            <a:avLst/>
          </a:prstGeom>
          <a:solidFill>
            <a:schemeClr val="accent3"/>
          </a:solidFill>
          <a:ln w="12700">
            <a:solidFill>
              <a:schemeClr val="accent3"/>
            </a:solid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0" name="!!lab3"/>
          <p:cNvSpPr txBox="1"/>
          <p:nvPr/>
        </p:nvSpPr>
        <p:spPr>
          <a:xfrm>
            <a:off x="10744200" y="822960"/>
            <a:ext cx="1005840" cy="237744"/>
          </a:xfrm>
          <a:prstGeom prst="rect">
            <a:avLst/>
          </a:prstGeom>
          <a:noFill/>
          <a:ln/>
        </p:spPr>
        <p:txBody>
          <a:bodyPr wrap="square" lIns="0" tIns="0" rIns="0" bIns="0" rtlCol="0" anchor="t"/>
          <a:lstStyle/>
          <a:p>
            <a:pPr algn="ctr" indent="0" marL="0">
              <a:buNone/>
            </a:pPr>
            <a:r>
              <a:rPr lang="en-US" sz="1100" b="1" dirty="0">
                <a:solidFill>
                  <a:schemeClr val="accent3"/>
                </a:solidFill>
              </a:rPr>
              <a:t>Fuse &amp; export</a:t>
            </a:r>
            <a:endParaRPr lang="en-US" sz="1100" dirty="0"/>
          </a:p>
        </p:txBody>
      </p:sp>
      <p:sp>
        <p:nvSpPr>
          <p:cNvPr id="11" name="sweep_frame"/>
          <p:cNvSpPr/>
          <p:nvPr/>
        </p:nvSpPr>
        <p:spPr>
          <a:xfrm>
            <a:off x="548640" y="1691640"/>
            <a:ext cx="3401568" cy="4206240"/>
          </a:xfrm>
          <a:prstGeom prst="roundRect">
            <a:avLst>
              <a:gd name="adj" fmla="val 3226"/>
            </a:avLst>
          </a:prstGeom>
          <a:solidFill>
            <a:schemeClr val="tx1"/>
          </a:solidFill>
          <a:ln w="9525">
            <a:solidFill>
              <a:schemeClr val="accent6"/>
            </a:solidFill>
            <a:prstDash val="solid"/>
          </a:ln>
        </p:spPr>
      </p:sp>
      <p:pic>
        <p:nvPicPr>
          <p:cNvPr id="12" name="sweep" descr="Animated sweep through the fused PET/MRI study">    </p:cNvPr>
          <p:cNvPicPr>
            <a:picLocks noChangeAspect="1"/>
          </p:cNvPicPr>
          <p:nvPr/>
        </p:nvPicPr>
        <p:blipFill>
          <a:blip r:embed="rId1"/>
          <a:stretch>
            <a:fillRect/>
          </a:stretch>
        </p:blipFill>
        <p:spPr>
          <a:xfrm>
            <a:off x="640080" y="1783080"/>
            <a:ext cx="3218688" cy="4023360"/>
          </a:xfrm>
          <a:prstGeom prst="rect">
            <a:avLst/>
          </a:prstGeom>
        </p:spPr>
      </p:pic>
      <p:sp>
        <p:nvSpPr>
          <p:cNvPr id="13" name="colA"/>
          <p:cNvSpPr txBox="1"/>
          <p:nvPr/>
        </p:nvSpPr>
        <p:spPr>
          <a:xfrm>
            <a:off x="4434840" y="1691640"/>
            <a:ext cx="3383280" cy="274320"/>
          </a:xfrm>
          <a:prstGeom prst="rect">
            <a:avLst/>
          </a:prstGeom>
          <a:noFill/>
          <a:ln/>
        </p:spPr>
        <p:txBody>
          <a:bodyPr wrap="square" lIns="0" tIns="0" rIns="0" bIns="0" rtlCol="0" anchor="t"/>
          <a:lstStyle/>
          <a:p>
            <a:pPr indent="0" marL="0">
              <a:buNone/>
            </a:pPr>
            <a:r>
              <a:rPr lang="en-US" sz="1200" b="1" spc="200" kern="0" dirty="0">
                <a:solidFill>
                  <a:schemeClr val="bg2"/>
                </a:solidFill>
              </a:rPr>
              <a:t>WRITES STANDARD DICOM</a:t>
            </a:r>
            <a:endParaRPr lang="en-US" sz="1200" dirty="0"/>
          </a:p>
        </p:txBody>
      </p:sp>
      <p:sp>
        <p:nvSpPr>
          <p:cNvPr id="14" name="se0"/>
          <p:cNvSpPr/>
          <p:nvPr/>
        </p:nvSpPr>
        <p:spPr>
          <a:xfrm>
            <a:off x="4434840" y="2057400"/>
            <a:ext cx="3383280" cy="493776"/>
          </a:xfrm>
          <a:prstGeom prst="roundRect">
            <a:avLst>
              <a:gd name="adj" fmla="val 22222"/>
            </a:avLst>
          </a:prstGeom>
          <a:solidFill>
            <a:schemeClr val="tx2"/>
          </a:solidFill>
          <a:ln w="9525">
            <a:solidFill>
              <a:schemeClr val="accent6"/>
            </a:solidFill>
            <a:prstDash val="solid"/>
          </a:ln>
        </p:spPr>
      </p:sp>
      <p:sp>
        <p:nvSpPr>
          <p:cNvPr id="15" name="se0t"/>
          <p:cNvSpPr txBox="1"/>
          <p:nvPr/>
        </p:nvSpPr>
        <p:spPr>
          <a:xfrm>
            <a:off x="4617720" y="2057400"/>
            <a:ext cx="3108960" cy="493776"/>
          </a:xfrm>
          <a:prstGeom prst="rect">
            <a:avLst/>
          </a:prstGeom>
          <a:noFill/>
          <a:ln/>
        </p:spPr>
        <p:txBody>
          <a:bodyPr wrap="square" lIns="0" tIns="0" rIns="0" bIns="0" rtlCol="0" anchor="ctr"/>
          <a:lstStyle/>
          <a:p>
            <a:pPr indent="0" marL="0">
              <a:buNone/>
            </a:pPr>
            <a:r>
              <a:rPr lang="en-US" sz="1400" dirty="0">
                <a:solidFill>
                  <a:schemeClr val="accent2"/>
                </a:solidFill>
              </a:rPr>
              <a:t>●   </a:t>
            </a:r>
            <a:pPr indent="0" marL="0">
              <a:buNone/>
            </a:pPr>
            <a:r>
              <a:rPr lang="en-US" sz="1500" dirty="0">
                <a:solidFill>
                  <a:schemeClr val="bg1"/>
                </a:solidFill>
              </a:rPr>
              <a:t>MR reference series</a:t>
            </a:r>
            <a:endParaRPr lang="en-US" sz="1400" dirty="0"/>
          </a:p>
        </p:txBody>
      </p:sp>
      <p:sp>
        <p:nvSpPr>
          <p:cNvPr id="16" name="se1"/>
          <p:cNvSpPr/>
          <p:nvPr/>
        </p:nvSpPr>
        <p:spPr>
          <a:xfrm>
            <a:off x="4434840" y="2660904"/>
            <a:ext cx="3383280" cy="493776"/>
          </a:xfrm>
          <a:prstGeom prst="roundRect">
            <a:avLst>
              <a:gd name="adj" fmla="val 22222"/>
            </a:avLst>
          </a:prstGeom>
          <a:solidFill>
            <a:schemeClr val="tx2"/>
          </a:solidFill>
          <a:ln w="9525">
            <a:solidFill>
              <a:schemeClr val="accent6"/>
            </a:solidFill>
            <a:prstDash val="solid"/>
          </a:ln>
        </p:spPr>
      </p:sp>
      <p:sp>
        <p:nvSpPr>
          <p:cNvPr id="17" name="se1t"/>
          <p:cNvSpPr txBox="1"/>
          <p:nvPr/>
        </p:nvSpPr>
        <p:spPr>
          <a:xfrm>
            <a:off x="4617720" y="2660904"/>
            <a:ext cx="3108960" cy="493776"/>
          </a:xfrm>
          <a:prstGeom prst="rect">
            <a:avLst/>
          </a:prstGeom>
          <a:noFill/>
          <a:ln/>
        </p:spPr>
        <p:txBody>
          <a:bodyPr wrap="square" lIns="0" tIns="0" rIns="0" bIns="0" rtlCol="0" anchor="ctr"/>
          <a:lstStyle/>
          <a:p>
            <a:pPr indent="0" marL="0">
              <a:buNone/>
            </a:pPr>
            <a:r>
              <a:rPr lang="en-US" sz="1400" dirty="0">
                <a:solidFill>
                  <a:schemeClr val="accent1"/>
                </a:solidFill>
              </a:rPr>
              <a:t>●   </a:t>
            </a:r>
            <a:pPr indent="0" marL="0">
              <a:buNone/>
            </a:pPr>
            <a:r>
              <a:rPr lang="en-US" sz="1500" dirty="0">
                <a:solidFill>
                  <a:schemeClr val="bg1"/>
                </a:solidFill>
              </a:rPr>
              <a:t>PET in SUV, quantitative</a:t>
            </a:r>
            <a:endParaRPr lang="en-US" sz="1400" dirty="0"/>
          </a:p>
        </p:txBody>
      </p:sp>
      <p:sp>
        <p:nvSpPr>
          <p:cNvPr id="18" name="se2"/>
          <p:cNvSpPr/>
          <p:nvPr/>
        </p:nvSpPr>
        <p:spPr>
          <a:xfrm>
            <a:off x="4434840" y="3264408"/>
            <a:ext cx="3383280" cy="493776"/>
          </a:xfrm>
          <a:prstGeom prst="roundRect">
            <a:avLst>
              <a:gd name="adj" fmla="val 22222"/>
            </a:avLst>
          </a:prstGeom>
          <a:solidFill>
            <a:schemeClr val="tx2"/>
          </a:solidFill>
          <a:ln w="9525">
            <a:solidFill>
              <a:schemeClr val="accent6"/>
            </a:solidFill>
            <a:prstDash val="solid"/>
          </a:ln>
        </p:spPr>
      </p:sp>
      <p:sp>
        <p:nvSpPr>
          <p:cNvPr id="19" name="se2t"/>
          <p:cNvSpPr txBox="1"/>
          <p:nvPr/>
        </p:nvSpPr>
        <p:spPr>
          <a:xfrm>
            <a:off x="4617720" y="3264408"/>
            <a:ext cx="3108960" cy="493776"/>
          </a:xfrm>
          <a:prstGeom prst="rect">
            <a:avLst/>
          </a:prstGeom>
          <a:noFill/>
          <a:ln/>
        </p:spPr>
        <p:txBody>
          <a:bodyPr wrap="square" lIns="0" tIns="0" rIns="0" bIns="0" rtlCol="0" anchor="ctr"/>
          <a:lstStyle/>
          <a:p>
            <a:pPr indent="0" marL="0">
              <a:buNone/>
            </a:pPr>
            <a:r>
              <a:rPr lang="en-US" sz="1400" dirty="0">
                <a:solidFill>
                  <a:schemeClr val="accent4"/>
                </a:solidFill>
              </a:rPr>
              <a:t>●   </a:t>
            </a:r>
            <a:pPr indent="0" marL="0">
              <a:buNone/>
            </a:pPr>
            <a:r>
              <a:rPr lang="en-US" sz="1500" dirty="0">
                <a:solidFill>
                  <a:schemeClr val="bg1"/>
                </a:solidFill>
              </a:rPr>
              <a:t>AI-enhanced PET</a:t>
            </a:r>
            <a:endParaRPr lang="en-US" sz="1400" dirty="0"/>
          </a:p>
        </p:txBody>
      </p:sp>
      <p:sp>
        <p:nvSpPr>
          <p:cNvPr id="20" name="se3"/>
          <p:cNvSpPr/>
          <p:nvPr/>
        </p:nvSpPr>
        <p:spPr>
          <a:xfrm>
            <a:off x="4434840" y="3867912"/>
            <a:ext cx="3383280" cy="493776"/>
          </a:xfrm>
          <a:prstGeom prst="roundRect">
            <a:avLst>
              <a:gd name="adj" fmla="val 22222"/>
            </a:avLst>
          </a:prstGeom>
          <a:solidFill>
            <a:schemeClr val="tx2"/>
          </a:solidFill>
          <a:ln w="9525">
            <a:solidFill>
              <a:schemeClr val="accent6"/>
            </a:solidFill>
            <a:prstDash val="solid"/>
          </a:ln>
        </p:spPr>
      </p:sp>
      <p:sp>
        <p:nvSpPr>
          <p:cNvPr id="21" name="se3t"/>
          <p:cNvSpPr txBox="1"/>
          <p:nvPr/>
        </p:nvSpPr>
        <p:spPr>
          <a:xfrm>
            <a:off x="4617720" y="3867912"/>
            <a:ext cx="3108960" cy="493776"/>
          </a:xfrm>
          <a:prstGeom prst="rect">
            <a:avLst/>
          </a:prstGeom>
          <a:noFill/>
          <a:ln/>
        </p:spPr>
        <p:txBody>
          <a:bodyPr wrap="square" lIns="0" tIns="0" rIns="0" bIns="0" rtlCol="0" anchor="ctr"/>
          <a:lstStyle/>
          <a:p>
            <a:pPr indent="0" marL="0">
              <a:buNone/>
            </a:pPr>
            <a:r>
              <a:rPr lang="en-US" sz="1400" dirty="0">
                <a:solidFill>
                  <a:schemeClr val="accent3"/>
                </a:solidFill>
              </a:rPr>
              <a:t>●   </a:t>
            </a:r>
            <a:pPr indent="0" marL="0">
              <a:buNone/>
            </a:pPr>
            <a:r>
              <a:rPr lang="en-US" sz="1500" dirty="0">
                <a:solidFill>
                  <a:schemeClr val="bg1"/>
                </a:solidFill>
              </a:rPr>
              <a:t>Colour fusion image</a:t>
            </a:r>
            <a:endParaRPr lang="en-US" sz="1400" dirty="0"/>
          </a:p>
        </p:txBody>
      </p:sp>
      <p:sp>
        <p:nvSpPr>
          <p:cNvPr id="22" name="se4"/>
          <p:cNvSpPr/>
          <p:nvPr/>
        </p:nvSpPr>
        <p:spPr>
          <a:xfrm>
            <a:off x="4434840" y="4471416"/>
            <a:ext cx="3383280" cy="493776"/>
          </a:xfrm>
          <a:prstGeom prst="roundRect">
            <a:avLst>
              <a:gd name="adj" fmla="val 22222"/>
            </a:avLst>
          </a:prstGeom>
          <a:solidFill>
            <a:schemeClr val="tx2"/>
          </a:solidFill>
          <a:ln w="9525">
            <a:solidFill>
              <a:schemeClr val="accent6"/>
            </a:solidFill>
            <a:prstDash val="solid"/>
          </a:ln>
        </p:spPr>
      </p:sp>
      <p:sp>
        <p:nvSpPr>
          <p:cNvPr id="23" name="se4t"/>
          <p:cNvSpPr txBox="1"/>
          <p:nvPr/>
        </p:nvSpPr>
        <p:spPr>
          <a:xfrm>
            <a:off x="4617720" y="4471416"/>
            <a:ext cx="3108960" cy="493776"/>
          </a:xfrm>
          <a:prstGeom prst="rect">
            <a:avLst/>
          </a:prstGeom>
          <a:noFill/>
          <a:ln/>
        </p:spPr>
        <p:txBody>
          <a:bodyPr wrap="square" lIns="0" tIns="0" rIns="0" bIns="0" rtlCol="0" anchor="ctr"/>
          <a:lstStyle/>
          <a:p>
            <a:pPr indent="0" marL="0">
              <a:buNone/>
            </a:pPr>
            <a:r>
              <a:rPr lang="en-US" sz="1400" dirty="0">
                <a:solidFill>
                  <a:schemeClr val="accent5"/>
                </a:solidFill>
              </a:rPr>
              <a:t>●   </a:t>
            </a:r>
            <a:pPr indent="0" marL="0">
              <a:buNone/>
            </a:pPr>
            <a:r>
              <a:rPr lang="en-US" sz="1500" dirty="0">
                <a:solidFill>
                  <a:schemeClr val="bg1"/>
                </a:solidFill>
              </a:rPr>
              <a:t>RT-STRUCT tumour contours</a:t>
            </a:r>
            <a:endParaRPr lang="en-US" sz="1400" dirty="0"/>
          </a:p>
        </p:txBody>
      </p:sp>
      <p:sp>
        <p:nvSpPr>
          <p:cNvPr id="24" name="big_arrow"/>
          <p:cNvSpPr/>
          <p:nvPr/>
        </p:nvSpPr>
        <p:spPr>
          <a:xfrm>
            <a:off x="8028432" y="3200400"/>
            <a:ext cx="411480" cy="457200"/>
          </a:xfrm>
          <a:prstGeom prst="rightArrow">
            <a:avLst/>
          </a:prstGeom>
          <a:solidFill>
            <a:schemeClr val="accent3"/>
          </a:solidFill>
          <a:ln w="12700">
            <a:solidFill>
              <a:schemeClr val="accent3"/>
            </a:solidFill>
            <a:prstDash val="solid"/>
          </a:ln>
        </p:spPr>
      </p:sp>
      <p:sp>
        <p:nvSpPr>
          <p:cNvPr id="25" name="colB"/>
          <p:cNvSpPr txBox="1"/>
          <p:nvPr/>
        </p:nvSpPr>
        <p:spPr>
          <a:xfrm>
            <a:off x="8641080" y="1691640"/>
            <a:ext cx="2999232" cy="274320"/>
          </a:xfrm>
          <a:prstGeom prst="rect">
            <a:avLst/>
          </a:prstGeom>
          <a:noFill/>
          <a:ln/>
        </p:spPr>
        <p:txBody>
          <a:bodyPr wrap="square" lIns="0" tIns="0" rIns="0" bIns="0" rtlCol="0" anchor="t"/>
          <a:lstStyle/>
          <a:p>
            <a:pPr indent="0" marL="0">
              <a:buNone/>
            </a:pPr>
            <a:r>
              <a:rPr lang="en-US" sz="1200" b="1" spc="200" kern="0" dirty="0">
                <a:solidFill>
                  <a:schemeClr val="bg2"/>
                </a:solidFill>
              </a:rPr>
              <a:t>STRAIGHT INTO</a:t>
            </a:r>
            <a:endParaRPr lang="en-US" sz="1200" dirty="0"/>
          </a:p>
        </p:txBody>
      </p:sp>
      <p:sp>
        <p:nvSpPr>
          <p:cNvPr id="26" name="tg0"/>
          <p:cNvSpPr/>
          <p:nvPr/>
        </p:nvSpPr>
        <p:spPr>
          <a:xfrm>
            <a:off x="8641080" y="2057400"/>
            <a:ext cx="2999232" cy="859536"/>
          </a:xfrm>
          <a:prstGeom prst="roundRect">
            <a:avLst>
              <a:gd name="adj" fmla="val 12766"/>
            </a:avLst>
          </a:prstGeom>
          <a:solidFill>
            <a:schemeClr val="tx2"/>
          </a:solidFill>
          <a:ln w="9525">
            <a:solidFill>
              <a:schemeClr val="accent6"/>
            </a:solidFill>
            <a:prstDash val="solid"/>
          </a:ln>
        </p:spPr>
      </p:sp>
      <p:sp>
        <p:nvSpPr>
          <p:cNvPr id="27" name="tg0i_ring"/>
          <p:cNvSpPr/>
          <p:nvPr/>
        </p:nvSpPr>
        <p:spPr>
          <a:xfrm>
            <a:off x="8823960" y="2231136"/>
            <a:ext cx="512064" cy="512064"/>
          </a:xfrm>
          <a:prstGeom prst="ellipse">
            <a:avLst/>
          </a:prstGeom>
          <a:solidFill>
            <a:schemeClr val="tx2"/>
          </a:solidFill>
          <a:ln w="15875">
            <a:solidFill>
              <a:schemeClr val="accent3"/>
            </a:solidFill>
            <a:prstDash val="solid"/>
          </a:ln>
        </p:spPr>
      </p:sp>
      <p:pic>
        <p:nvPicPr>
          <p:cNvPr id="28" name="tg0i_icon" descr="server icon">    </p:cNvPr>
          <p:cNvPicPr>
            <a:picLocks noChangeAspect="1"/>
          </p:cNvPicPr>
          <p:nvPr/>
        </p:nvPicPr>
        <p:blipFill>
          <a:blip r:embed="rId2"/>
          <a:stretch>
            <a:fillRect/>
          </a:stretch>
        </p:blipFill>
        <p:spPr>
          <a:xfrm>
            <a:off x="8946855" y="2354031"/>
            <a:ext cx="266273" cy="266273"/>
          </a:xfrm>
          <a:prstGeom prst="rect">
            <a:avLst/>
          </a:prstGeom>
        </p:spPr>
      </p:pic>
      <p:sp>
        <p:nvSpPr>
          <p:cNvPr id="29" name="tg0t"/>
          <p:cNvSpPr txBox="1"/>
          <p:nvPr/>
        </p:nvSpPr>
        <p:spPr>
          <a:xfrm>
            <a:off x="9482328" y="2148840"/>
            <a:ext cx="2103120" cy="676656"/>
          </a:xfrm>
          <a:prstGeom prst="rect">
            <a:avLst/>
          </a:prstGeom>
          <a:noFill/>
          <a:ln/>
        </p:spPr>
        <p:txBody>
          <a:bodyPr wrap="square" lIns="0" tIns="0" rIns="0" bIns="0" rtlCol="0" anchor="ctr"/>
          <a:lstStyle/>
          <a:p>
            <a:pPr indent="0" marL="0">
              <a:buNone/>
            </a:pPr>
            <a:r>
              <a:rPr lang="en-US" sz="1500" b="1" dirty="0">
                <a:solidFill>
                  <a:schemeClr val="bg1"/>
                </a:solidFill>
              </a:rPr>
              <a:t>Hospital PACS</a:t>
            </a:r>
            <a:endParaRPr lang="en-US" sz="1500" dirty="0"/>
          </a:p>
          <a:p>
            <a:pPr indent="0" marL="0">
              <a:buNone/>
            </a:pPr>
            <a:r>
              <a:rPr lang="en-US" sz="1200" dirty="0">
                <a:solidFill>
                  <a:schemeClr val="bg2"/>
                </a:solidFill>
              </a:rPr>
              <a:t>DICOM C-STORE push</a:t>
            </a:r>
            <a:endParaRPr lang="en-US" sz="1500" dirty="0"/>
          </a:p>
        </p:txBody>
      </p:sp>
      <p:sp>
        <p:nvSpPr>
          <p:cNvPr id="30" name="tg1"/>
          <p:cNvSpPr/>
          <p:nvPr/>
        </p:nvSpPr>
        <p:spPr>
          <a:xfrm>
            <a:off x="8641080" y="3063240"/>
            <a:ext cx="2999232" cy="859536"/>
          </a:xfrm>
          <a:prstGeom prst="roundRect">
            <a:avLst>
              <a:gd name="adj" fmla="val 12766"/>
            </a:avLst>
          </a:prstGeom>
          <a:solidFill>
            <a:schemeClr val="tx2"/>
          </a:solidFill>
          <a:ln w="9525">
            <a:solidFill>
              <a:schemeClr val="accent6"/>
            </a:solidFill>
            <a:prstDash val="solid"/>
          </a:ln>
        </p:spPr>
      </p:sp>
      <p:sp>
        <p:nvSpPr>
          <p:cNvPr id="31" name="tg1i_ring"/>
          <p:cNvSpPr/>
          <p:nvPr/>
        </p:nvSpPr>
        <p:spPr>
          <a:xfrm>
            <a:off x="8823960" y="3236976"/>
            <a:ext cx="512064" cy="512064"/>
          </a:xfrm>
          <a:prstGeom prst="ellipse">
            <a:avLst/>
          </a:prstGeom>
          <a:solidFill>
            <a:schemeClr val="tx2"/>
          </a:solidFill>
          <a:ln w="15875">
            <a:solidFill>
              <a:schemeClr val="accent3"/>
            </a:solidFill>
            <a:prstDash val="solid"/>
          </a:ln>
        </p:spPr>
      </p:sp>
      <p:pic>
        <p:nvPicPr>
          <p:cNvPr id="32" name="tg1i_icon" descr="target icon">    </p:cNvPr>
          <p:cNvPicPr>
            <a:picLocks noChangeAspect="1"/>
          </p:cNvPicPr>
          <p:nvPr/>
        </p:nvPicPr>
        <p:blipFill>
          <a:blip r:embed="rId3"/>
          <a:stretch>
            <a:fillRect/>
          </a:stretch>
        </p:blipFill>
        <p:spPr>
          <a:xfrm>
            <a:off x="8946855" y="3359871"/>
            <a:ext cx="266273" cy="266273"/>
          </a:xfrm>
          <a:prstGeom prst="rect">
            <a:avLst/>
          </a:prstGeom>
        </p:spPr>
      </p:pic>
      <p:sp>
        <p:nvSpPr>
          <p:cNvPr id="33" name="tg1t"/>
          <p:cNvSpPr txBox="1"/>
          <p:nvPr/>
        </p:nvSpPr>
        <p:spPr>
          <a:xfrm>
            <a:off x="9482328" y="3154680"/>
            <a:ext cx="2103120" cy="676656"/>
          </a:xfrm>
          <a:prstGeom prst="rect">
            <a:avLst/>
          </a:prstGeom>
          <a:noFill/>
          <a:ln/>
        </p:spPr>
        <p:txBody>
          <a:bodyPr wrap="square" lIns="0" tIns="0" rIns="0" bIns="0" rtlCol="0" anchor="ctr"/>
          <a:lstStyle/>
          <a:p>
            <a:pPr indent="0" marL="0">
              <a:buNone/>
            </a:pPr>
            <a:r>
              <a:rPr lang="en-US" sz="1500" b="1" dirty="0">
                <a:solidFill>
                  <a:schemeClr val="bg1"/>
                </a:solidFill>
              </a:rPr>
              <a:t>Radiotherapy planning</a:t>
            </a:r>
            <a:endParaRPr lang="en-US" sz="1500" dirty="0"/>
          </a:p>
          <a:p>
            <a:pPr indent="0" marL="0">
              <a:buNone/>
            </a:pPr>
            <a:r>
              <a:rPr lang="en-US" sz="1200" dirty="0">
                <a:solidFill>
                  <a:schemeClr val="bg2"/>
                </a:solidFill>
              </a:rPr>
              <a:t>imports the RT-STRUCT</a:t>
            </a:r>
            <a:endParaRPr lang="en-US" sz="1500" dirty="0"/>
          </a:p>
        </p:txBody>
      </p:sp>
      <p:sp>
        <p:nvSpPr>
          <p:cNvPr id="34" name="tg2"/>
          <p:cNvSpPr/>
          <p:nvPr/>
        </p:nvSpPr>
        <p:spPr>
          <a:xfrm>
            <a:off x="8641080" y="4069080"/>
            <a:ext cx="2999232" cy="859536"/>
          </a:xfrm>
          <a:prstGeom prst="roundRect">
            <a:avLst>
              <a:gd name="adj" fmla="val 12766"/>
            </a:avLst>
          </a:prstGeom>
          <a:solidFill>
            <a:schemeClr val="tx2"/>
          </a:solidFill>
          <a:ln w="9525">
            <a:solidFill>
              <a:schemeClr val="accent6"/>
            </a:solidFill>
            <a:prstDash val="solid"/>
          </a:ln>
        </p:spPr>
      </p:sp>
      <p:sp>
        <p:nvSpPr>
          <p:cNvPr id="35" name="tg2i_ring"/>
          <p:cNvSpPr/>
          <p:nvPr/>
        </p:nvSpPr>
        <p:spPr>
          <a:xfrm>
            <a:off x="8823960" y="4242816"/>
            <a:ext cx="512064" cy="512064"/>
          </a:xfrm>
          <a:prstGeom prst="ellipse">
            <a:avLst/>
          </a:prstGeom>
          <a:solidFill>
            <a:schemeClr val="tx2"/>
          </a:solidFill>
          <a:ln w="15875">
            <a:solidFill>
              <a:schemeClr val="accent3"/>
            </a:solidFill>
            <a:prstDash val="solid"/>
          </a:ln>
        </p:spPr>
      </p:sp>
      <p:pic>
        <p:nvPicPr>
          <p:cNvPr id="36" name="tg2i_icon" descr="book icon">    </p:cNvPr>
          <p:cNvPicPr>
            <a:picLocks noChangeAspect="1"/>
          </p:cNvPicPr>
          <p:nvPr/>
        </p:nvPicPr>
        <p:blipFill>
          <a:blip r:embed="rId4"/>
          <a:stretch>
            <a:fillRect/>
          </a:stretch>
        </p:blipFill>
        <p:spPr>
          <a:xfrm>
            <a:off x="8946855" y="4365711"/>
            <a:ext cx="266273" cy="266273"/>
          </a:xfrm>
          <a:prstGeom prst="rect">
            <a:avLst/>
          </a:prstGeom>
        </p:spPr>
      </p:pic>
      <p:sp>
        <p:nvSpPr>
          <p:cNvPr id="37" name="tg2t"/>
          <p:cNvSpPr txBox="1"/>
          <p:nvPr/>
        </p:nvSpPr>
        <p:spPr>
          <a:xfrm>
            <a:off x="9482328" y="4160520"/>
            <a:ext cx="2103120" cy="676656"/>
          </a:xfrm>
          <a:prstGeom prst="rect">
            <a:avLst/>
          </a:prstGeom>
          <a:noFill/>
          <a:ln/>
        </p:spPr>
        <p:txBody>
          <a:bodyPr wrap="square" lIns="0" tIns="0" rIns="0" bIns="0" rtlCol="0" anchor="ctr"/>
          <a:lstStyle/>
          <a:p>
            <a:pPr indent="0" marL="0">
              <a:buNone/>
            </a:pPr>
            <a:r>
              <a:rPr lang="en-US" sz="1500" b="1" dirty="0">
                <a:solidFill>
                  <a:schemeClr val="bg1"/>
                </a:solidFill>
              </a:rPr>
              <a:t>Printable report</a:t>
            </a:r>
            <a:endParaRPr lang="en-US" sz="1500" dirty="0"/>
          </a:p>
          <a:p>
            <a:pPr indent="0" marL="0">
              <a:buNone/>
            </a:pPr>
            <a:r>
              <a:rPr lang="en-US" sz="1200" dirty="0">
                <a:solidFill>
                  <a:schemeClr val="bg2"/>
                </a:solidFill>
              </a:rPr>
              <a:t>for the tumour board</a:t>
            </a:r>
            <a:endParaRPr lang="en-US" sz="1500" dirty="0"/>
          </a:p>
        </p:txBody>
      </p:sp>
      <p:sp>
        <p:nvSpPr>
          <p:cNvPr id="38" name="ana"/>
          <p:cNvSpPr/>
          <p:nvPr/>
        </p:nvSpPr>
        <p:spPr>
          <a:xfrm>
            <a:off x="4434840" y="5230368"/>
            <a:ext cx="7205472" cy="868680"/>
          </a:xfrm>
          <a:prstGeom prst="roundRect">
            <a:avLst>
              <a:gd name="adj" fmla="val 12632"/>
            </a:avLst>
          </a:prstGeom>
          <a:solidFill>
            <a:schemeClr val="tx2"/>
          </a:solidFill>
          <a:ln w="9525">
            <a:solidFill>
              <a:schemeClr val="accent6"/>
            </a:solidFill>
            <a:prstDash val="solid"/>
          </a:ln>
        </p:spPr>
      </p:sp>
      <p:sp>
        <p:nvSpPr>
          <p:cNvPr id="39" name="ana_t"/>
          <p:cNvSpPr txBox="1"/>
          <p:nvPr/>
        </p:nvSpPr>
        <p:spPr>
          <a:xfrm>
            <a:off x="4663440" y="5276088"/>
            <a:ext cx="6812280" cy="777240"/>
          </a:xfrm>
          <a:prstGeom prst="rect">
            <a:avLst/>
          </a:prstGeom>
          <a:noFill/>
          <a:ln/>
        </p:spPr>
        <p:txBody>
          <a:bodyPr wrap="square" lIns="0" tIns="0" rIns="0" bIns="0" rtlCol="0" anchor="ctr"/>
          <a:lstStyle/>
          <a:p>
            <a:pPr indent="0" marL="0">
              <a:buNone/>
            </a:pPr>
            <a:r>
              <a:rPr lang="en-US" sz="1400" b="1" dirty="0">
                <a:solidFill>
                  <a:schemeClr val="bg1"/>
                </a:solidFill>
              </a:rPr>
              <a:t>Automatic tumour analytics:  </a:t>
            </a:r>
            <a:pPr indent="0" marL="0">
              <a:buNone/>
            </a:pPr>
            <a:r>
              <a:rPr lang="en-US" sz="1400" dirty="0">
                <a:solidFill>
                  <a:schemeClr val="bg2"/>
                </a:solidFill>
              </a:rPr>
              <a:t>SUVmax · SUVpeak · metabolic volume · TLG · tumour-to-background ratio. Every series shares one frame of reference, so any viewer lines them up.</a:t>
            </a:r>
            <a:endParaRPr lang="en-US" sz="14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7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700"/>
                                        <p:tgtEl>
                                          <p:spTgt spid="12"/>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22" presetClass="entr" presetSubtype="8" fill="hold" grpId="0" nodeType="withEffect">
                                  <p:stCondLst>
                                    <p:cond delay="40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450"/>
                                        <p:tgtEl>
                                          <p:spTgt spid="14"/>
                                        </p:tgtEl>
                                      </p:cBhvr>
                                    </p:animEffect>
                                  </p:childTnLst>
                                </p:cTn>
                              </p:par>
                              <p:par>
                                <p:cTn id="17" presetID="22" presetClass="entr" presetSubtype="8" fill="hold" grpId="0" nodeType="withEffect">
                                  <p:stCondLst>
                                    <p:cond delay="400"/>
                                  </p:stCondLst>
                                  <p:childTnLst>
                                    <p:set>
                                      <p:cBhvr>
                                        <p:cTn id="18" dur="1" fill="hold">
                                          <p:stCondLst>
                                            <p:cond delay="0"/>
                                          </p:stCondLst>
                                        </p:cTn>
                                        <p:tgtEl>
                                          <p:spTgt spid="15"/>
                                        </p:tgtEl>
                                        <p:attrNameLst>
                                          <p:attrName>style.visibility</p:attrName>
                                        </p:attrNameLst>
                                      </p:cBhvr>
                                      <p:to>
                                        <p:strVal val="visible"/>
                                      </p:to>
                                    </p:set>
                                    <p:animEffect transition="in" filter="wipe(left)">
                                      <p:cBhvr>
                                        <p:cTn id="19" dur="450"/>
                                        <p:tgtEl>
                                          <p:spTgt spid="15"/>
                                        </p:tgtEl>
                                      </p:cBhvr>
                                    </p:animEffect>
                                  </p:childTnLst>
                                </p:cTn>
                              </p:par>
                              <p:par>
                                <p:cTn id="20" presetID="22" presetClass="entr" presetSubtype="8" fill="hold" grpId="0" nodeType="withEffect">
                                  <p:stCondLst>
                                    <p:cond delay="55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450"/>
                                        <p:tgtEl>
                                          <p:spTgt spid="16"/>
                                        </p:tgtEl>
                                      </p:cBhvr>
                                    </p:animEffect>
                                  </p:childTnLst>
                                </p:cTn>
                              </p:par>
                              <p:par>
                                <p:cTn id="23" presetID="22" presetClass="entr" presetSubtype="8" fill="hold" grpId="0" nodeType="withEffect">
                                  <p:stCondLst>
                                    <p:cond delay="550"/>
                                  </p:stCondLst>
                                  <p:childTnLst>
                                    <p:set>
                                      <p:cBhvr>
                                        <p:cTn id="24" dur="1" fill="hold">
                                          <p:stCondLst>
                                            <p:cond delay="0"/>
                                          </p:stCondLst>
                                        </p:cTn>
                                        <p:tgtEl>
                                          <p:spTgt spid="17"/>
                                        </p:tgtEl>
                                        <p:attrNameLst>
                                          <p:attrName>style.visibility</p:attrName>
                                        </p:attrNameLst>
                                      </p:cBhvr>
                                      <p:to>
                                        <p:strVal val="visible"/>
                                      </p:to>
                                    </p:set>
                                    <p:animEffect transition="in" filter="wipe(left)">
                                      <p:cBhvr>
                                        <p:cTn id="25" dur="450"/>
                                        <p:tgtEl>
                                          <p:spTgt spid="17"/>
                                        </p:tgtEl>
                                      </p:cBhvr>
                                    </p:animEffect>
                                  </p:childTnLst>
                                </p:cTn>
                              </p:par>
                              <p:par>
                                <p:cTn id="26" presetID="22" presetClass="entr" presetSubtype="8" fill="hold" grpId="0" nodeType="withEffect">
                                  <p:stCondLst>
                                    <p:cond delay="700"/>
                                  </p:stCondLst>
                                  <p:childTnLst>
                                    <p:set>
                                      <p:cBhvr>
                                        <p:cTn id="27" dur="1" fill="hold">
                                          <p:stCondLst>
                                            <p:cond delay="0"/>
                                          </p:stCondLst>
                                        </p:cTn>
                                        <p:tgtEl>
                                          <p:spTgt spid="18"/>
                                        </p:tgtEl>
                                        <p:attrNameLst>
                                          <p:attrName>style.visibility</p:attrName>
                                        </p:attrNameLst>
                                      </p:cBhvr>
                                      <p:to>
                                        <p:strVal val="visible"/>
                                      </p:to>
                                    </p:set>
                                    <p:animEffect transition="in" filter="wipe(left)">
                                      <p:cBhvr>
                                        <p:cTn id="28" dur="450"/>
                                        <p:tgtEl>
                                          <p:spTgt spid="18"/>
                                        </p:tgtEl>
                                      </p:cBhvr>
                                    </p:animEffect>
                                  </p:childTnLst>
                                </p:cTn>
                              </p:par>
                              <p:par>
                                <p:cTn id="29" presetID="22" presetClass="entr" presetSubtype="8" fill="hold" grpId="0" nodeType="withEffect">
                                  <p:stCondLst>
                                    <p:cond delay="700"/>
                                  </p:stCondLst>
                                  <p:childTnLst>
                                    <p:set>
                                      <p:cBhvr>
                                        <p:cTn id="30" dur="1" fill="hold">
                                          <p:stCondLst>
                                            <p:cond delay="0"/>
                                          </p:stCondLst>
                                        </p:cTn>
                                        <p:tgtEl>
                                          <p:spTgt spid="19"/>
                                        </p:tgtEl>
                                        <p:attrNameLst>
                                          <p:attrName>style.visibility</p:attrName>
                                        </p:attrNameLst>
                                      </p:cBhvr>
                                      <p:to>
                                        <p:strVal val="visible"/>
                                      </p:to>
                                    </p:set>
                                    <p:animEffect transition="in" filter="wipe(left)">
                                      <p:cBhvr>
                                        <p:cTn id="31" dur="450"/>
                                        <p:tgtEl>
                                          <p:spTgt spid="19"/>
                                        </p:tgtEl>
                                      </p:cBhvr>
                                    </p:animEffect>
                                  </p:childTnLst>
                                </p:cTn>
                              </p:par>
                              <p:par>
                                <p:cTn id="32" presetID="22" presetClass="entr" presetSubtype="8" fill="hold" grpId="0" nodeType="withEffect">
                                  <p:stCondLst>
                                    <p:cond delay="850"/>
                                  </p:stCondLst>
                                  <p:childTnLst>
                                    <p:set>
                                      <p:cBhvr>
                                        <p:cTn id="33" dur="1" fill="hold">
                                          <p:stCondLst>
                                            <p:cond delay="0"/>
                                          </p:stCondLst>
                                        </p:cTn>
                                        <p:tgtEl>
                                          <p:spTgt spid="20"/>
                                        </p:tgtEl>
                                        <p:attrNameLst>
                                          <p:attrName>style.visibility</p:attrName>
                                        </p:attrNameLst>
                                      </p:cBhvr>
                                      <p:to>
                                        <p:strVal val="visible"/>
                                      </p:to>
                                    </p:set>
                                    <p:animEffect transition="in" filter="wipe(left)">
                                      <p:cBhvr>
                                        <p:cTn id="34" dur="450"/>
                                        <p:tgtEl>
                                          <p:spTgt spid="20"/>
                                        </p:tgtEl>
                                      </p:cBhvr>
                                    </p:animEffect>
                                  </p:childTnLst>
                                </p:cTn>
                              </p:par>
                              <p:par>
                                <p:cTn id="35" presetID="22" presetClass="entr" presetSubtype="8" fill="hold" grpId="0" nodeType="withEffect">
                                  <p:stCondLst>
                                    <p:cond delay="85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450"/>
                                        <p:tgtEl>
                                          <p:spTgt spid="21"/>
                                        </p:tgtEl>
                                      </p:cBhvr>
                                    </p:animEffect>
                                  </p:childTnLst>
                                </p:cTn>
                              </p:par>
                              <p:par>
                                <p:cTn id="38" presetID="22" presetClass="entr" presetSubtype="8" fill="hold" grpId="0" nodeType="withEffect">
                                  <p:stCondLst>
                                    <p:cond delay="1000"/>
                                  </p:stCondLst>
                                  <p:childTnLst>
                                    <p:set>
                                      <p:cBhvr>
                                        <p:cTn id="39" dur="1" fill="hold">
                                          <p:stCondLst>
                                            <p:cond delay="0"/>
                                          </p:stCondLst>
                                        </p:cTn>
                                        <p:tgtEl>
                                          <p:spTgt spid="22"/>
                                        </p:tgtEl>
                                        <p:attrNameLst>
                                          <p:attrName>style.visibility</p:attrName>
                                        </p:attrNameLst>
                                      </p:cBhvr>
                                      <p:to>
                                        <p:strVal val="visible"/>
                                      </p:to>
                                    </p:set>
                                    <p:animEffect transition="in" filter="wipe(left)">
                                      <p:cBhvr>
                                        <p:cTn id="40" dur="450"/>
                                        <p:tgtEl>
                                          <p:spTgt spid="22"/>
                                        </p:tgtEl>
                                      </p:cBhvr>
                                    </p:animEffect>
                                  </p:childTnLst>
                                </p:cTn>
                              </p:par>
                              <p:par>
                                <p:cTn id="41" presetID="22" presetClass="entr" presetSubtype="8" fill="hold" grpId="0" nodeType="withEffect">
                                  <p:stCondLst>
                                    <p:cond delay="1000"/>
                                  </p:stCondLst>
                                  <p:childTnLst>
                                    <p:set>
                                      <p:cBhvr>
                                        <p:cTn id="42" dur="1" fill="hold">
                                          <p:stCondLst>
                                            <p:cond delay="0"/>
                                          </p:stCondLst>
                                        </p:cTn>
                                        <p:tgtEl>
                                          <p:spTgt spid="23"/>
                                        </p:tgtEl>
                                        <p:attrNameLst>
                                          <p:attrName>style.visibility</p:attrName>
                                        </p:attrNameLst>
                                      </p:cBhvr>
                                      <p:to>
                                        <p:strVal val="visible"/>
                                      </p:to>
                                    </p:set>
                                    <p:animEffect transition="in" filter="wipe(left)">
                                      <p:cBhvr>
                                        <p:cTn id="43" dur="450"/>
                                        <p:tgtEl>
                                          <p:spTgt spid="23"/>
                                        </p:tgtEl>
                                      </p:cBhvr>
                                    </p:animEffect>
                                  </p:childTnLst>
                                </p:cTn>
                              </p:par>
                              <p:par>
                                <p:cTn id="44" presetID="22" presetClass="entr" presetSubtype="8" fill="hold" grpId="0" nodeType="withEffect">
                                  <p:stCondLst>
                                    <p:cond delay="1200"/>
                                  </p:stCondLst>
                                  <p:childTnLst>
                                    <p:set>
                                      <p:cBhvr>
                                        <p:cTn id="45" dur="1" fill="hold">
                                          <p:stCondLst>
                                            <p:cond delay="0"/>
                                          </p:stCondLst>
                                        </p:cTn>
                                        <p:tgtEl>
                                          <p:spTgt spid="24"/>
                                        </p:tgtEl>
                                        <p:attrNameLst>
                                          <p:attrName>style.visibility</p:attrName>
                                        </p:attrNameLst>
                                      </p:cBhvr>
                                      <p:to>
                                        <p:strVal val="visible"/>
                                      </p:to>
                                    </p:set>
                                    <p:animEffect transition="in" filter="wipe(left)">
                                      <p:cBhvr>
                                        <p:cTn id="46" dur="400"/>
                                        <p:tgtEl>
                                          <p:spTgt spid="24"/>
                                        </p:tgtEl>
                                      </p:cBhvr>
                                    </p:animEffect>
                                  </p:childTnLst>
                                </p:cTn>
                              </p:par>
                              <p:par>
                                <p:cTn id="47" presetID="10" presetClass="entr" presetSubtype="0" fill="hold" grpId="0" nodeType="withEffect">
                                  <p:stCondLst>
                                    <p:cond delay="130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500"/>
                                        <p:tgtEl>
                                          <p:spTgt spid="25"/>
                                        </p:tgtEl>
                                      </p:cBhvr>
                                    </p:animEffect>
                                  </p:childTnLst>
                                </p:cTn>
                              </p:par>
                              <p:par>
                                <p:cTn id="50" presetID="42" presetClass="entr" presetSubtype="0" fill="hold" grpId="0" nodeType="withEffect">
                                  <p:stCondLst>
                                    <p:cond delay="145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600"/>
                                        <p:tgtEl>
                                          <p:spTgt spid="26"/>
                                        </p:tgtEl>
                                      </p:cBhvr>
                                    </p:animEffect>
                                    <p:anim calcmode="lin" valueType="num">
                                      <p:cBhvr additive="base">
                                        <p:cTn id="53" dur="600" decel="100000" fill="hold"/>
                                        <p:tgtEl>
                                          <p:spTgt spid="26"/>
                                        </p:tgtEl>
                                        <p:attrNameLst>
                                          <p:attrName>ppt_x</p:attrName>
                                        </p:attrNameLst>
                                      </p:cBhvr>
                                      <p:tavLst>
                                        <p:tav tm="0">
                                          <p:val>
                                            <p:strVal val="#ppt_x"/>
                                          </p:val>
                                        </p:tav>
                                        <p:tav tm="100000">
                                          <p:val>
                                            <p:strVal val="#ppt_x"/>
                                          </p:val>
                                        </p:tav>
                                      </p:tavLst>
                                    </p:anim>
                                    <p:anim calcmode="lin" valueType="num">
                                      <p:cBhvr additive="base">
                                        <p:cTn id="54" dur="600" decel="100000" fill="hold"/>
                                        <p:tgtEl>
                                          <p:spTgt spid="26"/>
                                        </p:tgtEl>
                                        <p:attrNameLst>
                                          <p:attrName>ppt_y</p:attrName>
                                        </p:attrNameLst>
                                      </p:cBhvr>
                                      <p:tavLst>
                                        <p:tav tm="0">
                                          <p:val>
                                            <p:strVal val="#ppt_y+0.05"/>
                                          </p:val>
                                        </p:tav>
                                        <p:tav tm="100000">
                                          <p:val>
                                            <p:strVal val="#ppt_y"/>
                                          </p:val>
                                        </p:tav>
                                      </p:tavLst>
                                    </p:anim>
                                  </p:childTnLst>
                                </p:cTn>
                              </p:par>
                              <p:par>
                                <p:cTn id="55" presetID="42" presetClass="entr" presetSubtype="0" fill="hold" grpId="0" nodeType="withEffect">
                                  <p:stCondLst>
                                    <p:cond delay="145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600"/>
                                        <p:tgtEl>
                                          <p:spTgt spid="27"/>
                                        </p:tgtEl>
                                      </p:cBhvr>
                                    </p:animEffect>
                                    <p:anim calcmode="lin" valueType="num">
                                      <p:cBhvr additive="base">
                                        <p:cTn id="58" dur="600" decel="100000" fill="hold"/>
                                        <p:tgtEl>
                                          <p:spTgt spid="27"/>
                                        </p:tgtEl>
                                        <p:attrNameLst>
                                          <p:attrName>ppt_x</p:attrName>
                                        </p:attrNameLst>
                                      </p:cBhvr>
                                      <p:tavLst>
                                        <p:tav tm="0">
                                          <p:val>
                                            <p:strVal val="#ppt_x"/>
                                          </p:val>
                                        </p:tav>
                                        <p:tav tm="100000">
                                          <p:val>
                                            <p:strVal val="#ppt_x"/>
                                          </p:val>
                                        </p:tav>
                                      </p:tavLst>
                                    </p:anim>
                                    <p:anim calcmode="lin" valueType="num">
                                      <p:cBhvr additive="base">
                                        <p:cTn id="59" dur="600" decel="100000" fill="hold"/>
                                        <p:tgtEl>
                                          <p:spTgt spid="27"/>
                                        </p:tgtEl>
                                        <p:attrNameLst>
                                          <p:attrName>ppt_y</p:attrName>
                                        </p:attrNameLst>
                                      </p:cBhvr>
                                      <p:tavLst>
                                        <p:tav tm="0">
                                          <p:val>
                                            <p:strVal val="#ppt_y+0.05"/>
                                          </p:val>
                                        </p:tav>
                                        <p:tav tm="100000">
                                          <p:val>
                                            <p:strVal val="#ppt_y"/>
                                          </p:val>
                                        </p:tav>
                                      </p:tavLst>
                                    </p:anim>
                                  </p:childTnLst>
                                </p:cTn>
                              </p:par>
                              <p:par>
                                <p:cTn id="60" presetID="42" presetClass="entr" presetSubtype="0" fill="hold" grpId="0" nodeType="withEffect">
                                  <p:stCondLst>
                                    <p:cond delay="145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600"/>
                                        <p:tgtEl>
                                          <p:spTgt spid="28"/>
                                        </p:tgtEl>
                                      </p:cBhvr>
                                    </p:animEffect>
                                    <p:anim calcmode="lin" valueType="num">
                                      <p:cBhvr additive="base">
                                        <p:cTn id="63" dur="600" decel="100000" fill="hold"/>
                                        <p:tgtEl>
                                          <p:spTgt spid="28"/>
                                        </p:tgtEl>
                                        <p:attrNameLst>
                                          <p:attrName>ppt_x</p:attrName>
                                        </p:attrNameLst>
                                      </p:cBhvr>
                                      <p:tavLst>
                                        <p:tav tm="0">
                                          <p:val>
                                            <p:strVal val="#ppt_x"/>
                                          </p:val>
                                        </p:tav>
                                        <p:tav tm="100000">
                                          <p:val>
                                            <p:strVal val="#ppt_x"/>
                                          </p:val>
                                        </p:tav>
                                      </p:tavLst>
                                    </p:anim>
                                    <p:anim calcmode="lin" valueType="num">
                                      <p:cBhvr additive="base">
                                        <p:cTn id="64" dur="600" decel="100000" fill="hold"/>
                                        <p:tgtEl>
                                          <p:spTgt spid="28"/>
                                        </p:tgtEl>
                                        <p:attrNameLst>
                                          <p:attrName>ppt_y</p:attrName>
                                        </p:attrNameLst>
                                      </p:cBhvr>
                                      <p:tavLst>
                                        <p:tav tm="0">
                                          <p:val>
                                            <p:strVal val="#ppt_y+0.05"/>
                                          </p:val>
                                        </p:tav>
                                        <p:tav tm="100000">
                                          <p:val>
                                            <p:strVal val="#ppt_y"/>
                                          </p:val>
                                        </p:tav>
                                      </p:tavLst>
                                    </p:anim>
                                  </p:childTnLst>
                                </p:cTn>
                              </p:par>
                              <p:par>
                                <p:cTn id="65" presetID="42" presetClass="entr" presetSubtype="0" fill="hold" grpId="0" nodeType="withEffect">
                                  <p:stCondLst>
                                    <p:cond delay="145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600"/>
                                        <p:tgtEl>
                                          <p:spTgt spid="29"/>
                                        </p:tgtEl>
                                      </p:cBhvr>
                                    </p:animEffect>
                                    <p:anim calcmode="lin" valueType="num">
                                      <p:cBhvr additive="base">
                                        <p:cTn id="68" dur="600" decel="100000" fill="hold"/>
                                        <p:tgtEl>
                                          <p:spTgt spid="29"/>
                                        </p:tgtEl>
                                        <p:attrNameLst>
                                          <p:attrName>ppt_x</p:attrName>
                                        </p:attrNameLst>
                                      </p:cBhvr>
                                      <p:tavLst>
                                        <p:tav tm="0">
                                          <p:val>
                                            <p:strVal val="#ppt_x"/>
                                          </p:val>
                                        </p:tav>
                                        <p:tav tm="100000">
                                          <p:val>
                                            <p:strVal val="#ppt_x"/>
                                          </p:val>
                                        </p:tav>
                                      </p:tavLst>
                                    </p:anim>
                                    <p:anim calcmode="lin" valueType="num">
                                      <p:cBhvr additive="base">
                                        <p:cTn id="69" dur="600" decel="100000" fill="hold"/>
                                        <p:tgtEl>
                                          <p:spTgt spid="29"/>
                                        </p:tgtEl>
                                        <p:attrNameLst>
                                          <p:attrName>ppt_y</p:attrName>
                                        </p:attrNameLst>
                                      </p:cBhvr>
                                      <p:tavLst>
                                        <p:tav tm="0">
                                          <p:val>
                                            <p:strVal val="#ppt_y+0.05"/>
                                          </p:val>
                                        </p:tav>
                                        <p:tav tm="100000">
                                          <p:val>
                                            <p:strVal val="#ppt_y"/>
                                          </p:val>
                                        </p:tav>
                                      </p:tavLst>
                                    </p:anim>
                                  </p:childTnLst>
                                </p:cTn>
                              </p:par>
                              <p:par>
                                <p:cTn id="70" presetID="42" presetClass="entr" presetSubtype="0" fill="hold" grpId="0" nodeType="withEffect">
                                  <p:stCondLst>
                                    <p:cond delay="165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600"/>
                                        <p:tgtEl>
                                          <p:spTgt spid="30"/>
                                        </p:tgtEl>
                                      </p:cBhvr>
                                    </p:animEffect>
                                    <p:anim calcmode="lin" valueType="num">
                                      <p:cBhvr additive="base">
                                        <p:cTn id="73" dur="600" decel="100000" fill="hold"/>
                                        <p:tgtEl>
                                          <p:spTgt spid="30"/>
                                        </p:tgtEl>
                                        <p:attrNameLst>
                                          <p:attrName>ppt_x</p:attrName>
                                        </p:attrNameLst>
                                      </p:cBhvr>
                                      <p:tavLst>
                                        <p:tav tm="0">
                                          <p:val>
                                            <p:strVal val="#ppt_x"/>
                                          </p:val>
                                        </p:tav>
                                        <p:tav tm="100000">
                                          <p:val>
                                            <p:strVal val="#ppt_x"/>
                                          </p:val>
                                        </p:tav>
                                      </p:tavLst>
                                    </p:anim>
                                    <p:anim calcmode="lin" valueType="num">
                                      <p:cBhvr additive="base">
                                        <p:cTn id="74" dur="600" decel="100000" fill="hold"/>
                                        <p:tgtEl>
                                          <p:spTgt spid="30"/>
                                        </p:tgtEl>
                                        <p:attrNameLst>
                                          <p:attrName>ppt_y</p:attrName>
                                        </p:attrNameLst>
                                      </p:cBhvr>
                                      <p:tavLst>
                                        <p:tav tm="0">
                                          <p:val>
                                            <p:strVal val="#ppt_y+0.05"/>
                                          </p:val>
                                        </p:tav>
                                        <p:tav tm="100000">
                                          <p:val>
                                            <p:strVal val="#ppt_y"/>
                                          </p:val>
                                        </p:tav>
                                      </p:tavLst>
                                    </p:anim>
                                  </p:childTnLst>
                                </p:cTn>
                              </p:par>
                              <p:par>
                                <p:cTn id="75" presetID="42" presetClass="entr" presetSubtype="0" fill="hold" grpId="0" nodeType="withEffect">
                                  <p:stCondLst>
                                    <p:cond delay="1650"/>
                                  </p:stCondLst>
                                  <p:childTnLst>
                                    <p:set>
                                      <p:cBhvr>
                                        <p:cTn id="76" dur="1" fill="hold">
                                          <p:stCondLst>
                                            <p:cond delay="0"/>
                                          </p:stCondLst>
                                        </p:cTn>
                                        <p:tgtEl>
                                          <p:spTgt spid="31"/>
                                        </p:tgtEl>
                                        <p:attrNameLst>
                                          <p:attrName>style.visibility</p:attrName>
                                        </p:attrNameLst>
                                      </p:cBhvr>
                                      <p:to>
                                        <p:strVal val="visible"/>
                                      </p:to>
                                    </p:set>
                                    <p:animEffect transition="in" filter="fade">
                                      <p:cBhvr>
                                        <p:cTn id="77" dur="600"/>
                                        <p:tgtEl>
                                          <p:spTgt spid="31"/>
                                        </p:tgtEl>
                                      </p:cBhvr>
                                    </p:animEffect>
                                    <p:anim calcmode="lin" valueType="num">
                                      <p:cBhvr additive="base">
                                        <p:cTn id="78" dur="600" decel="100000" fill="hold"/>
                                        <p:tgtEl>
                                          <p:spTgt spid="31"/>
                                        </p:tgtEl>
                                        <p:attrNameLst>
                                          <p:attrName>ppt_x</p:attrName>
                                        </p:attrNameLst>
                                      </p:cBhvr>
                                      <p:tavLst>
                                        <p:tav tm="0">
                                          <p:val>
                                            <p:strVal val="#ppt_x"/>
                                          </p:val>
                                        </p:tav>
                                        <p:tav tm="100000">
                                          <p:val>
                                            <p:strVal val="#ppt_x"/>
                                          </p:val>
                                        </p:tav>
                                      </p:tavLst>
                                    </p:anim>
                                    <p:anim calcmode="lin" valueType="num">
                                      <p:cBhvr additive="base">
                                        <p:cTn id="79" dur="600" decel="100000" fill="hold"/>
                                        <p:tgtEl>
                                          <p:spTgt spid="31"/>
                                        </p:tgtEl>
                                        <p:attrNameLst>
                                          <p:attrName>ppt_y</p:attrName>
                                        </p:attrNameLst>
                                      </p:cBhvr>
                                      <p:tavLst>
                                        <p:tav tm="0">
                                          <p:val>
                                            <p:strVal val="#ppt_y+0.05"/>
                                          </p:val>
                                        </p:tav>
                                        <p:tav tm="100000">
                                          <p:val>
                                            <p:strVal val="#ppt_y"/>
                                          </p:val>
                                        </p:tav>
                                      </p:tavLst>
                                    </p:anim>
                                  </p:childTnLst>
                                </p:cTn>
                              </p:par>
                              <p:par>
                                <p:cTn id="80" presetID="42" presetClass="entr" presetSubtype="0" fill="hold" grpId="0" nodeType="withEffect">
                                  <p:stCondLst>
                                    <p:cond delay="1650"/>
                                  </p:stCondLst>
                                  <p:childTnLst>
                                    <p:set>
                                      <p:cBhvr>
                                        <p:cTn id="81" dur="1" fill="hold">
                                          <p:stCondLst>
                                            <p:cond delay="0"/>
                                          </p:stCondLst>
                                        </p:cTn>
                                        <p:tgtEl>
                                          <p:spTgt spid="32"/>
                                        </p:tgtEl>
                                        <p:attrNameLst>
                                          <p:attrName>style.visibility</p:attrName>
                                        </p:attrNameLst>
                                      </p:cBhvr>
                                      <p:to>
                                        <p:strVal val="visible"/>
                                      </p:to>
                                    </p:set>
                                    <p:animEffect transition="in" filter="fade">
                                      <p:cBhvr>
                                        <p:cTn id="82" dur="600"/>
                                        <p:tgtEl>
                                          <p:spTgt spid="32"/>
                                        </p:tgtEl>
                                      </p:cBhvr>
                                    </p:animEffect>
                                    <p:anim calcmode="lin" valueType="num">
                                      <p:cBhvr additive="base">
                                        <p:cTn id="83" dur="600" decel="100000" fill="hold"/>
                                        <p:tgtEl>
                                          <p:spTgt spid="32"/>
                                        </p:tgtEl>
                                        <p:attrNameLst>
                                          <p:attrName>ppt_x</p:attrName>
                                        </p:attrNameLst>
                                      </p:cBhvr>
                                      <p:tavLst>
                                        <p:tav tm="0">
                                          <p:val>
                                            <p:strVal val="#ppt_x"/>
                                          </p:val>
                                        </p:tav>
                                        <p:tav tm="100000">
                                          <p:val>
                                            <p:strVal val="#ppt_x"/>
                                          </p:val>
                                        </p:tav>
                                      </p:tavLst>
                                    </p:anim>
                                    <p:anim calcmode="lin" valueType="num">
                                      <p:cBhvr additive="base">
                                        <p:cTn id="84" dur="600" decel="100000" fill="hold"/>
                                        <p:tgtEl>
                                          <p:spTgt spid="32"/>
                                        </p:tgtEl>
                                        <p:attrNameLst>
                                          <p:attrName>ppt_y</p:attrName>
                                        </p:attrNameLst>
                                      </p:cBhvr>
                                      <p:tavLst>
                                        <p:tav tm="0">
                                          <p:val>
                                            <p:strVal val="#ppt_y+0.05"/>
                                          </p:val>
                                        </p:tav>
                                        <p:tav tm="100000">
                                          <p:val>
                                            <p:strVal val="#ppt_y"/>
                                          </p:val>
                                        </p:tav>
                                      </p:tavLst>
                                    </p:anim>
                                  </p:childTnLst>
                                </p:cTn>
                              </p:par>
                              <p:par>
                                <p:cTn id="85" presetID="42" presetClass="entr" presetSubtype="0" fill="hold" grpId="0" nodeType="withEffect">
                                  <p:stCondLst>
                                    <p:cond delay="165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600"/>
                                        <p:tgtEl>
                                          <p:spTgt spid="33"/>
                                        </p:tgtEl>
                                      </p:cBhvr>
                                    </p:animEffect>
                                    <p:anim calcmode="lin" valueType="num">
                                      <p:cBhvr additive="base">
                                        <p:cTn id="88" dur="600" decel="100000" fill="hold"/>
                                        <p:tgtEl>
                                          <p:spTgt spid="33"/>
                                        </p:tgtEl>
                                        <p:attrNameLst>
                                          <p:attrName>ppt_x</p:attrName>
                                        </p:attrNameLst>
                                      </p:cBhvr>
                                      <p:tavLst>
                                        <p:tav tm="0">
                                          <p:val>
                                            <p:strVal val="#ppt_x"/>
                                          </p:val>
                                        </p:tav>
                                        <p:tav tm="100000">
                                          <p:val>
                                            <p:strVal val="#ppt_x"/>
                                          </p:val>
                                        </p:tav>
                                      </p:tavLst>
                                    </p:anim>
                                    <p:anim calcmode="lin" valueType="num">
                                      <p:cBhvr additive="base">
                                        <p:cTn id="89" dur="600" decel="100000" fill="hold"/>
                                        <p:tgtEl>
                                          <p:spTgt spid="33"/>
                                        </p:tgtEl>
                                        <p:attrNameLst>
                                          <p:attrName>ppt_y</p:attrName>
                                        </p:attrNameLst>
                                      </p:cBhvr>
                                      <p:tavLst>
                                        <p:tav tm="0">
                                          <p:val>
                                            <p:strVal val="#ppt_y+0.05"/>
                                          </p:val>
                                        </p:tav>
                                        <p:tav tm="100000">
                                          <p:val>
                                            <p:strVal val="#ppt_y"/>
                                          </p:val>
                                        </p:tav>
                                      </p:tavLst>
                                    </p:anim>
                                  </p:childTnLst>
                                </p:cTn>
                              </p:par>
                              <p:par>
                                <p:cTn id="90" presetID="42" presetClass="entr" presetSubtype="0" fill="hold" grpId="0" nodeType="withEffect">
                                  <p:stCondLst>
                                    <p:cond delay="185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600"/>
                                        <p:tgtEl>
                                          <p:spTgt spid="34"/>
                                        </p:tgtEl>
                                      </p:cBhvr>
                                    </p:animEffect>
                                    <p:anim calcmode="lin" valueType="num">
                                      <p:cBhvr additive="base">
                                        <p:cTn id="93" dur="600" decel="100000" fill="hold"/>
                                        <p:tgtEl>
                                          <p:spTgt spid="34"/>
                                        </p:tgtEl>
                                        <p:attrNameLst>
                                          <p:attrName>ppt_x</p:attrName>
                                        </p:attrNameLst>
                                      </p:cBhvr>
                                      <p:tavLst>
                                        <p:tav tm="0">
                                          <p:val>
                                            <p:strVal val="#ppt_x"/>
                                          </p:val>
                                        </p:tav>
                                        <p:tav tm="100000">
                                          <p:val>
                                            <p:strVal val="#ppt_x"/>
                                          </p:val>
                                        </p:tav>
                                      </p:tavLst>
                                    </p:anim>
                                    <p:anim calcmode="lin" valueType="num">
                                      <p:cBhvr additive="base">
                                        <p:cTn id="94" dur="600" decel="100000" fill="hold"/>
                                        <p:tgtEl>
                                          <p:spTgt spid="34"/>
                                        </p:tgtEl>
                                        <p:attrNameLst>
                                          <p:attrName>ppt_y</p:attrName>
                                        </p:attrNameLst>
                                      </p:cBhvr>
                                      <p:tavLst>
                                        <p:tav tm="0">
                                          <p:val>
                                            <p:strVal val="#ppt_y+0.05"/>
                                          </p:val>
                                        </p:tav>
                                        <p:tav tm="100000">
                                          <p:val>
                                            <p:strVal val="#ppt_y"/>
                                          </p:val>
                                        </p:tav>
                                      </p:tavLst>
                                    </p:anim>
                                  </p:childTnLst>
                                </p:cTn>
                              </p:par>
                              <p:par>
                                <p:cTn id="95" presetID="42" presetClass="entr" presetSubtype="0" fill="hold" grpId="0" nodeType="withEffect">
                                  <p:stCondLst>
                                    <p:cond delay="185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600"/>
                                        <p:tgtEl>
                                          <p:spTgt spid="35"/>
                                        </p:tgtEl>
                                      </p:cBhvr>
                                    </p:animEffect>
                                    <p:anim calcmode="lin" valueType="num">
                                      <p:cBhvr additive="base">
                                        <p:cTn id="98" dur="600" decel="100000" fill="hold"/>
                                        <p:tgtEl>
                                          <p:spTgt spid="35"/>
                                        </p:tgtEl>
                                        <p:attrNameLst>
                                          <p:attrName>ppt_x</p:attrName>
                                        </p:attrNameLst>
                                      </p:cBhvr>
                                      <p:tavLst>
                                        <p:tav tm="0">
                                          <p:val>
                                            <p:strVal val="#ppt_x"/>
                                          </p:val>
                                        </p:tav>
                                        <p:tav tm="100000">
                                          <p:val>
                                            <p:strVal val="#ppt_x"/>
                                          </p:val>
                                        </p:tav>
                                      </p:tavLst>
                                    </p:anim>
                                    <p:anim calcmode="lin" valueType="num">
                                      <p:cBhvr additive="base">
                                        <p:cTn id="99" dur="600" decel="100000" fill="hold"/>
                                        <p:tgtEl>
                                          <p:spTgt spid="35"/>
                                        </p:tgtEl>
                                        <p:attrNameLst>
                                          <p:attrName>ppt_y</p:attrName>
                                        </p:attrNameLst>
                                      </p:cBhvr>
                                      <p:tavLst>
                                        <p:tav tm="0">
                                          <p:val>
                                            <p:strVal val="#ppt_y+0.05"/>
                                          </p:val>
                                        </p:tav>
                                        <p:tav tm="100000">
                                          <p:val>
                                            <p:strVal val="#ppt_y"/>
                                          </p:val>
                                        </p:tav>
                                      </p:tavLst>
                                    </p:anim>
                                  </p:childTnLst>
                                </p:cTn>
                              </p:par>
                              <p:par>
                                <p:cTn id="100" presetID="42" presetClass="entr" presetSubtype="0" fill="hold" grpId="0" nodeType="withEffect">
                                  <p:stCondLst>
                                    <p:cond delay="1850"/>
                                  </p:stCondLst>
                                  <p:childTnLst>
                                    <p:set>
                                      <p:cBhvr>
                                        <p:cTn id="101" dur="1" fill="hold">
                                          <p:stCondLst>
                                            <p:cond delay="0"/>
                                          </p:stCondLst>
                                        </p:cTn>
                                        <p:tgtEl>
                                          <p:spTgt spid="36"/>
                                        </p:tgtEl>
                                        <p:attrNameLst>
                                          <p:attrName>style.visibility</p:attrName>
                                        </p:attrNameLst>
                                      </p:cBhvr>
                                      <p:to>
                                        <p:strVal val="visible"/>
                                      </p:to>
                                    </p:set>
                                    <p:animEffect transition="in" filter="fade">
                                      <p:cBhvr>
                                        <p:cTn id="102" dur="600"/>
                                        <p:tgtEl>
                                          <p:spTgt spid="36"/>
                                        </p:tgtEl>
                                      </p:cBhvr>
                                    </p:animEffect>
                                    <p:anim calcmode="lin" valueType="num">
                                      <p:cBhvr additive="base">
                                        <p:cTn id="103" dur="600" decel="100000" fill="hold"/>
                                        <p:tgtEl>
                                          <p:spTgt spid="36"/>
                                        </p:tgtEl>
                                        <p:attrNameLst>
                                          <p:attrName>ppt_x</p:attrName>
                                        </p:attrNameLst>
                                      </p:cBhvr>
                                      <p:tavLst>
                                        <p:tav tm="0">
                                          <p:val>
                                            <p:strVal val="#ppt_x"/>
                                          </p:val>
                                        </p:tav>
                                        <p:tav tm="100000">
                                          <p:val>
                                            <p:strVal val="#ppt_x"/>
                                          </p:val>
                                        </p:tav>
                                      </p:tavLst>
                                    </p:anim>
                                    <p:anim calcmode="lin" valueType="num">
                                      <p:cBhvr additive="base">
                                        <p:cTn id="104" dur="600" decel="100000" fill="hold"/>
                                        <p:tgtEl>
                                          <p:spTgt spid="36"/>
                                        </p:tgtEl>
                                        <p:attrNameLst>
                                          <p:attrName>ppt_y</p:attrName>
                                        </p:attrNameLst>
                                      </p:cBhvr>
                                      <p:tavLst>
                                        <p:tav tm="0">
                                          <p:val>
                                            <p:strVal val="#ppt_y+0.05"/>
                                          </p:val>
                                        </p:tav>
                                        <p:tav tm="100000">
                                          <p:val>
                                            <p:strVal val="#ppt_y"/>
                                          </p:val>
                                        </p:tav>
                                      </p:tavLst>
                                    </p:anim>
                                  </p:childTnLst>
                                </p:cTn>
                              </p:par>
                              <p:par>
                                <p:cTn id="105" presetID="42" presetClass="entr" presetSubtype="0" fill="hold" grpId="0" nodeType="withEffect">
                                  <p:stCondLst>
                                    <p:cond delay="1850"/>
                                  </p:stCondLst>
                                  <p:childTnLst>
                                    <p:set>
                                      <p:cBhvr>
                                        <p:cTn id="106" dur="1" fill="hold">
                                          <p:stCondLst>
                                            <p:cond delay="0"/>
                                          </p:stCondLst>
                                        </p:cTn>
                                        <p:tgtEl>
                                          <p:spTgt spid="37"/>
                                        </p:tgtEl>
                                        <p:attrNameLst>
                                          <p:attrName>style.visibility</p:attrName>
                                        </p:attrNameLst>
                                      </p:cBhvr>
                                      <p:to>
                                        <p:strVal val="visible"/>
                                      </p:to>
                                    </p:set>
                                    <p:animEffect transition="in" filter="fade">
                                      <p:cBhvr>
                                        <p:cTn id="107" dur="600"/>
                                        <p:tgtEl>
                                          <p:spTgt spid="37"/>
                                        </p:tgtEl>
                                      </p:cBhvr>
                                    </p:animEffect>
                                    <p:anim calcmode="lin" valueType="num">
                                      <p:cBhvr additive="base">
                                        <p:cTn id="108" dur="600" decel="100000" fill="hold"/>
                                        <p:tgtEl>
                                          <p:spTgt spid="37"/>
                                        </p:tgtEl>
                                        <p:attrNameLst>
                                          <p:attrName>ppt_x</p:attrName>
                                        </p:attrNameLst>
                                      </p:cBhvr>
                                      <p:tavLst>
                                        <p:tav tm="0">
                                          <p:val>
                                            <p:strVal val="#ppt_x"/>
                                          </p:val>
                                        </p:tav>
                                        <p:tav tm="100000">
                                          <p:val>
                                            <p:strVal val="#ppt_x"/>
                                          </p:val>
                                        </p:tav>
                                      </p:tavLst>
                                    </p:anim>
                                    <p:anim calcmode="lin" valueType="num">
                                      <p:cBhvr additive="base">
                                        <p:cTn id="109" dur="600" decel="100000" fill="hold"/>
                                        <p:tgtEl>
                                          <p:spTgt spid="37"/>
                                        </p:tgtEl>
                                        <p:attrNameLst>
                                          <p:attrName>ppt_y</p:attrName>
                                        </p:attrNameLst>
                                      </p:cBhvr>
                                      <p:tavLst>
                                        <p:tav tm="0">
                                          <p:val>
                                            <p:strVal val="#ppt_y+0.05"/>
                                          </p:val>
                                        </p:tav>
                                        <p:tav tm="100000">
                                          <p:val>
                                            <p:strVal val="#ppt_y"/>
                                          </p:val>
                                        </p:tav>
                                      </p:tavLst>
                                    </p:anim>
                                  </p:childTnLst>
                                </p:cTn>
                              </p:par>
                              <p:par>
                                <p:cTn id="110" presetID="10" presetClass="entr" presetSubtype="0" fill="hold" grpId="0" nodeType="withEffect">
                                  <p:stCondLst>
                                    <p:cond delay="2150"/>
                                  </p:stCondLst>
                                  <p:childTnLst>
                                    <p:set>
                                      <p:cBhvr>
                                        <p:cTn id="111" dur="1" fill="hold">
                                          <p:stCondLst>
                                            <p:cond delay="0"/>
                                          </p:stCondLst>
                                        </p:cTn>
                                        <p:tgtEl>
                                          <p:spTgt spid="38"/>
                                        </p:tgtEl>
                                        <p:attrNameLst>
                                          <p:attrName>style.visibility</p:attrName>
                                        </p:attrNameLst>
                                      </p:cBhvr>
                                      <p:to>
                                        <p:strVal val="visible"/>
                                      </p:to>
                                    </p:set>
                                    <p:animEffect transition="in" filter="fade">
                                      <p:cBhvr>
                                        <p:cTn id="112" dur="600"/>
                                        <p:tgtEl>
                                          <p:spTgt spid="38"/>
                                        </p:tgtEl>
                                      </p:cBhvr>
                                    </p:animEffect>
                                  </p:childTnLst>
                                </p:cTn>
                              </p:par>
                              <p:par>
                                <p:cTn id="113" presetID="10" presetClass="entr" presetSubtype="0" fill="hold" grpId="0" nodeType="withEffect">
                                  <p:stCondLst>
                                    <p:cond delay="2150"/>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6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9" grpId="0" animBg="1"/>
      <p:bldP spid="30" grpId="0" animBg="1"/>
      <p:bldP spid="31" grpId="0" animBg="1"/>
      <p:bldP spid="33" grpId="0" animBg="1"/>
      <p:bldP spid="34" grpId="0" animBg="1"/>
      <p:bldP spid="35" grpId="0" animBg="1"/>
      <p:bldP spid="37" grpId="0" animBg="1"/>
      <p:bldP spid="38" grpId="0" animBg="1"/>
      <p:bldP spid="3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
          <p:cNvSpPr/>
          <p:nvPr>
            <p:ph idx="100" type="body" hasCustomPrompt="1"/>
          </p:nvPr>
        </p:nvSpPr>
        <p:spPr>
          <a:xfrm>
            <a:off x="548640" y="384048"/>
            <a:ext cx="7863840" cy="310896"/>
          </a:xfrm>
          <a:prstGeom prst="rect">
            <a:avLst/>
          </a:prstGeom>
          <a:noFill/>
          <a:ln/>
        </p:spPr>
        <p:txBody>
          <a:bodyPr wrap="square" lIns="0" tIns="0" rIns="0" bIns="0" rtlCol="0" anchor="ctr"/>
          <a:lstStyle/>
          <a:p>
            <a:pPr algn="l" indent="0" marL="0">
              <a:buNone/>
            </a:pPr>
            <a:r>
              <a:rPr lang="en-US" sz="1300" b="1" spc="300" kern="0" dirty="0">
                <a:solidFill>
                  <a:schemeClr val="accent3"/>
                </a:solidFill>
              </a:rPr>
              <a:t>LIVE DEMO</a:t>
            </a:r>
            <a:endParaRPr lang="en-US" sz="1300" dirty="0"/>
          </a:p>
        </p:txBody>
      </p:sp>
      <p:sp>
        <p:nvSpPr>
          <p:cNvPr id="3" name="ttl"/>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200" b="1" dirty="0">
                <a:solidFill>
                  <a:schemeClr val="bg1"/>
                </a:solidFill>
              </a:rPr>
              <a:t>See it run on a full study in 26 seconds</a:t>
            </a:r>
            <a:endParaRPr lang="en-US" sz="3200" dirty="0"/>
          </a:p>
        </p:txBody>
      </p:sp>
      <p:sp>
        <p:nvSpPr>
          <p:cNvPr id="4" name="app_frame"/>
          <p:cNvSpPr/>
          <p:nvPr/>
        </p:nvSpPr>
        <p:spPr>
          <a:xfrm>
            <a:off x="548640" y="1691640"/>
            <a:ext cx="7406640" cy="4471416"/>
          </a:xfrm>
          <a:prstGeom prst="roundRect">
            <a:avLst>
              <a:gd name="adj" fmla="val 2454"/>
            </a:avLst>
          </a:prstGeom>
          <a:solidFill>
            <a:schemeClr val="tx1"/>
          </a:solidFill>
          <a:ln w="9525">
            <a:solidFill>
              <a:schemeClr val="accent6"/>
            </a:solidFill>
            <a:prstDash val="solid"/>
          </a:ln>
        </p:spPr>
      </p:sp>
      <p:pic>
        <p:nvPicPr>
          <p:cNvPr id="3" name="app">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40080" y="1783080"/>
            <a:ext cx="7223760" cy="4288536"/>
          </a:xfrm>
          <a:prstGeom prst="rect">
            <a:avLst/>
          </a:prstGeom>
        </p:spPr>
      </p:pic>
      <p:sp>
        <p:nvSpPr>
          <p:cNvPr id="6" name="watch"/>
          <p:cNvSpPr txBox="1"/>
          <p:nvPr/>
        </p:nvSpPr>
        <p:spPr>
          <a:xfrm>
            <a:off x="8366760" y="1691640"/>
            <a:ext cx="3200400" cy="274320"/>
          </a:xfrm>
          <a:prstGeom prst="rect">
            <a:avLst/>
          </a:prstGeom>
          <a:noFill/>
          <a:ln/>
        </p:spPr>
        <p:txBody>
          <a:bodyPr wrap="square" lIns="0" tIns="0" rIns="0" bIns="0" rtlCol="0" anchor="t"/>
          <a:lstStyle/>
          <a:p>
            <a:pPr indent="0" marL="0">
              <a:buNone/>
            </a:pPr>
            <a:r>
              <a:rPr lang="en-US" sz="1200" b="1" spc="200" kern="0" dirty="0">
                <a:solidFill>
                  <a:schemeClr val="bg2"/>
                </a:solidFill>
              </a:rPr>
              <a:t>WHAT TO WATCH</a:t>
            </a:r>
            <a:endParaRPr lang="en-US" sz="1200" dirty="0"/>
          </a:p>
        </p:txBody>
      </p:sp>
      <p:sp>
        <p:nvSpPr>
          <p:cNvPr id="7" name="dn0"/>
          <p:cNvSpPr/>
          <p:nvPr/>
        </p:nvSpPr>
        <p:spPr>
          <a:xfrm>
            <a:off x="8366760" y="2176272"/>
            <a:ext cx="420624" cy="420624"/>
          </a:xfrm>
          <a:prstGeom prst="ellipse">
            <a:avLst/>
          </a:prstGeom>
          <a:solidFill>
            <a:schemeClr val="tx2"/>
          </a:solidFill>
          <a:ln w="15875">
            <a:solidFill>
              <a:schemeClr val="accent3"/>
            </a:solidFill>
          </a:ln>
        </p:spPr>
        <p:txBody>
          <a:bodyPr wrap="square" lIns="0" tIns="0" rIns="0" bIns="0" rtlCol="0" anchor="ctr"/>
          <a:lstStyle/>
          <a:p>
            <a:pPr algn="ctr" indent="0" marL="0">
              <a:buNone/>
            </a:pPr>
            <a:r>
              <a:rPr lang="en-US" sz="1400" b="1" dirty="0">
                <a:solidFill>
                  <a:schemeClr val="accent3"/>
                </a:solidFill>
              </a:rPr>
              <a:t>1</a:t>
            </a:r>
            <a:endParaRPr lang="en-US" sz="1400" dirty="0"/>
          </a:p>
        </p:txBody>
      </p:sp>
      <p:sp>
        <p:nvSpPr>
          <p:cNvPr id="8" name="dt0"/>
          <p:cNvSpPr txBox="1"/>
          <p:nvPr/>
        </p:nvSpPr>
        <p:spPr>
          <a:xfrm>
            <a:off x="8961120" y="2103120"/>
            <a:ext cx="2679192" cy="603504"/>
          </a:xfrm>
          <a:prstGeom prst="rect">
            <a:avLst/>
          </a:prstGeom>
          <a:noFill/>
          <a:ln/>
        </p:spPr>
        <p:txBody>
          <a:bodyPr wrap="square" lIns="0" tIns="0" rIns="0" bIns="0" rtlCol="0" anchor="ctr"/>
          <a:lstStyle/>
          <a:p>
            <a:pPr indent="0" marL="0">
              <a:buNone/>
            </a:pPr>
            <a:r>
              <a:rPr lang="en-US" sz="1600" b="1" dirty="0">
                <a:solidFill>
                  <a:schemeClr val="bg1"/>
                </a:solidFill>
              </a:rPr>
              <a:t>Alignment</a:t>
            </a:r>
            <a:endParaRPr lang="en-US" sz="1600" dirty="0"/>
          </a:p>
          <a:p>
            <a:pPr indent="0" marL="0">
              <a:buNone/>
            </a:pPr>
            <a:r>
              <a:rPr lang="en-US" sz="1200" dirty="0">
                <a:solidFill>
                  <a:schemeClr val="bg2"/>
                </a:solidFill>
              </a:rPr>
              <a:t>drag the swipe: naive vs FusionMap</a:t>
            </a:r>
            <a:endParaRPr lang="en-US" sz="1600" dirty="0"/>
          </a:p>
        </p:txBody>
      </p:sp>
      <p:sp>
        <p:nvSpPr>
          <p:cNvPr id="9" name="dn1"/>
          <p:cNvSpPr/>
          <p:nvPr/>
        </p:nvSpPr>
        <p:spPr>
          <a:xfrm>
            <a:off x="8366760" y="2980944"/>
            <a:ext cx="420624" cy="420624"/>
          </a:xfrm>
          <a:prstGeom prst="ellipse">
            <a:avLst/>
          </a:prstGeom>
          <a:solidFill>
            <a:schemeClr val="tx2"/>
          </a:solidFill>
          <a:ln w="15875">
            <a:solidFill>
              <a:schemeClr val="accent3"/>
            </a:solidFill>
          </a:ln>
        </p:spPr>
        <p:txBody>
          <a:bodyPr wrap="square" lIns="0" tIns="0" rIns="0" bIns="0" rtlCol="0" anchor="ctr"/>
          <a:lstStyle/>
          <a:p>
            <a:pPr algn="ctr" indent="0" marL="0">
              <a:buNone/>
            </a:pPr>
            <a:r>
              <a:rPr lang="en-US" sz="1400" b="1" dirty="0">
                <a:solidFill>
                  <a:schemeClr val="accent3"/>
                </a:solidFill>
              </a:rPr>
              <a:t>2</a:t>
            </a:r>
            <a:endParaRPr lang="en-US" sz="1400" dirty="0"/>
          </a:p>
        </p:txBody>
      </p:sp>
      <p:sp>
        <p:nvSpPr>
          <p:cNvPr id="10" name="dt1"/>
          <p:cNvSpPr txBox="1"/>
          <p:nvPr/>
        </p:nvSpPr>
        <p:spPr>
          <a:xfrm>
            <a:off x="8961120" y="2907792"/>
            <a:ext cx="2679192" cy="603504"/>
          </a:xfrm>
          <a:prstGeom prst="rect">
            <a:avLst/>
          </a:prstGeom>
          <a:noFill/>
          <a:ln/>
        </p:spPr>
        <p:txBody>
          <a:bodyPr wrap="square" lIns="0" tIns="0" rIns="0" bIns="0" rtlCol="0" anchor="ctr"/>
          <a:lstStyle/>
          <a:p>
            <a:pPr indent="0" marL="0">
              <a:buNone/>
            </a:pPr>
            <a:r>
              <a:rPr lang="en-US" sz="1600" b="1" dirty="0">
                <a:solidFill>
                  <a:schemeClr val="bg1"/>
                </a:solidFill>
              </a:rPr>
              <a:t>Sharpening</a:t>
            </a:r>
            <a:endParaRPr lang="en-US" sz="1600" dirty="0"/>
          </a:p>
          <a:p>
            <a:pPr indent="0" marL="0">
              <a:buNone/>
            </a:pPr>
            <a:r>
              <a:rPr lang="en-US" sz="1200" dirty="0">
                <a:solidFill>
                  <a:schemeClr val="bg2"/>
                </a:solidFill>
              </a:rPr>
              <a:t>PET as acquired vs AI-enhanced</a:t>
            </a:r>
            <a:endParaRPr lang="en-US" sz="1600" dirty="0"/>
          </a:p>
        </p:txBody>
      </p:sp>
      <p:sp>
        <p:nvSpPr>
          <p:cNvPr id="11" name="dn2"/>
          <p:cNvSpPr/>
          <p:nvPr/>
        </p:nvSpPr>
        <p:spPr>
          <a:xfrm>
            <a:off x="8366760" y="3785616"/>
            <a:ext cx="420624" cy="420624"/>
          </a:xfrm>
          <a:prstGeom prst="ellipse">
            <a:avLst/>
          </a:prstGeom>
          <a:solidFill>
            <a:schemeClr val="tx2"/>
          </a:solidFill>
          <a:ln w="15875">
            <a:solidFill>
              <a:schemeClr val="accent3"/>
            </a:solidFill>
          </a:ln>
        </p:spPr>
        <p:txBody>
          <a:bodyPr wrap="square" lIns="0" tIns="0" rIns="0" bIns="0" rtlCol="0" anchor="ctr"/>
          <a:lstStyle/>
          <a:p>
            <a:pPr algn="ctr" indent="0" marL="0">
              <a:buNone/>
            </a:pPr>
            <a:r>
              <a:rPr lang="en-US" sz="1400" b="1" dirty="0">
                <a:solidFill>
                  <a:schemeClr val="accent3"/>
                </a:solidFill>
              </a:rPr>
              <a:t>3</a:t>
            </a:r>
            <a:endParaRPr lang="en-US" sz="1400" dirty="0"/>
          </a:p>
        </p:txBody>
      </p:sp>
      <p:sp>
        <p:nvSpPr>
          <p:cNvPr id="12" name="dt2"/>
          <p:cNvSpPr txBox="1"/>
          <p:nvPr/>
        </p:nvSpPr>
        <p:spPr>
          <a:xfrm>
            <a:off x="8961120" y="3712464"/>
            <a:ext cx="2679192" cy="603504"/>
          </a:xfrm>
          <a:prstGeom prst="rect">
            <a:avLst/>
          </a:prstGeom>
          <a:noFill/>
          <a:ln/>
        </p:spPr>
        <p:txBody>
          <a:bodyPr wrap="square" lIns="0" tIns="0" rIns="0" bIns="0" rtlCol="0" anchor="ctr"/>
          <a:lstStyle/>
          <a:p>
            <a:pPr indent="0" marL="0">
              <a:buNone/>
            </a:pPr>
            <a:r>
              <a:rPr lang="en-US" sz="1600" b="1" dirty="0">
                <a:solidFill>
                  <a:schemeClr val="bg1"/>
                </a:solidFill>
              </a:rPr>
              <a:t>Ground-truth check</a:t>
            </a:r>
            <a:endParaRPr lang="en-US" sz="1600" dirty="0"/>
          </a:p>
          <a:p>
            <a:pPr indent="0" marL="0">
              <a:buNone/>
            </a:pPr>
            <a:r>
              <a:rPr lang="en-US" sz="1200" dirty="0">
                <a:solidFill>
                  <a:schemeClr val="bg2"/>
                </a:solidFill>
              </a:rPr>
              <a:t>every lesion verified against the truth</a:t>
            </a:r>
            <a:endParaRPr lang="en-US" sz="1600" dirty="0"/>
          </a:p>
        </p:txBody>
      </p:sp>
      <p:sp>
        <p:nvSpPr>
          <p:cNvPr id="13" name="dn3"/>
          <p:cNvSpPr/>
          <p:nvPr/>
        </p:nvSpPr>
        <p:spPr>
          <a:xfrm>
            <a:off x="8366760" y="4590288"/>
            <a:ext cx="420624" cy="420624"/>
          </a:xfrm>
          <a:prstGeom prst="ellipse">
            <a:avLst/>
          </a:prstGeom>
          <a:solidFill>
            <a:schemeClr val="tx2"/>
          </a:solidFill>
          <a:ln w="15875">
            <a:solidFill>
              <a:schemeClr val="accent3"/>
            </a:solidFill>
          </a:ln>
        </p:spPr>
        <p:txBody>
          <a:bodyPr wrap="square" lIns="0" tIns="0" rIns="0" bIns="0" rtlCol="0" anchor="ctr"/>
          <a:lstStyle/>
          <a:p>
            <a:pPr algn="ctr" indent="0" marL="0">
              <a:buNone/>
            </a:pPr>
            <a:r>
              <a:rPr lang="en-US" sz="1400" b="1" dirty="0">
                <a:solidFill>
                  <a:schemeClr val="accent3"/>
                </a:solidFill>
              </a:rPr>
              <a:t>4</a:t>
            </a:r>
            <a:endParaRPr lang="en-US" sz="1400" dirty="0"/>
          </a:p>
        </p:txBody>
      </p:sp>
      <p:sp>
        <p:nvSpPr>
          <p:cNvPr id="14" name="dt3"/>
          <p:cNvSpPr txBox="1"/>
          <p:nvPr/>
        </p:nvSpPr>
        <p:spPr>
          <a:xfrm>
            <a:off x="8961120" y="4517136"/>
            <a:ext cx="2679192" cy="603504"/>
          </a:xfrm>
          <a:prstGeom prst="rect">
            <a:avLst/>
          </a:prstGeom>
          <a:noFill/>
          <a:ln/>
        </p:spPr>
        <p:txBody>
          <a:bodyPr wrap="square" lIns="0" tIns="0" rIns="0" bIns="0" rtlCol="0" anchor="ctr"/>
          <a:lstStyle/>
          <a:p>
            <a:pPr indent="0" marL="0">
              <a:buNone/>
            </a:pPr>
            <a:r>
              <a:rPr lang="en-US" sz="1600" b="1" dirty="0">
                <a:solidFill>
                  <a:schemeClr val="bg1"/>
                </a:solidFill>
              </a:rPr>
              <a:t>Tumour metrics</a:t>
            </a:r>
            <a:endParaRPr lang="en-US" sz="1600" dirty="0"/>
          </a:p>
          <a:p>
            <a:pPr indent="0" marL="0">
              <a:buNone/>
            </a:pPr>
            <a:r>
              <a:rPr lang="en-US" sz="1200" dirty="0">
                <a:solidFill>
                  <a:schemeClr val="bg2"/>
                </a:solidFill>
              </a:rPr>
              <a:t>click a tumour: SUVmax, MTV, TBR</a:t>
            </a:r>
            <a:endParaRPr lang="en-US" sz="1600" dirty="0"/>
          </a:p>
        </p:txBody>
      </p:sp>
      <p:sp>
        <p:nvSpPr>
          <p:cNvPr id="15" name="dn4"/>
          <p:cNvSpPr/>
          <p:nvPr/>
        </p:nvSpPr>
        <p:spPr>
          <a:xfrm>
            <a:off x="8366760" y="5394960"/>
            <a:ext cx="420624" cy="420624"/>
          </a:xfrm>
          <a:prstGeom prst="ellipse">
            <a:avLst/>
          </a:prstGeom>
          <a:solidFill>
            <a:schemeClr val="tx2"/>
          </a:solidFill>
          <a:ln w="15875">
            <a:solidFill>
              <a:schemeClr val="accent3"/>
            </a:solidFill>
          </a:ln>
        </p:spPr>
        <p:txBody>
          <a:bodyPr wrap="square" lIns="0" tIns="0" rIns="0" bIns="0" rtlCol="0" anchor="ctr"/>
          <a:lstStyle/>
          <a:p>
            <a:pPr algn="ctr" indent="0" marL="0">
              <a:buNone/>
            </a:pPr>
            <a:r>
              <a:rPr lang="en-US" sz="1400" b="1" dirty="0">
                <a:solidFill>
                  <a:schemeClr val="accent3"/>
                </a:solidFill>
              </a:rPr>
              <a:t>5</a:t>
            </a:r>
            <a:endParaRPr lang="en-US" sz="1400" dirty="0"/>
          </a:p>
        </p:txBody>
      </p:sp>
      <p:sp>
        <p:nvSpPr>
          <p:cNvPr id="16" name="dt4"/>
          <p:cNvSpPr txBox="1"/>
          <p:nvPr/>
        </p:nvSpPr>
        <p:spPr>
          <a:xfrm>
            <a:off x="8961120" y="5321808"/>
            <a:ext cx="2679192" cy="603504"/>
          </a:xfrm>
          <a:prstGeom prst="rect">
            <a:avLst/>
          </a:prstGeom>
          <a:noFill/>
          <a:ln/>
        </p:spPr>
        <p:txBody>
          <a:bodyPr wrap="square" lIns="0" tIns="0" rIns="0" bIns="0" rtlCol="0" anchor="ctr"/>
          <a:lstStyle/>
          <a:p>
            <a:pPr indent="0" marL="0">
              <a:buNone/>
            </a:pPr>
            <a:r>
              <a:rPr lang="en-US" sz="1600" b="1" dirty="0">
                <a:solidFill>
                  <a:schemeClr val="bg1"/>
                </a:solidFill>
              </a:rPr>
              <a:t>Send to PACS</a:t>
            </a:r>
            <a:endParaRPr lang="en-US" sz="1600" dirty="0"/>
          </a:p>
          <a:p>
            <a:pPr indent="0" marL="0">
              <a:buNone/>
            </a:pPr>
            <a:r>
              <a:rPr lang="en-US" sz="1200" dirty="0">
                <a:solidFill>
                  <a:schemeClr val="bg2"/>
                </a:solidFill>
              </a:rPr>
              <a:t>plus the printable report</a:t>
            </a:r>
            <a:endParaRPr lang="en-US" sz="16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800" decel="100000" fill="hold"/>
                                        <p:tgtEl>
                                          <p:spTgt spid="4"/>
                                        </p:tgtEl>
                                        <p:attrNameLst>
                                          <p:attrName>ppt_w</p:attrName>
                                        </p:attrNameLst>
                                      </p:cBhvr>
                                      <p:tavLst>
                                        <p:tav tm="0">
                                          <p:val>
                                            <p:strVal val="#ppt_w*0.55"/>
                                          </p:val>
                                        </p:tav>
                                        <p:tav tm="100000">
                                          <p:val>
                                            <p:strVal val="#ppt_w"/>
                                          </p:val>
                                        </p:tav>
                                      </p:tavLst>
                                    </p:anim>
                                    <p:anim calcmode="lin" valueType="num">
                                      <p:cBhvr additive="base">
                                        <p:cTn id="8" dur="800" decel="100000" fill="hold"/>
                                        <p:tgtEl>
                                          <p:spTgt spid="4"/>
                                        </p:tgtEl>
                                        <p:attrNameLst>
                                          <p:attrName>ppt_h</p:attrName>
                                        </p:attrNameLst>
                                      </p:cBhvr>
                                      <p:tavLst>
                                        <p:tav tm="0">
                                          <p:val>
                                            <p:strVal val="#ppt_h*0.55"/>
                                          </p:val>
                                        </p:tav>
                                        <p:tav tm="100000">
                                          <p:val>
                                            <p:strVal val="#ppt_h"/>
                                          </p:val>
                                        </p:tav>
                                      </p:tavLst>
                                    </p:anim>
                                    <p:animEffect transition="in" filter="fade">
                                      <p:cBhvr>
                                        <p:cTn id="9" dur="8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800" decel="100000" fill="hold"/>
                                        <p:tgtEl>
                                          <p:spTgt spid="3"/>
                                        </p:tgtEl>
                                        <p:attrNameLst>
                                          <p:attrName>ppt_w</p:attrName>
                                        </p:attrNameLst>
                                      </p:cBhvr>
                                      <p:tavLst>
                                        <p:tav tm="0">
                                          <p:val>
                                            <p:strVal val="#ppt_w*0.55"/>
                                          </p:val>
                                        </p:tav>
                                        <p:tav tm="100000">
                                          <p:val>
                                            <p:strVal val="#ppt_w"/>
                                          </p:val>
                                        </p:tav>
                                      </p:tavLst>
                                    </p:anim>
                                    <p:anim calcmode="lin" valueType="num">
                                      <p:cBhvr additive="base">
                                        <p:cTn id="13" dur="800" decel="100000" fill="hold"/>
                                        <p:tgtEl>
                                          <p:spTgt spid="3"/>
                                        </p:tgtEl>
                                        <p:attrNameLst>
                                          <p:attrName>ppt_h</p:attrName>
                                        </p:attrNameLst>
                                      </p:cBhvr>
                                      <p:tavLst>
                                        <p:tav tm="0">
                                          <p:val>
                                            <p:strVal val="#ppt_h*0.55"/>
                                          </p:val>
                                        </p:tav>
                                        <p:tav tm="100000">
                                          <p:val>
                                            <p:strVal val="#ppt_h"/>
                                          </p:val>
                                        </p:tav>
                                      </p:tavLst>
                                    </p:anim>
                                    <p:animEffect transition="in" filter="fade">
                                      <p:cBhvr>
                                        <p:cTn id="14" dur="800"/>
                                        <p:tgtEl>
                                          <p:spTgt spid="3"/>
                                        </p:tgtEl>
                                      </p:cBhvr>
                                    </p:animEffect>
                                  </p:childTnLst>
                                </p:cTn>
                              </p:par>
                              <p:par>
                                <p:cTn id="15" presetID="10" presetClass="entr" presetSubtype="0" fill="hold" grpId="0" nodeType="withEffect">
                                  <p:stCondLst>
                                    <p:cond delay="45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53" presetClass="entr" presetSubtype="16" fill="hold" grpId="0" nodeType="withEffect">
                                  <p:stCondLst>
                                    <p:cond delay="60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450" decel="100000" fill="hold"/>
                                        <p:tgtEl>
                                          <p:spTgt spid="7"/>
                                        </p:tgtEl>
                                        <p:attrNameLst>
                                          <p:attrName>ppt_w</p:attrName>
                                        </p:attrNameLst>
                                      </p:cBhvr>
                                      <p:tavLst>
                                        <p:tav tm="0">
                                          <p:val>
                                            <p:strVal val="#ppt_w*0.55"/>
                                          </p:val>
                                        </p:tav>
                                        <p:tav tm="100000">
                                          <p:val>
                                            <p:strVal val="#ppt_w"/>
                                          </p:val>
                                        </p:tav>
                                      </p:tavLst>
                                    </p:anim>
                                    <p:anim calcmode="lin" valueType="num">
                                      <p:cBhvr additive="base">
                                        <p:cTn id="21" dur="450" decel="100000" fill="hold"/>
                                        <p:tgtEl>
                                          <p:spTgt spid="7"/>
                                        </p:tgtEl>
                                        <p:attrNameLst>
                                          <p:attrName>ppt_h</p:attrName>
                                        </p:attrNameLst>
                                      </p:cBhvr>
                                      <p:tavLst>
                                        <p:tav tm="0">
                                          <p:val>
                                            <p:strVal val="#ppt_h*0.55"/>
                                          </p:val>
                                        </p:tav>
                                        <p:tav tm="100000">
                                          <p:val>
                                            <p:strVal val="#ppt_h"/>
                                          </p:val>
                                        </p:tav>
                                      </p:tavLst>
                                    </p:anim>
                                    <p:animEffect transition="in" filter="fade">
                                      <p:cBhvr>
                                        <p:cTn id="22" dur="450"/>
                                        <p:tgtEl>
                                          <p:spTgt spid="7"/>
                                        </p:tgtEl>
                                      </p:cBhvr>
                                    </p:animEffect>
                                  </p:childTnLst>
                                </p:cTn>
                              </p:par>
                              <p:par>
                                <p:cTn id="23" presetID="42" presetClass="entr" presetSubtype="0" fill="hold" grpId="0" nodeType="withEffect">
                                  <p:stCondLst>
                                    <p:cond delay="65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50"/>
                                        <p:tgtEl>
                                          <p:spTgt spid="8"/>
                                        </p:tgtEl>
                                      </p:cBhvr>
                                    </p:animEffect>
                                    <p:anim calcmode="lin" valueType="num">
                                      <p:cBhvr additive="base">
                                        <p:cTn id="26" dur="550" decel="100000" fill="hold"/>
                                        <p:tgtEl>
                                          <p:spTgt spid="8"/>
                                        </p:tgtEl>
                                        <p:attrNameLst>
                                          <p:attrName>ppt_x</p:attrName>
                                        </p:attrNameLst>
                                      </p:cBhvr>
                                      <p:tavLst>
                                        <p:tav tm="0">
                                          <p:val>
                                            <p:strVal val="#ppt_x-0.035"/>
                                          </p:val>
                                        </p:tav>
                                        <p:tav tm="100000">
                                          <p:val>
                                            <p:strVal val="#ppt_x"/>
                                          </p:val>
                                        </p:tav>
                                      </p:tavLst>
                                    </p:anim>
                                    <p:anim calcmode="lin" valueType="num">
                                      <p:cBhvr additive="base">
                                        <p:cTn id="27" dur="550" decel="100000" fill="hold"/>
                                        <p:tgtEl>
                                          <p:spTgt spid="8"/>
                                        </p:tgtEl>
                                        <p:attrNameLst>
                                          <p:attrName>ppt_y</p:attrName>
                                        </p:attrNameLst>
                                      </p:cBhvr>
                                      <p:tavLst>
                                        <p:tav tm="0">
                                          <p:val>
                                            <p:strVal val="#ppt_y"/>
                                          </p:val>
                                        </p:tav>
                                        <p:tav tm="100000">
                                          <p:val>
                                            <p:strVal val="#ppt_y"/>
                                          </p:val>
                                        </p:tav>
                                      </p:tavLst>
                                    </p:anim>
                                  </p:childTnLst>
                                </p:cTn>
                              </p:par>
                              <p:par>
                                <p:cTn id="28" presetID="53" presetClass="entr" presetSubtype="16" fill="hold" grpId="0" nodeType="withEffect">
                                  <p:stCondLst>
                                    <p:cond delay="78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450" decel="100000" fill="hold"/>
                                        <p:tgtEl>
                                          <p:spTgt spid="9"/>
                                        </p:tgtEl>
                                        <p:attrNameLst>
                                          <p:attrName>ppt_w</p:attrName>
                                        </p:attrNameLst>
                                      </p:cBhvr>
                                      <p:tavLst>
                                        <p:tav tm="0">
                                          <p:val>
                                            <p:strVal val="#ppt_w*0.55"/>
                                          </p:val>
                                        </p:tav>
                                        <p:tav tm="100000">
                                          <p:val>
                                            <p:strVal val="#ppt_w"/>
                                          </p:val>
                                        </p:tav>
                                      </p:tavLst>
                                    </p:anim>
                                    <p:anim calcmode="lin" valueType="num">
                                      <p:cBhvr additive="base">
                                        <p:cTn id="31" dur="450" decel="100000" fill="hold"/>
                                        <p:tgtEl>
                                          <p:spTgt spid="9"/>
                                        </p:tgtEl>
                                        <p:attrNameLst>
                                          <p:attrName>ppt_h</p:attrName>
                                        </p:attrNameLst>
                                      </p:cBhvr>
                                      <p:tavLst>
                                        <p:tav tm="0">
                                          <p:val>
                                            <p:strVal val="#ppt_h*0.55"/>
                                          </p:val>
                                        </p:tav>
                                        <p:tav tm="100000">
                                          <p:val>
                                            <p:strVal val="#ppt_h"/>
                                          </p:val>
                                        </p:tav>
                                      </p:tavLst>
                                    </p:anim>
                                    <p:animEffect transition="in" filter="fade">
                                      <p:cBhvr>
                                        <p:cTn id="32" dur="450"/>
                                        <p:tgtEl>
                                          <p:spTgt spid="9"/>
                                        </p:tgtEl>
                                      </p:cBhvr>
                                    </p:animEffect>
                                  </p:childTnLst>
                                </p:cTn>
                              </p:par>
                              <p:par>
                                <p:cTn id="33" presetID="42" presetClass="entr" presetSubtype="0" fill="hold" grpId="0" nodeType="withEffect">
                                  <p:stCondLst>
                                    <p:cond delay="83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50"/>
                                        <p:tgtEl>
                                          <p:spTgt spid="10"/>
                                        </p:tgtEl>
                                      </p:cBhvr>
                                    </p:animEffect>
                                    <p:anim calcmode="lin" valueType="num">
                                      <p:cBhvr additive="base">
                                        <p:cTn id="36" dur="550" decel="100000" fill="hold"/>
                                        <p:tgtEl>
                                          <p:spTgt spid="10"/>
                                        </p:tgtEl>
                                        <p:attrNameLst>
                                          <p:attrName>ppt_x</p:attrName>
                                        </p:attrNameLst>
                                      </p:cBhvr>
                                      <p:tavLst>
                                        <p:tav tm="0">
                                          <p:val>
                                            <p:strVal val="#ppt_x-0.035"/>
                                          </p:val>
                                        </p:tav>
                                        <p:tav tm="100000">
                                          <p:val>
                                            <p:strVal val="#ppt_x"/>
                                          </p:val>
                                        </p:tav>
                                      </p:tavLst>
                                    </p:anim>
                                    <p:anim calcmode="lin" valueType="num">
                                      <p:cBhvr additive="base">
                                        <p:cTn id="37" dur="550" decel="100000" fill="hold"/>
                                        <p:tgtEl>
                                          <p:spTgt spid="10"/>
                                        </p:tgtEl>
                                        <p:attrNameLst>
                                          <p:attrName>ppt_y</p:attrName>
                                        </p:attrNameLst>
                                      </p:cBhvr>
                                      <p:tavLst>
                                        <p:tav tm="0">
                                          <p:val>
                                            <p:strVal val="#ppt_y"/>
                                          </p:val>
                                        </p:tav>
                                        <p:tav tm="100000">
                                          <p:val>
                                            <p:strVal val="#ppt_y"/>
                                          </p:val>
                                        </p:tav>
                                      </p:tavLst>
                                    </p:anim>
                                  </p:childTnLst>
                                </p:cTn>
                              </p:par>
                              <p:par>
                                <p:cTn id="38" presetID="53" presetClass="entr" presetSubtype="16" fill="hold" grpId="0" nodeType="withEffect">
                                  <p:stCondLst>
                                    <p:cond delay="96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450" decel="100000" fill="hold"/>
                                        <p:tgtEl>
                                          <p:spTgt spid="11"/>
                                        </p:tgtEl>
                                        <p:attrNameLst>
                                          <p:attrName>ppt_w</p:attrName>
                                        </p:attrNameLst>
                                      </p:cBhvr>
                                      <p:tavLst>
                                        <p:tav tm="0">
                                          <p:val>
                                            <p:strVal val="#ppt_w*0.55"/>
                                          </p:val>
                                        </p:tav>
                                        <p:tav tm="100000">
                                          <p:val>
                                            <p:strVal val="#ppt_w"/>
                                          </p:val>
                                        </p:tav>
                                      </p:tavLst>
                                    </p:anim>
                                    <p:anim calcmode="lin" valueType="num">
                                      <p:cBhvr additive="base">
                                        <p:cTn id="41" dur="450" decel="100000" fill="hold"/>
                                        <p:tgtEl>
                                          <p:spTgt spid="11"/>
                                        </p:tgtEl>
                                        <p:attrNameLst>
                                          <p:attrName>ppt_h</p:attrName>
                                        </p:attrNameLst>
                                      </p:cBhvr>
                                      <p:tavLst>
                                        <p:tav tm="0">
                                          <p:val>
                                            <p:strVal val="#ppt_h*0.55"/>
                                          </p:val>
                                        </p:tav>
                                        <p:tav tm="100000">
                                          <p:val>
                                            <p:strVal val="#ppt_h"/>
                                          </p:val>
                                        </p:tav>
                                      </p:tavLst>
                                    </p:anim>
                                    <p:animEffect transition="in" filter="fade">
                                      <p:cBhvr>
                                        <p:cTn id="42" dur="450"/>
                                        <p:tgtEl>
                                          <p:spTgt spid="11"/>
                                        </p:tgtEl>
                                      </p:cBhvr>
                                    </p:animEffect>
                                  </p:childTnLst>
                                </p:cTn>
                              </p:par>
                              <p:par>
                                <p:cTn id="43" presetID="42" presetClass="entr" presetSubtype="0" fill="hold" grpId="0" nodeType="withEffect">
                                  <p:stCondLst>
                                    <p:cond delay="101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50"/>
                                        <p:tgtEl>
                                          <p:spTgt spid="12"/>
                                        </p:tgtEl>
                                      </p:cBhvr>
                                    </p:animEffect>
                                    <p:anim calcmode="lin" valueType="num">
                                      <p:cBhvr additive="base">
                                        <p:cTn id="46" dur="550" decel="100000" fill="hold"/>
                                        <p:tgtEl>
                                          <p:spTgt spid="12"/>
                                        </p:tgtEl>
                                        <p:attrNameLst>
                                          <p:attrName>ppt_x</p:attrName>
                                        </p:attrNameLst>
                                      </p:cBhvr>
                                      <p:tavLst>
                                        <p:tav tm="0">
                                          <p:val>
                                            <p:strVal val="#ppt_x-0.035"/>
                                          </p:val>
                                        </p:tav>
                                        <p:tav tm="100000">
                                          <p:val>
                                            <p:strVal val="#ppt_x"/>
                                          </p:val>
                                        </p:tav>
                                      </p:tavLst>
                                    </p:anim>
                                    <p:anim calcmode="lin" valueType="num">
                                      <p:cBhvr additive="base">
                                        <p:cTn id="47" dur="550" decel="100000" fill="hold"/>
                                        <p:tgtEl>
                                          <p:spTgt spid="12"/>
                                        </p:tgtEl>
                                        <p:attrNameLst>
                                          <p:attrName>ppt_y</p:attrName>
                                        </p:attrNameLst>
                                      </p:cBhvr>
                                      <p:tavLst>
                                        <p:tav tm="0">
                                          <p:val>
                                            <p:strVal val="#ppt_y"/>
                                          </p:val>
                                        </p:tav>
                                        <p:tav tm="100000">
                                          <p:val>
                                            <p:strVal val="#ppt_y"/>
                                          </p:val>
                                        </p:tav>
                                      </p:tavLst>
                                    </p:anim>
                                  </p:childTnLst>
                                </p:cTn>
                              </p:par>
                              <p:par>
                                <p:cTn id="48" presetID="53" presetClass="entr" presetSubtype="16" fill="hold" grpId="0" nodeType="withEffect">
                                  <p:stCondLst>
                                    <p:cond delay="1140"/>
                                  </p:stCondLst>
                                  <p:childTnLst>
                                    <p:set>
                                      <p:cBhvr>
                                        <p:cTn id="49" dur="1" fill="hold">
                                          <p:stCondLst>
                                            <p:cond delay="0"/>
                                          </p:stCondLst>
                                        </p:cTn>
                                        <p:tgtEl>
                                          <p:spTgt spid="13"/>
                                        </p:tgtEl>
                                        <p:attrNameLst>
                                          <p:attrName>style.visibility</p:attrName>
                                        </p:attrNameLst>
                                      </p:cBhvr>
                                      <p:to>
                                        <p:strVal val="visible"/>
                                      </p:to>
                                    </p:set>
                                    <p:anim calcmode="lin" valueType="num">
                                      <p:cBhvr additive="base">
                                        <p:cTn id="50" dur="450" decel="100000" fill="hold"/>
                                        <p:tgtEl>
                                          <p:spTgt spid="13"/>
                                        </p:tgtEl>
                                        <p:attrNameLst>
                                          <p:attrName>ppt_w</p:attrName>
                                        </p:attrNameLst>
                                      </p:cBhvr>
                                      <p:tavLst>
                                        <p:tav tm="0">
                                          <p:val>
                                            <p:strVal val="#ppt_w*0.55"/>
                                          </p:val>
                                        </p:tav>
                                        <p:tav tm="100000">
                                          <p:val>
                                            <p:strVal val="#ppt_w"/>
                                          </p:val>
                                        </p:tav>
                                      </p:tavLst>
                                    </p:anim>
                                    <p:anim calcmode="lin" valueType="num">
                                      <p:cBhvr additive="base">
                                        <p:cTn id="51" dur="450" decel="100000" fill="hold"/>
                                        <p:tgtEl>
                                          <p:spTgt spid="13"/>
                                        </p:tgtEl>
                                        <p:attrNameLst>
                                          <p:attrName>ppt_h</p:attrName>
                                        </p:attrNameLst>
                                      </p:cBhvr>
                                      <p:tavLst>
                                        <p:tav tm="0">
                                          <p:val>
                                            <p:strVal val="#ppt_h*0.55"/>
                                          </p:val>
                                        </p:tav>
                                        <p:tav tm="100000">
                                          <p:val>
                                            <p:strVal val="#ppt_h"/>
                                          </p:val>
                                        </p:tav>
                                      </p:tavLst>
                                    </p:anim>
                                    <p:animEffect transition="in" filter="fade">
                                      <p:cBhvr>
                                        <p:cTn id="52" dur="450"/>
                                        <p:tgtEl>
                                          <p:spTgt spid="13"/>
                                        </p:tgtEl>
                                      </p:cBhvr>
                                    </p:animEffect>
                                  </p:childTnLst>
                                </p:cTn>
                              </p:par>
                              <p:par>
                                <p:cTn id="53" presetID="42" presetClass="entr" presetSubtype="0" fill="hold" grpId="0" nodeType="withEffect">
                                  <p:stCondLst>
                                    <p:cond delay="119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50"/>
                                        <p:tgtEl>
                                          <p:spTgt spid="14"/>
                                        </p:tgtEl>
                                      </p:cBhvr>
                                    </p:animEffect>
                                    <p:anim calcmode="lin" valueType="num">
                                      <p:cBhvr additive="base">
                                        <p:cTn id="56" dur="550" decel="100000" fill="hold"/>
                                        <p:tgtEl>
                                          <p:spTgt spid="14"/>
                                        </p:tgtEl>
                                        <p:attrNameLst>
                                          <p:attrName>ppt_x</p:attrName>
                                        </p:attrNameLst>
                                      </p:cBhvr>
                                      <p:tavLst>
                                        <p:tav tm="0">
                                          <p:val>
                                            <p:strVal val="#ppt_x-0.035"/>
                                          </p:val>
                                        </p:tav>
                                        <p:tav tm="100000">
                                          <p:val>
                                            <p:strVal val="#ppt_x"/>
                                          </p:val>
                                        </p:tav>
                                      </p:tavLst>
                                    </p:anim>
                                    <p:anim calcmode="lin" valueType="num">
                                      <p:cBhvr additive="base">
                                        <p:cTn id="57" dur="550" decel="100000" fill="hold"/>
                                        <p:tgtEl>
                                          <p:spTgt spid="14"/>
                                        </p:tgtEl>
                                        <p:attrNameLst>
                                          <p:attrName>ppt_y</p:attrName>
                                        </p:attrNameLst>
                                      </p:cBhvr>
                                      <p:tavLst>
                                        <p:tav tm="0">
                                          <p:val>
                                            <p:strVal val="#ppt_y"/>
                                          </p:val>
                                        </p:tav>
                                        <p:tav tm="100000">
                                          <p:val>
                                            <p:strVal val="#ppt_y"/>
                                          </p:val>
                                        </p:tav>
                                      </p:tavLst>
                                    </p:anim>
                                  </p:childTnLst>
                                </p:cTn>
                              </p:par>
                              <p:par>
                                <p:cTn id="58" presetID="53" presetClass="entr" presetSubtype="16" fill="hold" grpId="0" nodeType="withEffect">
                                  <p:stCondLst>
                                    <p:cond delay="1320"/>
                                  </p:stCondLst>
                                  <p:childTnLst>
                                    <p:set>
                                      <p:cBhvr>
                                        <p:cTn id="59" dur="1" fill="hold">
                                          <p:stCondLst>
                                            <p:cond delay="0"/>
                                          </p:stCondLst>
                                        </p:cTn>
                                        <p:tgtEl>
                                          <p:spTgt spid="15"/>
                                        </p:tgtEl>
                                        <p:attrNameLst>
                                          <p:attrName>style.visibility</p:attrName>
                                        </p:attrNameLst>
                                      </p:cBhvr>
                                      <p:to>
                                        <p:strVal val="visible"/>
                                      </p:to>
                                    </p:set>
                                    <p:anim calcmode="lin" valueType="num">
                                      <p:cBhvr additive="base">
                                        <p:cTn id="60" dur="450" decel="100000" fill="hold"/>
                                        <p:tgtEl>
                                          <p:spTgt spid="15"/>
                                        </p:tgtEl>
                                        <p:attrNameLst>
                                          <p:attrName>ppt_w</p:attrName>
                                        </p:attrNameLst>
                                      </p:cBhvr>
                                      <p:tavLst>
                                        <p:tav tm="0">
                                          <p:val>
                                            <p:strVal val="#ppt_w*0.55"/>
                                          </p:val>
                                        </p:tav>
                                        <p:tav tm="100000">
                                          <p:val>
                                            <p:strVal val="#ppt_w"/>
                                          </p:val>
                                        </p:tav>
                                      </p:tavLst>
                                    </p:anim>
                                    <p:anim calcmode="lin" valueType="num">
                                      <p:cBhvr additive="base">
                                        <p:cTn id="61" dur="450" decel="100000" fill="hold"/>
                                        <p:tgtEl>
                                          <p:spTgt spid="15"/>
                                        </p:tgtEl>
                                        <p:attrNameLst>
                                          <p:attrName>ppt_h</p:attrName>
                                        </p:attrNameLst>
                                      </p:cBhvr>
                                      <p:tavLst>
                                        <p:tav tm="0">
                                          <p:val>
                                            <p:strVal val="#ppt_h*0.55"/>
                                          </p:val>
                                        </p:tav>
                                        <p:tav tm="100000">
                                          <p:val>
                                            <p:strVal val="#ppt_h"/>
                                          </p:val>
                                        </p:tav>
                                      </p:tavLst>
                                    </p:anim>
                                    <p:animEffect transition="in" filter="fade">
                                      <p:cBhvr>
                                        <p:cTn id="62" dur="450"/>
                                        <p:tgtEl>
                                          <p:spTgt spid="15"/>
                                        </p:tgtEl>
                                      </p:cBhvr>
                                    </p:animEffect>
                                  </p:childTnLst>
                                </p:cTn>
                              </p:par>
                              <p:par>
                                <p:cTn id="63" presetID="42" presetClass="entr" presetSubtype="0" fill="hold" grpId="0" nodeType="withEffect">
                                  <p:stCondLst>
                                    <p:cond delay="137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550"/>
                                        <p:tgtEl>
                                          <p:spTgt spid="16"/>
                                        </p:tgtEl>
                                      </p:cBhvr>
                                    </p:animEffect>
                                    <p:anim calcmode="lin" valueType="num">
                                      <p:cBhvr additive="base">
                                        <p:cTn id="66" dur="550" decel="100000" fill="hold"/>
                                        <p:tgtEl>
                                          <p:spTgt spid="16"/>
                                        </p:tgtEl>
                                        <p:attrNameLst>
                                          <p:attrName>ppt_x</p:attrName>
                                        </p:attrNameLst>
                                      </p:cBhvr>
                                      <p:tavLst>
                                        <p:tav tm="0">
                                          <p:val>
                                            <p:strVal val="#ppt_x-0.035"/>
                                          </p:val>
                                        </p:tav>
                                        <p:tav tm="100000">
                                          <p:val>
                                            <p:strVal val="#ppt_x"/>
                                          </p:val>
                                        </p:tav>
                                      </p:tavLst>
                                    </p:anim>
                                    <p:anim calcmode="lin" valueType="num">
                                      <p:cBhvr additive="base">
                                        <p:cTn id="67" dur="550" decel="1000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68" fill="hold" display="0">
                  <p:stCondLst>
                    <p:cond delay="indefinite"/>
                  </p:stCondLst>
                </p:cTn>
                <p:tgtEl>
                  <p:spTgt spid="3"/>
                </p:tgtEl>
              </p:cMediaNode>
            </p:video>
            <p:seq concurrent="1" nextAc="seek">
              <p:cTn id="69" restart="whenNotActive" fill="hold" evtFilter="cancelBubble" nodeType="interactiveSeq">
                <p:stCondLst>
                  <p:cond evt="onClick" delay="0">
                    <p:tgtEl>
                      <p:spTgt spid="3"/>
                    </p:tgtEl>
                  </p:cond>
                </p:stCondLst>
                <p:endSync evt="end" delay="0">
                  <p:rtn val="all"/>
                </p:endSync>
                <p:childTnLst>
                  <p:par>
                    <p:cTn id="70" fill="hold">
                      <p:stCondLst>
                        <p:cond delay="0"/>
                      </p:stCondLst>
                      <p:childTnLst>
                        <p:par>
                          <p:cTn id="71" fill="hold">
                            <p:stCondLst>
                              <p:cond delay="0"/>
                            </p:stCondLst>
                            <p:childTnLst>
                              <p:par>
                                <p:cTn id="72" presetID="2" presetClass="mediacall" presetSubtype="0" fill="hold" nodeType="clickEffect">
                                  <p:stCondLst>
                                    <p:cond delay="0"/>
                                  </p:stCondLst>
                                  <p:childTnLst>
                                    <p:cmd type="call" cmd="togglePause">
                                      <p:cBhvr>
                                        <p:cTn id="73" dur="1" fill="hold"/>
                                        <p:tgtEl>
                                          <p:spTgt spid="3"/>
                                        </p:tgtEl>
                                      </p:cBhvr>
                                    </p:cmd>
                                  </p:childTnLst>
                                </p:cTn>
                              </p:par>
                            </p:childTnLst>
                          </p:cTn>
                        </p:par>
                      </p:childTnLst>
                    </p:cTn>
                  </p:par>
                </p:childTnLst>
              </p:cTn>
              <p:nextCondLst>
                <p:cond evt="onNext" delay="0">
                  <p:tgtEl>
                    <p:spTgt spid="3"/>
                  </p:tgtEl>
                </p:cond>
              </p:nextCondLst>
            </p:seq>
          </p:childTnLst>
        </p:cTn>
      </p:par>
    </p:tnLst>
    <p:bldLst>
      <p:bldP spid="4"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
          <p:cNvSpPr/>
          <p:nvPr>
            <p:ph idx="100" type="body" hasCustomPrompt="1"/>
          </p:nvPr>
        </p:nvSpPr>
        <p:spPr>
          <a:xfrm>
            <a:off x="548640" y="384048"/>
            <a:ext cx="7863840" cy="310896"/>
          </a:xfrm>
          <a:prstGeom prst="rect">
            <a:avLst/>
          </a:prstGeom>
          <a:noFill/>
          <a:ln/>
        </p:spPr>
        <p:txBody>
          <a:bodyPr wrap="square" lIns="0" tIns="0" rIns="0" bIns="0" rtlCol="0" anchor="ctr"/>
          <a:lstStyle/>
          <a:p>
            <a:pPr algn="l" indent="0" marL="0">
              <a:buNone/>
            </a:pPr>
            <a:r>
              <a:rPr lang="en-US" sz="1300" b="1" spc="300" kern="0" dirty="0">
                <a:solidFill>
                  <a:schemeClr val="accent1"/>
                </a:solidFill>
              </a:rPr>
              <a:t>VALIDATION</a:t>
            </a:r>
            <a:endParaRPr lang="en-US" sz="1300" dirty="0"/>
          </a:p>
        </p:txBody>
      </p:sp>
      <p:sp>
        <p:nvSpPr>
          <p:cNvPr id="3" name="ttl"/>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200" b="1" dirty="0">
                <a:solidFill>
                  <a:schemeClr val="bg1"/>
                </a:solidFill>
              </a:rPr>
              <a:t>Measured on patients where we know the truth</a:t>
            </a:r>
            <a:endParaRPr lang="en-US" sz="3200" dirty="0"/>
          </a:p>
        </p:txBody>
      </p:sp>
      <p:sp>
        <p:nvSpPr>
          <p:cNvPr id="4" name="ce"/>
          <p:cNvSpPr/>
          <p:nvPr/>
        </p:nvSpPr>
        <p:spPr>
          <a:xfrm>
            <a:off x="548640" y="1691640"/>
            <a:ext cx="5440680" cy="3657600"/>
          </a:xfrm>
          <a:prstGeom prst="roundRect">
            <a:avLst>
              <a:gd name="adj" fmla="val 3000"/>
            </a:avLst>
          </a:prstGeom>
          <a:solidFill>
            <a:schemeClr val="tx2"/>
          </a:solidFill>
          <a:ln w="9525">
            <a:solidFill>
              <a:schemeClr val="accent6"/>
            </a:solidFill>
            <a:prstDash val="solid"/>
          </a:ln>
        </p:spPr>
      </p:sp>
      <p:sp>
        <p:nvSpPr>
          <p:cNvPr id="5" name="ce_h"/>
          <p:cNvSpPr txBox="1"/>
          <p:nvPr/>
        </p:nvSpPr>
        <p:spPr>
          <a:xfrm>
            <a:off x="777240" y="1828800"/>
            <a:ext cx="3931920" cy="640080"/>
          </a:xfrm>
          <a:prstGeom prst="rect">
            <a:avLst/>
          </a:prstGeom>
          <a:noFill/>
          <a:ln/>
        </p:spPr>
        <p:txBody>
          <a:bodyPr wrap="square" lIns="0" tIns="0" rIns="0" bIns="0" rtlCol="0" anchor="t"/>
          <a:lstStyle/>
          <a:p>
            <a:pPr indent="0" marL="0">
              <a:buNone/>
            </a:pPr>
            <a:r>
              <a:rPr lang="en-US" sz="1700" b="1" dirty="0">
                <a:solidFill>
                  <a:schemeClr val="bg1"/>
                </a:solidFill>
              </a:rPr>
              <a:t>Alignment error, mm</a:t>
            </a:r>
            <a:endParaRPr lang="en-US" sz="1700" dirty="0"/>
          </a:p>
          <a:p>
            <a:pPr indent="0" marL="0">
              <a:buNone/>
            </a:pPr>
            <a:r>
              <a:rPr lang="en-US" sz="1200" dirty="0">
                <a:solidFill>
                  <a:schemeClr val="bg2"/>
                </a:solidFill>
              </a:rPr>
              <a:t>lower is better · auto mode picks rigid MI</a:t>
            </a:r>
            <a:endParaRPr lang="en-US" sz="1700" dirty="0"/>
          </a:p>
        </p:txBody>
      </p:sp>
      <p:sp>
        <p:nvSpPr>
          <p:cNvPr id="6" name="ce_b"/>
          <p:cNvSpPr txBox="1"/>
          <p:nvPr/>
        </p:nvSpPr>
        <p:spPr>
          <a:xfrm>
            <a:off x="4480560" y="1828800"/>
            <a:ext cx="1280160" cy="548640"/>
          </a:xfrm>
          <a:prstGeom prst="rect">
            <a:avLst/>
          </a:prstGeom>
          <a:noFill/>
          <a:ln/>
        </p:spPr>
        <p:txBody>
          <a:bodyPr wrap="square" lIns="0" tIns="0" rIns="0" bIns="0" rtlCol="0" anchor="ctr"/>
          <a:lstStyle/>
          <a:p>
            <a:pPr algn="r" indent="0" marL="0">
              <a:buNone/>
            </a:pPr>
            <a:r>
              <a:rPr lang="en-US" sz="2600" b="1" dirty="0">
                <a:solidFill>
                  <a:schemeClr val="accent3"/>
                </a:solidFill>
              </a:rPr>
              <a:t>−93 %</a:t>
            </a:r>
            <a:endParaRPr lang="en-US" sz="2600" dirty="0"/>
          </a:p>
        </p:txBody>
      </p:sp>
      <p:graphicFrame>
        <p:nvGraphicFramePr>
          <p:cNvPr id="7" name="ce_chart" descr=""/>
          <p:cNvGraphicFramePr/>
          <p:nvPr/>
        </p:nvGraphicFramePr>
        <p:xfrm>
          <a:off x="685800" y="2514600"/>
          <a:ext cx="5166360" cy="2743200"/>
        </p:xfrm>
        <a:graphic xmlns:a="http://schemas.openxmlformats.org/drawingml/2006/main">
          <a:graphicData uri="http://schemas.openxmlformats.org/drawingml/2006/chart">
            <c:chart xmlns:c="http://schemas.openxmlformats.org/drawingml/2006/chart" r:id="rId1"/>
          </a:graphicData>
        </a:graphic>
      </p:graphicFrame>
      <p:sp>
        <p:nvSpPr>
          <p:cNvPr id="8" name="cq"/>
          <p:cNvSpPr/>
          <p:nvPr/>
        </p:nvSpPr>
        <p:spPr>
          <a:xfrm>
            <a:off x="6199632" y="1691640"/>
            <a:ext cx="5440680" cy="3657600"/>
          </a:xfrm>
          <a:prstGeom prst="roundRect">
            <a:avLst>
              <a:gd name="adj" fmla="val 3000"/>
            </a:avLst>
          </a:prstGeom>
          <a:solidFill>
            <a:schemeClr val="tx2"/>
          </a:solidFill>
          <a:ln w="9525">
            <a:solidFill>
              <a:schemeClr val="accent6"/>
            </a:solidFill>
            <a:prstDash val="solid"/>
          </a:ln>
        </p:spPr>
      </p:sp>
      <p:sp>
        <p:nvSpPr>
          <p:cNvPr id="9" name="cq_h"/>
          <p:cNvSpPr txBox="1"/>
          <p:nvPr/>
        </p:nvSpPr>
        <p:spPr>
          <a:xfrm>
            <a:off x="6428232" y="1828800"/>
            <a:ext cx="3931920" cy="640080"/>
          </a:xfrm>
          <a:prstGeom prst="rect">
            <a:avLst/>
          </a:prstGeom>
          <a:noFill/>
          <a:ln/>
        </p:spPr>
        <p:txBody>
          <a:bodyPr wrap="square" lIns="0" tIns="0" rIns="0" bIns="0" rtlCol="0" anchor="t"/>
          <a:lstStyle/>
          <a:p>
            <a:pPr indent="0" marL="0">
              <a:buNone/>
            </a:pPr>
            <a:r>
              <a:rPr lang="en-US" sz="1700" b="1" dirty="0">
                <a:solidFill>
                  <a:schemeClr val="bg1"/>
                </a:solidFill>
              </a:rPr>
              <a:t>PET image fidelity, PSNR in dB</a:t>
            </a:r>
            <a:endParaRPr lang="en-US" sz="1700" dirty="0"/>
          </a:p>
          <a:p>
            <a:pPr indent="0" marL="0">
              <a:buNone/>
            </a:pPr>
            <a:r>
              <a:rPr lang="en-US" sz="1200" dirty="0">
                <a:solidFill>
                  <a:schemeClr val="bg2"/>
                </a:solidFill>
              </a:rPr>
              <a:t>higher is better</a:t>
            </a:r>
            <a:endParaRPr lang="en-US" sz="1700" dirty="0"/>
          </a:p>
        </p:txBody>
      </p:sp>
      <p:sp>
        <p:nvSpPr>
          <p:cNvPr id="10" name="cq_b"/>
          <p:cNvSpPr txBox="1"/>
          <p:nvPr/>
        </p:nvSpPr>
        <p:spPr>
          <a:xfrm>
            <a:off x="10131552" y="1828800"/>
            <a:ext cx="1280160" cy="548640"/>
          </a:xfrm>
          <a:prstGeom prst="rect">
            <a:avLst/>
          </a:prstGeom>
          <a:noFill/>
          <a:ln/>
        </p:spPr>
        <p:txBody>
          <a:bodyPr wrap="square" lIns="0" tIns="0" rIns="0" bIns="0" rtlCol="0" anchor="ctr"/>
          <a:lstStyle/>
          <a:p>
            <a:pPr algn="r" indent="0" marL="0">
              <a:buNone/>
            </a:pPr>
            <a:r>
              <a:rPr lang="en-US" sz="2600" b="1" dirty="0">
                <a:solidFill>
                  <a:schemeClr val="accent1"/>
                </a:solidFill>
              </a:rPr>
              <a:t>+10 dB</a:t>
            </a:r>
            <a:endParaRPr lang="en-US" sz="2600" dirty="0"/>
          </a:p>
        </p:txBody>
      </p:sp>
      <p:graphicFrame>
        <p:nvGraphicFramePr>
          <p:cNvPr id="11" name="cq_chart" descr=""/>
          <p:cNvGraphicFramePr/>
          <p:nvPr/>
        </p:nvGraphicFramePr>
        <p:xfrm>
          <a:off x="6336792" y="2514600"/>
          <a:ext cx="5166360" cy="2743200"/>
        </p:xfrm>
        <a:graphic xmlns:a="http://schemas.openxmlformats.org/drawingml/2006/main">
          <a:graphicData uri="http://schemas.openxmlformats.org/drawingml/2006/chart">
            <c:chart xmlns:c="http://schemas.openxmlformats.org/drawingml/2006/chart" r:id="rId2"/>
          </a:graphicData>
        </a:graphic>
      </p:graphicFrame>
      <p:sp>
        <p:nvSpPr>
          <p:cNvPr id="12" name="strip"/>
          <p:cNvSpPr/>
          <p:nvPr/>
        </p:nvSpPr>
        <p:spPr>
          <a:xfrm>
            <a:off x="548640" y="5486400"/>
            <a:ext cx="11091672" cy="658368"/>
          </a:xfrm>
          <a:prstGeom prst="roundRect">
            <a:avLst>
              <a:gd name="adj" fmla="val 16667"/>
            </a:avLst>
          </a:prstGeom>
          <a:solidFill>
            <a:schemeClr val="tx2"/>
          </a:solidFill>
          <a:ln w="9525">
            <a:solidFill>
              <a:schemeClr val="accent6"/>
            </a:solidFill>
            <a:prstDash val="solid"/>
          </a:ln>
        </p:spPr>
      </p:sp>
      <p:sp>
        <p:nvSpPr>
          <p:cNvPr id="13" name="st0"/>
          <p:cNvSpPr txBox="1"/>
          <p:nvPr/>
        </p:nvSpPr>
        <p:spPr>
          <a:xfrm>
            <a:off x="548640" y="5486400"/>
            <a:ext cx="2772918" cy="658368"/>
          </a:xfrm>
          <a:prstGeom prst="rect">
            <a:avLst/>
          </a:prstGeom>
          <a:noFill/>
          <a:ln/>
        </p:spPr>
        <p:txBody>
          <a:bodyPr wrap="square" lIns="0" tIns="0" rIns="0" bIns="0" rtlCol="0" anchor="ctr"/>
          <a:lstStyle/>
          <a:p>
            <a:pPr algn="ctr" indent="0" marL="0">
              <a:buNone/>
            </a:pPr>
            <a:r>
              <a:rPr lang="en-US" sz="2200" b="1" dirty="0">
                <a:solidFill>
                  <a:schemeClr val="bg1"/>
                </a:solidFill>
              </a:rPr>
              <a:t>12</a:t>
            </a:r>
            <a:pPr algn="ctr" indent="0" marL="0">
              <a:buNone/>
            </a:pPr>
            <a:r>
              <a:rPr lang="en-US" sz="1400" dirty="0">
                <a:solidFill>
                  <a:schemeClr val="bg2"/>
                </a:solidFill>
              </a:rPr>
              <a:t> held-out test patients</a:t>
            </a:r>
            <a:endParaRPr lang="en-US" sz="2200" dirty="0"/>
          </a:p>
        </p:txBody>
      </p:sp>
      <p:sp>
        <p:nvSpPr>
          <p:cNvPr id="14" name="st1"/>
          <p:cNvSpPr txBox="1"/>
          <p:nvPr/>
        </p:nvSpPr>
        <p:spPr>
          <a:xfrm>
            <a:off x="3321558" y="5486400"/>
            <a:ext cx="2772918" cy="658368"/>
          </a:xfrm>
          <a:prstGeom prst="rect">
            <a:avLst/>
          </a:prstGeom>
          <a:noFill/>
          <a:ln/>
        </p:spPr>
        <p:txBody>
          <a:bodyPr wrap="square" lIns="0" tIns="0" rIns="0" bIns="0" rtlCol="0" anchor="ctr"/>
          <a:lstStyle/>
          <a:p>
            <a:pPr algn="ctr" indent="0" marL="0">
              <a:buNone/>
            </a:pPr>
            <a:r>
              <a:rPr lang="en-US" sz="2200" b="1" dirty="0">
                <a:solidFill>
                  <a:schemeClr val="accent3"/>
                </a:solidFill>
              </a:rPr>
              <a:t>100 %</a:t>
            </a:r>
            <a:pPr algn="ctr" indent="0" marL="0">
              <a:buNone/>
            </a:pPr>
            <a:r>
              <a:rPr lang="en-US" sz="1400" dirty="0">
                <a:solidFill>
                  <a:schemeClr val="bg2"/>
                </a:solidFill>
              </a:rPr>
              <a:t> of tumours detected</a:t>
            </a:r>
            <a:endParaRPr lang="en-US" sz="2200" dirty="0"/>
          </a:p>
        </p:txBody>
      </p:sp>
      <p:sp>
        <p:nvSpPr>
          <p:cNvPr id="15" name="st2"/>
          <p:cNvSpPr txBox="1"/>
          <p:nvPr/>
        </p:nvSpPr>
        <p:spPr>
          <a:xfrm>
            <a:off x="6094476" y="5486400"/>
            <a:ext cx="2772918" cy="658368"/>
          </a:xfrm>
          <a:prstGeom prst="rect">
            <a:avLst/>
          </a:prstGeom>
          <a:noFill/>
          <a:ln/>
        </p:spPr>
        <p:txBody>
          <a:bodyPr wrap="square" lIns="0" tIns="0" rIns="0" bIns="0" rtlCol="0" anchor="ctr"/>
          <a:lstStyle/>
          <a:p>
            <a:pPr algn="ctr" indent="0" marL="0">
              <a:buNone/>
            </a:pPr>
            <a:r>
              <a:rPr lang="en-US" sz="2200" b="1" dirty="0">
                <a:solidFill>
                  <a:schemeClr val="accent3"/>
                </a:solidFill>
              </a:rPr>
              <a:t>0</a:t>
            </a:r>
            <a:pPr algn="ctr" indent="0" marL="0">
              <a:buNone/>
            </a:pPr>
            <a:r>
              <a:rPr lang="en-US" sz="1400" dirty="0">
                <a:solidFill>
                  <a:schemeClr val="bg2"/>
                </a:solidFill>
              </a:rPr>
              <a:t> false positives</a:t>
            </a:r>
            <a:endParaRPr lang="en-US" sz="2200" dirty="0"/>
          </a:p>
        </p:txBody>
      </p:sp>
      <p:sp>
        <p:nvSpPr>
          <p:cNvPr id="16" name="st3"/>
          <p:cNvSpPr txBox="1"/>
          <p:nvPr/>
        </p:nvSpPr>
        <p:spPr>
          <a:xfrm>
            <a:off x="8867394" y="5486400"/>
            <a:ext cx="2772918" cy="658368"/>
          </a:xfrm>
          <a:prstGeom prst="rect">
            <a:avLst/>
          </a:prstGeom>
          <a:noFill/>
          <a:ln/>
        </p:spPr>
        <p:txBody>
          <a:bodyPr wrap="square" lIns="0" tIns="0" rIns="0" bIns="0" rtlCol="0" anchor="ctr"/>
          <a:lstStyle/>
          <a:p>
            <a:pPr algn="ctr" indent="0" marL="0">
              <a:buNone/>
            </a:pPr>
            <a:r>
              <a:rPr lang="en-US" sz="2200" b="1" dirty="0">
                <a:solidFill>
                  <a:schemeClr val="accent3"/>
                </a:solidFill>
              </a:rPr>
              <a:t>1 mm</a:t>
            </a:r>
            <a:pPr algn="ctr" indent="0" marL="0">
              <a:buNone/>
            </a:pPr>
            <a:r>
              <a:rPr lang="en-US" sz="1400" dirty="0">
                <a:solidFill>
                  <a:schemeClr val="bg2"/>
                </a:solidFill>
              </a:rPr>
              <a:t> exact ground-truth grid</a:t>
            </a:r>
            <a:endParaRPr lang="en-US" sz="22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22" presetClass="entr" presetSubtype="4" fill="hold" grpId="0" nodeType="withEffect">
                                  <p:stCondLst>
                                    <p:cond delay="25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900"/>
                                        <p:tgtEl>
                                          <p:spTgt spid="7"/>
                                        </p:tgtEl>
                                      </p:cBhvr>
                                    </p:animEffect>
                                  </p:childTnLst>
                                </p:cTn>
                              </p:par>
                              <p:par>
                                <p:cTn id="14" presetID="10" presetClass="entr" presetSubtype="0" fill="hold" grpId="0" nodeType="withEffect">
                                  <p:stCondLst>
                                    <p:cond delay="6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22" presetClass="entr" presetSubtype="4" fill="hold" grpId="0" nodeType="withEffect">
                                  <p:stCondLst>
                                    <p:cond delay="85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900"/>
                                        <p:tgtEl>
                                          <p:spTgt spid="11"/>
                                        </p:tgtEl>
                                      </p:cBhvr>
                                    </p:animEffect>
                                  </p:childTnLst>
                                </p:cTn>
                              </p:par>
                              <p:par>
                                <p:cTn id="23" presetID="53" presetClass="entr" presetSubtype="16" fill="hold" grpId="0" nodeType="withEffect">
                                  <p:stCondLst>
                                    <p:cond delay="110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decel="100000" fill="hold"/>
                                        <p:tgtEl>
                                          <p:spTgt spid="6"/>
                                        </p:tgtEl>
                                        <p:attrNameLst>
                                          <p:attrName>ppt_w</p:attrName>
                                        </p:attrNameLst>
                                      </p:cBhvr>
                                      <p:tavLst>
                                        <p:tav tm="0">
                                          <p:val>
                                            <p:strVal val="#ppt_w*0.55"/>
                                          </p:val>
                                        </p:tav>
                                        <p:tav tm="100000">
                                          <p:val>
                                            <p:strVal val="#ppt_w"/>
                                          </p:val>
                                        </p:tav>
                                      </p:tavLst>
                                    </p:anim>
                                    <p:anim calcmode="lin" valueType="num">
                                      <p:cBhvr additive="base">
                                        <p:cTn id="26" dur="500" decel="100000" fill="hold"/>
                                        <p:tgtEl>
                                          <p:spTgt spid="6"/>
                                        </p:tgtEl>
                                        <p:attrNameLst>
                                          <p:attrName>ppt_h</p:attrName>
                                        </p:attrNameLst>
                                      </p:cBhvr>
                                      <p:tavLst>
                                        <p:tav tm="0">
                                          <p:val>
                                            <p:strVal val="#ppt_h*0.55"/>
                                          </p:val>
                                        </p:tav>
                                        <p:tav tm="100000">
                                          <p:val>
                                            <p:strVal val="#ppt_h"/>
                                          </p:val>
                                        </p:tav>
                                      </p:tavLst>
                                    </p:anim>
                                    <p:animEffect transition="in" filter="fade">
                                      <p:cBhvr>
                                        <p:cTn id="27" dur="500"/>
                                        <p:tgtEl>
                                          <p:spTgt spid="6"/>
                                        </p:tgtEl>
                                      </p:cBhvr>
                                    </p:animEffect>
                                  </p:childTnLst>
                                </p:cTn>
                              </p:par>
                              <p:par>
                                <p:cTn id="28" presetID="53" presetClass="entr" presetSubtype="16" fill="hold" grpId="0" nodeType="withEffect">
                                  <p:stCondLst>
                                    <p:cond delay="170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decel="100000" fill="hold"/>
                                        <p:tgtEl>
                                          <p:spTgt spid="10"/>
                                        </p:tgtEl>
                                        <p:attrNameLst>
                                          <p:attrName>ppt_w</p:attrName>
                                        </p:attrNameLst>
                                      </p:cBhvr>
                                      <p:tavLst>
                                        <p:tav tm="0">
                                          <p:val>
                                            <p:strVal val="#ppt_w*0.55"/>
                                          </p:val>
                                        </p:tav>
                                        <p:tav tm="100000">
                                          <p:val>
                                            <p:strVal val="#ppt_w"/>
                                          </p:val>
                                        </p:tav>
                                      </p:tavLst>
                                    </p:anim>
                                    <p:anim calcmode="lin" valueType="num">
                                      <p:cBhvr additive="base">
                                        <p:cTn id="31" dur="500" decel="100000" fill="hold"/>
                                        <p:tgtEl>
                                          <p:spTgt spid="10"/>
                                        </p:tgtEl>
                                        <p:attrNameLst>
                                          <p:attrName>ppt_h</p:attrName>
                                        </p:attrNameLst>
                                      </p:cBhvr>
                                      <p:tavLst>
                                        <p:tav tm="0">
                                          <p:val>
                                            <p:strVal val="#ppt_h*0.55"/>
                                          </p:val>
                                        </p:tav>
                                        <p:tav tm="100000">
                                          <p:val>
                                            <p:strVal val="#ppt_h"/>
                                          </p:val>
                                        </p:tav>
                                      </p:tavLst>
                                    </p:anim>
                                    <p:animEffect transition="in" filter="fade">
                                      <p:cBhvr>
                                        <p:cTn id="32" dur="500"/>
                                        <p:tgtEl>
                                          <p:spTgt spid="10"/>
                                        </p:tgtEl>
                                      </p:cBhvr>
                                    </p:animEffect>
                                  </p:childTnLst>
                                </p:cTn>
                              </p:par>
                              <p:par>
                                <p:cTn id="33" presetID="42" presetClass="entr" presetSubtype="0" fill="hold" grpId="0" nodeType="withEffect">
                                  <p:stCondLst>
                                    <p:cond delay="190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600"/>
                                        <p:tgtEl>
                                          <p:spTgt spid="12"/>
                                        </p:tgtEl>
                                      </p:cBhvr>
                                    </p:animEffect>
                                    <p:anim calcmode="lin" valueType="num">
                                      <p:cBhvr additive="base">
                                        <p:cTn id="36" dur="600" decel="100000" fill="hold"/>
                                        <p:tgtEl>
                                          <p:spTgt spid="12"/>
                                        </p:tgtEl>
                                        <p:attrNameLst>
                                          <p:attrName>ppt_x</p:attrName>
                                        </p:attrNameLst>
                                      </p:cBhvr>
                                      <p:tavLst>
                                        <p:tav tm="0">
                                          <p:val>
                                            <p:strVal val="#ppt_x"/>
                                          </p:val>
                                        </p:tav>
                                        <p:tav tm="100000">
                                          <p:val>
                                            <p:strVal val="#ppt_x"/>
                                          </p:val>
                                        </p:tav>
                                      </p:tavLst>
                                    </p:anim>
                                    <p:anim calcmode="lin" valueType="num">
                                      <p:cBhvr additive="base">
                                        <p:cTn id="37" dur="600" decel="100000" fill="hold"/>
                                        <p:tgtEl>
                                          <p:spTgt spid="12"/>
                                        </p:tgtEl>
                                        <p:attrNameLst>
                                          <p:attrName>ppt_y</p:attrName>
                                        </p:attrNameLst>
                                      </p:cBhvr>
                                      <p:tavLst>
                                        <p:tav tm="0">
                                          <p:val>
                                            <p:strVal val="#ppt_y+0.05"/>
                                          </p:val>
                                        </p:tav>
                                        <p:tav tm="100000">
                                          <p:val>
                                            <p:strVal val="#ppt_y"/>
                                          </p:val>
                                        </p:tav>
                                      </p:tavLst>
                                    </p:anim>
                                  </p:childTnLst>
                                </p:cTn>
                              </p:par>
                              <p:par>
                                <p:cTn id="38" presetID="42" presetClass="entr" presetSubtype="0" fill="hold" grpId="0" nodeType="withEffect">
                                  <p:stCondLst>
                                    <p:cond delay="190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600"/>
                                        <p:tgtEl>
                                          <p:spTgt spid="13"/>
                                        </p:tgtEl>
                                      </p:cBhvr>
                                    </p:animEffect>
                                    <p:anim calcmode="lin" valueType="num">
                                      <p:cBhvr additive="base">
                                        <p:cTn id="41" dur="600" decel="100000" fill="hold"/>
                                        <p:tgtEl>
                                          <p:spTgt spid="13"/>
                                        </p:tgtEl>
                                        <p:attrNameLst>
                                          <p:attrName>ppt_x</p:attrName>
                                        </p:attrNameLst>
                                      </p:cBhvr>
                                      <p:tavLst>
                                        <p:tav tm="0">
                                          <p:val>
                                            <p:strVal val="#ppt_x"/>
                                          </p:val>
                                        </p:tav>
                                        <p:tav tm="100000">
                                          <p:val>
                                            <p:strVal val="#ppt_x"/>
                                          </p:val>
                                        </p:tav>
                                      </p:tavLst>
                                    </p:anim>
                                    <p:anim calcmode="lin" valueType="num">
                                      <p:cBhvr additive="base">
                                        <p:cTn id="42" dur="600" decel="100000" fill="hold"/>
                                        <p:tgtEl>
                                          <p:spTgt spid="13"/>
                                        </p:tgtEl>
                                        <p:attrNameLst>
                                          <p:attrName>ppt_y</p:attrName>
                                        </p:attrNameLst>
                                      </p:cBhvr>
                                      <p:tavLst>
                                        <p:tav tm="0">
                                          <p:val>
                                            <p:strVal val="#ppt_y+0.05"/>
                                          </p:val>
                                        </p:tav>
                                        <p:tav tm="100000">
                                          <p:val>
                                            <p:strVal val="#ppt_y"/>
                                          </p:val>
                                        </p:tav>
                                      </p:tavLst>
                                    </p:anim>
                                  </p:childTnLst>
                                </p:cTn>
                              </p:par>
                              <p:par>
                                <p:cTn id="43" presetID="42" presetClass="entr" presetSubtype="0" fill="hold" grpId="0" nodeType="withEffect">
                                  <p:stCondLst>
                                    <p:cond delay="202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600"/>
                                        <p:tgtEl>
                                          <p:spTgt spid="14"/>
                                        </p:tgtEl>
                                      </p:cBhvr>
                                    </p:animEffect>
                                    <p:anim calcmode="lin" valueType="num">
                                      <p:cBhvr additive="base">
                                        <p:cTn id="46" dur="600" decel="100000" fill="hold"/>
                                        <p:tgtEl>
                                          <p:spTgt spid="14"/>
                                        </p:tgtEl>
                                        <p:attrNameLst>
                                          <p:attrName>ppt_x</p:attrName>
                                        </p:attrNameLst>
                                      </p:cBhvr>
                                      <p:tavLst>
                                        <p:tav tm="0">
                                          <p:val>
                                            <p:strVal val="#ppt_x"/>
                                          </p:val>
                                        </p:tav>
                                        <p:tav tm="100000">
                                          <p:val>
                                            <p:strVal val="#ppt_x"/>
                                          </p:val>
                                        </p:tav>
                                      </p:tavLst>
                                    </p:anim>
                                    <p:anim calcmode="lin" valueType="num">
                                      <p:cBhvr additive="base">
                                        <p:cTn id="47" dur="600" decel="100000" fill="hold"/>
                                        <p:tgtEl>
                                          <p:spTgt spid="14"/>
                                        </p:tgtEl>
                                        <p:attrNameLst>
                                          <p:attrName>ppt_y</p:attrName>
                                        </p:attrNameLst>
                                      </p:cBhvr>
                                      <p:tavLst>
                                        <p:tav tm="0">
                                          <p:val>
                                            <p:strVal val="#ppt_y+0.05"/>
                                          </p:val>
                                        </p:tav>
                                        <p:tav tm="100000">
                                          <p:val>
                                            <p:strVal val="#ppt_y"/>
                                          </p:val>
                                        </p:tav>
                                      </p:tavLst>
                                    </p:anim>
                                  </p:childTnLst>
                                </p:cTn>
                              </p:par>
                              <p:par>
                                <p:cTn id="48" presetID="42" presetClass="entr" presetSubtype="0" fill="hold" grpId="0" nodeType="withEffect">
                                  <p:stCondLst>
                                    <p:cond delay="214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600"/>
                                        <p:tgtEl>
                                          <p:spTgt spid="15"/>
                                        </p:tgtEl>
                                      </p:cBhvr>
                                    </p:animEffect>
                                    <p:anim calcmode="lin" valueType="num">
                                      <p:cBhvr additive="base">
                                        <p:cTn id="51" dur="600" decel="100000" fill="hold"/>
                                        <p:tgtEl>
                                          <p:spTgt spid="15"/>
                                        </p:tgtEl>
                                        <p:attrNameLst>
                                          <p:attrName>ppt_x</p:attrName>
                                        </p:attrNameLst>
                                      </p:cBhvr>
                                      <p:tavLst>
                                        <p:tav tm="0">
                                          <p:val>
                                            <p:strVal val="#ppt_x"/>
                                          </p:val>
                                        </p:tav>
                                        <p:tav tm="100000">
                                          <p:val>
                                            <p:strVal val="#ppt_x"/>
                                          </p:val>
                                        </p:tav>
                                      </p:tavLst>
                                    </p:anim>
                                    <p:anim calcmode="lin" valueType="num">
                                      <p:cBhvr additive="base">
                                        <p:cTn id="52" dur="600" decel="100000" fill="hold"/>
                                        <p:tgtEl>
                                          <p:spTgt spid="15"/>
                                        </p:tgtEl>
                                        <p:attrNameLst>
                                          <p:attrName>ppt_y</p:attrName>
                                        </p:attrNameLst>
                                      </p:cBhvr>
                                      <p:tavLst>
                                        <p:tav tm="0">
                                          <p:val>
                                            <p:strVal val="#ppt_y+0.05"/>
                                          </p:val>
                                        </p:tav>
                                        <p:tav tm="100000">
                                          <p:val>
                                            <p:strVal val="#ppt_y"/>
                                          </p:val>
                                        </p:tav>
                                      </p:tavLst>
                                    </p:anim>
                                  </p:childTnLst>
                                </p:cTn>
                              </p:par>
                              <p:par>
                                <p:cTn id="53" presetID="42" presetClass="entr" presetSubtype="0" fill="hold" grpId="0" nodeType="withEffect">
                                  <p:stCondLst>
                                    <p:cond delay="226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600"/>
                                        <p:tgtEl>
                                          <p:spTgt spid="16"/>
                                        </p:tgtEl>
                                      </p:cBhvr>
                                    </p:animEffect>
                                    <p:anim calcmode="lin" valueType="num">
                                      <p:cBhvr additive="base">
                                        <p:cTn id="56" dur="600" decel="100000" fill="hold"/>
                                        <p:tgtEl>
                                          <p:spTgt spid="16"/>
                                        </p:tgtEl>
                                        <p:attrNameLst>
                                          <p:attrName>ppt_x</p:attrName>
                                        </p:attrNameLst>
                                      </p:cBhvr>
                                      <p:tavLst>
                                        <p:tav tm="0">
                                          <p:val>
                                            <p:strVal val="#ppt_x"/>
                                          </p:val>
                                        </p:tav>
                                        <p:tav tm="100000">
                                          <p:val>
                                            <p:strVal val="#ppt_x"/>
                                          </p:val>
                                        </p:tav>
                                      </p:tavLst>
                                    </p:anim>
                                    <p:anim calcmode="lin" valueType="num">
                                      <p:cBhvr additive="base">
                                        <p:cTn id="57" dur="600" decel="100000" fill="hold"/>
                                        <p:tgtEl>
                                          <p:spTgt spid="16"/>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Graphic spid="7" grpId="0">
        <p:bldAsOne/>
      </p:bldGraphic>
      <p:bldP spid="8" grpId="0" animBg="1"/>
      <p:bldP spid="9" grpId="0" animBg="1"/>
      <p:bldGraphic spid="11" grpId="0">
        <p:bldAsOne/>
      </p:bldGraphic>
      <p:bldP spid="6" grpId="0" animBg="1"/>
      <p:bldP spid="10" grpId="0" animBg="1"/>
      <p:bldP spid="12" grpId="0" animBg="1"/>
      <p:bldP spid="13" grpId="0" animBg="1"/>
      <p:bldP spid="14" grpId="0" animBg="1"/>
      <p:bldP spid="15"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
          <p:cNvSpPr/>
          <p:nvPr>
            <p:ph idx="100" type="body" hasCustomPrompt="1"/>
          </p:nvPr>
        </p:nvSpPr>
        <p:spPr>
          <a:xfrm>
            <a:off x="548640" y="384048"/>
            <a:ext cx="7863840" cy="310896"/>
          </a:xfrm>
          <a:prstGeom prst="rect">
            <a:avLst/>
          </a:prstGeom>
          <a:noFill/>
          <a:ln/>
        </p:spPr>
        <p:txBody>
          <a:bodyPr wrap="square" lIns="0" tIns="0" rIns="0" bIns="0" rtlCol="0" anchor="ctr"/>
          <a:lstStyle/>
          <a:p>
            <a:pPr algn="l" indent="0" marL="0">
              <a:buNone/>
            </a:pPr>
            <a:r>
              <a:rPr lang="en-US" sz="1300" b="1" spc="300" kern="0" dirty="0">
                <a:solidFill>
                  <a:schemeClr val="accent1"/>
                </a:solidFill>
              </a:rPr>
              <a:t>TRUST</a:t>
            </a:r>
            <a:endParaRPr lang="en-US" sz="1300" dirty="0"/>
          </a:p>
        </p:txBody>
      </p:sp>
      <p:sp>
        <p:nvSpPr>
          <p:cNvPr id="3" name="ttl"/>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200" b="1" dirty="0">
                <a:solidFill>
                  <a:schemeClr val="bg1"/>
                </a:solidFill>
              </a:rPr>
              <a:t>Built to be trusted, not just to impress</a:t>
            </a:r>
            <a:endParaRPr lang="en-US" sz="3200" dirty="0"/>
          </a:p>
        </p:txBody>
      </p:sp>
      <p:sp>
        <p:nvSpPr>
          <p:cNvPr id="4" name="heroimg_frame"/>
          <p:cNvSpPr/>
          <p:nvPr/>
        </p:nvSpPr>
        <p:spPr>
          <a:xfrm>
            <a:off x="548640" y="1691640"/>
            <a:ext cx="3310128" cy="4087368"/>
          </a:xfrm>
          <a:prstGeom prst="roundRect">
            <a:avLst>
              <a:gd name="adj" fmla="val 3315"/>
            </a:avLst>
          </a:prstGeom>
          <a:solidFill>
            <a:schemeClr val="tx1"/>
          </a:solidFill>
          <a:ln w="9525">
            <a:solidFill>
              <a:schemeClr val="accent6"/>
            </a:solidFill>
            <a:prstDash val="solid"/>
          </a:ln>
        </p:spPr>
      </p:sp>
      <p:pic>
        <p:nvPicPr>
          <p:cNvPr id="5" name="heroimg" descr="Fused PET/MRI slice: the living tumour glows, the radionecrosis stays grey">    </p:cNvPr>
          <p:cNvPicPr>
            <a:picLocks noChangeAspect="1"/>
          </p:cNvPicPr>
          <p:nvPr/>
        </p:nvPicPr>
        <p:blipFill>
          <a:blip r:embed="rId1"/>
          <a:stretch>
            <a:fillRect/>
          </a:stretch>
        </p:blipFill>
        <p:spPr>
          <a:xfrm>
            <a:off x="640080" y="1783080"/>
            <a:ext cx="3127248" cy="3904488"/>
          </a:xfrm>
          <a:prstGeom prst="rect">
            <a:avLst/>
          </a:prstGeom>
        </p:spPr>
      </p:pic>
      <p:sp>
        <p:nvSpPr>
          <p:cNvPr id="6" name="tr1"/>
          <p:cNvSpPr/>
          <p:nvPr/>
        </p:nvSpPr>
        <p:spPr>
          <a:xfrm>
            <a:off x="1257997" y="3098886"/>
            <a:ext cx="548640" cy="548640"/>
          </a:xfrm>
          <a:prstGeom prst="ellipse">
            <a:avLst/>
          </a:prstGeom>
          <a:noFill/>
          <a:ln w="19050">
            <a:solidFill>
              <a:schemeClr val="accent3"/>
            </a:solidFill>
            <a:prstDash val="dash"/>
          </a:ln>
        </p:spPr>
      </p:sp>
      <p:sp>
        <p:nvSpPr>
          <p:cNvPr id="7" name="tr2"/>
          <p:cNvSpPr/>
          <p:nvPr/>
        </p:nvSpPr>
        <p:spPr>
          <a:xfrm>
            <a:off x="1549521" y="4388655"/>
            <a:ext cx="548640" cy="548640"/>
          </a:xfrm>
          <a:prstGeom prst="ellipse">
            <a:avLst/>
          </a:prstGeom>
          <a:noFill/>
          <a:ln w="22225">
            <a:solidFill>
              <a:schemeClr val="accent1"/>
            </a:solidFill>
            <a:prstDash val="solid"/>
          </a:ln>
        </p:spPr>
      </p:sp>
      <p:sp>
        <p:nvSpPr>
          <p:cNvPr id="8" name="tl1"/>
          <p:cNvSpPr/>
          <p:nvPr/>
        </p:nvSpPr>
        <p:spPr>
          <a:xfrm>
            <a:off x="1806637" y="3373206"/>
            <a:ext cx="2171003" cy="0"/>
          </a:xfrm>
          <a:prstGeom prst="line">
            <a:avLst/>
          </a:prstGeom>
          <a:noFill/>
          <a:ln w="15875">
            <a:solidFill>
              <a:schemeClr val="accent3"/>
            </a:solidFill>
            <a:prstDash val="dash"/>
          </a:ln>
        </p:spPr>
      </p:sp>
      <p:sp>
        <p:nvSpPr>
          <p:cNvPr id="9" name="tl2"/>
          <p:cNvSpPr/>
          <p:nvPr/>
        </p:nvSpPr>
        <p:spPr>
          <a:xfrm>
            <a:off x="2098161" y="4662975"/>
            <a:ext cx="1879479" cy="0"/>
          </a:xfrm>
          <a:prstGeom prst="line">
            <a:avLst/>
          </a:prstGeom>
          <a:noFill/>
          <a:ln w="15875">
            <a:solidFill>
              <a:schemeClr val="accent1"/>
            </a:solidFill>
            <a:prstDash val="solid"/>
          </a:ln>
        </p:spPr>
      </p:sp>
      <p:sp>
        <p:nvSpPr>
          <p:cNvPr id="10" name="tag1"/>
          <p:cNvSpPr txBox="1"/>
          <p:nvPr/>
        </p:nvSpPr>
        <p:spPr>
          <a:xfrm>
            <a:off x="4069080" y="2961726"/>
            <a:ext cx="1874520" cy="822960"/>
          </a:xfrm>
          <a:prstGeom prst="rect">
            <a:avLst/>
          </a:prstGeom>
          <a:noFill/>
          <a:ln/>
        </p:spPr>
        <p:txBody>
          <a:bodyPr wrap="square" lIns="0" tIns="0" rIns="0" bIns="0" rtlCol="0" anchor="ctr"/>
          <a:lstStyle/>
          <a:p>
            <a:pPr indent="0" marL="0">
              <a:buNone/>
            </a:pPr>
            <a:r>
              <a:rPr lang="en-US" sz="1500" b="1" dirty="0">
                <a:solidFill>
                  <a:schemeClr val="bg1"/>
                </a:solidFill>
              </a:rPr>
              <a:t>Radionecrosis</a:t>
            </a:r>
            <a:endParaRPr lang="en-US" sz="1500" dirty="0"/>
          </a:p>
          <a:p>
            <a:pPr indent="0" marL="0">
              <a:buNone/>
            </a:pPr>
            <a:r>
              <a:rPr lang="en-US" sz="1200" dirty="0">
                <a:solidFill>
                  <a:schemeClr val="bg2"/>
                </a:solidFill>
              </a:rPr>
              <a:t>MRI says tumour, PET says dead: correctly not flagged</a:t>
            </a:r>
            <a:endParaRPr lang="en-US" sz="1500" dirty="0"/>
          </a:p>
        </p:txBody>
      </p:sp>
      <p:sp>
        <p:nvSpPr>
          <p:cNvPr id="11" name="tag2"/>
          <p:cNvSpPr txBox="1"/>
          <p:nvPr/>
        </p:nvSpPr>
        <p:spPr>
          <a:xfrm>
            <a:off x="4069080" y="4251495"/>
            <a:ext cx="1874520" cy="822960"/>
          </a:xfrm>
          <a:prstGeom prst="rect">
            <a:avLst/>
          </a:prstGeom>
          <a:noFill/>
          <a:ln/>
        </p:spPr>
        <p:txBody>
          <a:bodyPr wrap="square" lIns="0" tIns="0" rIns="0" bIns="0" rtlCol="0" anchor="ctr"/>
          <a:lstStyle/>
          <a:p>
            <a:pPr indent="0" marL="0">
              <a:buNone/>
            </a:pPr>
            <a:r>
              <a:rPr lang="en-US" sz="1500" b="1" dirty="0">
                <a:solidFill>
                  <a:schemeClr val="accent1"/>
                </a:solidFill>
              </a:rPr>
              <a:t>Living tumour</a:t>
            </a:r>
            <a:endParaRPr lang="en-US" sz="1500" dirty="0"/>
          </a:p>
          <a:p>
            <a:pPr indent="0" marL="0">
              <a:buNone/>
            </a:pPr>
            <a:r>
              <a:rPr lang="en-US" sz="1200" dirty="0">
                <a:solidFill>
                  <a:schemeClr val="bg2"/>
                </a:solidFill>
              </a:rPr>
              <a:t>found, 0.3 mm from the truth</a:t>
            </a:r>
            <a:endParaRPr lang="en-US" sz="1500" dirty="0"/>
          </a:p>
        </p:txBody>
      </p:sp>
      <p:sp>
        <p:nvSpPr>
          <p:cNvPr id="12" name="ta"/>
          <p:cNvSpPr/>
          <p:nvPr/>
        </p:nvSpPr>
        <p:spPr>
          <a:xfrm>
            <a:off x="6263640" y="1691640"/>
            <a:ext cx="5376672" cy="2103120"/>
          </a:xfrm>
          <a:prstGeom prst="roundRect">
            <a:avLst>
              <a:gd name="adj" fmla="val 5217"/>
            </a:avLst>
          </a:prstGeom>
          <a:solidFill>
            <a:schemeClr val="tx2"/>
          </a:solidFill>
          <a:ln w="9525">
            <a:solidFill>
              <a:schemeClr val="accent6"/>
            </a:solidFill>
            <a:prstDash val="solid"/>
          </a:ln>
        </p:spPr>
      </p:sp>
      <p:sp>
        <p:nvSpPr>
          <p:cNvPr id="13" name="tai_ring"/>
          <p:cNvSpPr/>
          <p:nvPr/>
        </p:nvSpPr>
        <p:spPr>
          <a:xfrm>
            <a:off x="6492240" y="1920240"/>
            <a:ext cx="548640" cy="548640"/>
          </a:xfrm>
          <a:prstGeom prst="ellipse">
            <a:avLst/>
          </a:prstGeom>
          <a:solidFill>
            <a:schemeClr val="tx2"/>
          </a:solidFill>
          <a:ln w="15875">
            <a:solidFill>
              <a:schemeClr val="accent3"/>
            </a:solidFill>
            <a:prstDash val="solid"/>
          </a:ln>
        </p:spPr>
      </p:sp>
      <p:pic>
        <p:nvPicPr>
          <p:cNvPr id="14" name="tai_icon" descr="shield icon">    </p:cNvPr>
          <p:cNvPicPr>
            <a:picLocks noChangeAspect="1"/>
          </p:cNvPicPr>
          <p:nvPr/>
        </p:nvPicPr>
        <p:blipFill>
          <a:blip r:embed="rId2"/>
          <a:stretch>
            <a:fillRect/>
          </a:stretch>
        </p:blipFill>
        <p:spPr>
          <a:xfrm>
            <a:off x="6623914" y="2051914"/>
            <a:ext cx="285293" cy="285293"/>
          </a:xfrm>
          <a:prstGeom prst="rect">
            <a:avLst/>
          </a:prstGeom>
        </p:spPr>
      </p:pic>
      <p:sp>
        <p:nvSpPr>
          <p:cNvPr id="15" name="tah"/>
          <p:cNvSpPr txBox="1"/>
          <p:nvPr/>
        </p:nvSpPr>
        <p:spPr>
          <a:xfrm>
            <a:off x="7223760" y="1920240"/>
            <a:ext cx="4206240" cy="548640"/>
          </a:xfrm>
          <a:prstGeom prst="rect">
            <a:avLst/>
          </a:prstGeom>
          <a:noFill/>
          <a:ln/>
        </p:spPr>
        <p:txBody>
          <a:bodyPr wrap="square" lIns="0" tIns="0" rIns="0" bIns="0" rtlCol="0" anchor="ctr"/>
          <a:lstStyle/>
          <a:p>
            <a:pPr indent="0" marL="0">
              <a:buNone/>
            </a:pPr>
            <a:r>
              <a:rPr lang="en-US" sz="2000" b="1" dirty="0">
                <a:solidFill>
                  <a:schemeClr val="bg1"/>
                </a:solidFill>
              </a:rPr>
              <a:t>The radionecrosis trap</a:t>
            </a:r>
            <a:endParaRPr lang="en-US" sz="2000" dirty="0"/>
          </a:p>
        </p:txBody>
      </p:sp>
      <p:sp>
        <p:nvSpPr>
          <p:cNvPr id="16" name="tab"/>
          <p:cNvSpPr txBox="1"/>
          <p:nvPr/>
        </p:nvSpPr>
        <p:spPr>
          <a:xfrm>
            <a:off x="6492240" y="2606040"/>
            <a:ext cx="4937760" cy="1097280"/>
          </a:xfrm>
          <a:prstGeom prst="rect">
            <a:avLst/>
          </a:prstGeom>
          <a:noFill/>
          <a:ln/>
        </p:spPr>
        <p:txBody>
          <a:bodyPr wrap="square" lIns="0" tIns="0" rIns="0" bIns="0" rtlCol="0" anchor="t"/>
          <a:lstStyle/>
          <a:p>
            <a:pPr indent="0" marL="0">
              <a:buNone/>
            </a:pPr>
            <a:r>
              <a:rPr lang="en-US" sz="1400" dirty="0">
                <a:solidFill>
                  <a:schemeClr val="bg2"/>
                </a:solidFill>
              </a:rPr>
              <a:t>Our test patients include lesions that MRI shows but PET says are dead. An AI that copies the MRI would light them up. FusionMap keeps them cold: uptake ratio 1.05, where 1.0 is perfect.</a:t>
            </a:r>
            <a:endParaRPr lang="en-US" sz="1400" dirty="0"/>
          </a:p>
        </p:txBody>
      </p:sp>
      <p:sp>
        <p:nvSpPr>
          <p:cNvPr id="17" name="tb"/>
          <p:cNvSpPr/>
          <p:nvPr/>
        </p:nvSpPr>
        <p:spPr>
          <a:xfrm>
            <a:off x="6263640" y="3977640"/>
            <a:ext cx="5376672" cy="2103120"/>
          </a:xfrm>
          <a:prstGeom prst="roundRect">
            <a:avLst>
              <a:gd name="adj" fmla="val 5217"/>
            </a:avLst>
          </a:prstGeom>
          <a:solidFill>
            <a:schemeClr val="tx2"/>
          </a:solidFill>
          <a:ln w="9525">
            <a:solidFill>
              <a:schemeClr val="accent6"/>
            </a:solidFill>
            <a:prstDash val="solid"/>
          </a:ln>
        </p:spPr>
      </p:sp>
      <p:sp>
        <p:nvSpPr>
          <p:cNvPr id="18" name="tbi_ring"/>
          <p:cNvSpPr/>
          <p:nvPr/>
        </p:nvSpPr>
        <p:spPr>
          <a:xfrm>
            <a:off x="6492240" y="4206240"/>
            <a:ext cx="548640" cy="548640"/>
          </a:xfrm>
          <a:prstGeom prst="ellipse">
            <a:avLst/>
          </a:prstGeom>
          <a:solidFill>
            <a:schemeClr val="tx2"/>
          </a:solidFill>
          <a:ln w="15875">
            <a:solidFill>
              <a:schemeClr val="accent2"/>
            </a:solidFill>
            <a:prstDash val="solid"/>
          </a:ln>
        </p:spPr>
      </p:sp>
      <p:pic>
        <p:nvPicPr>
          <p:cNvPr id="19" name="tbi_icon" descr="check icon">    </p:cNvPr>
          <p:cNvPicPr>
            <a:picLocks noChangeAspect="1"/>
          </p:cNvPicPr>
          <p:nvPr/>
        </p:nvPicPr>
        <p:blipFill>
          <a:blip r:embed="rId3"/>
          <a:stretch>
            <a:fillRect/>
          </a:stretch>
        </p:blipFill>
        <p:spPr>
          <a:xfrm>
            <a:off x="6623914" y="4337914"/>
            <a:ext cx="285293" cy="285293"/>
          </a:xfrm>
          <a:prstGeom prst="rect">
            <a:avLst/>
          </a:prstGeom>
        </p:spPr>
      </p:pic>
      <p:sp>
        <p:nvSpPr>
          <p:cNvPr id="20" name="tbh"/>
          <p:cNvSpPr txBox="1"/>
          <p:nvPr/>
        </p:nvSpPr>
        <p:spPr>
          <a:xfrm>
            <a:off x="7223760" y="4206240"/>
            <a:ext cx="4206240" cy="548640"/>
          </a:xfrm>
          <a:prstGeom prst="rect">
            <a:avLst/>
          </a:prstGeom>
          <a:noFill/>
          <a:ln/>
        </p:spPr>
        <p:txBody>
          <a:bodyPr wrap="square" lIns="0" tIns="0" rIns="0" bIns="0" rtlCol="0" anchor="ctr"/>
          <a:lstStyle/>
          <a:p>
            <a:pPr indent="0" marL="0">
              <a:buNone/>
            </a:pPr>
            <a:r>
              <a:rPr lang="en-US" sz="2000" b="1" dirty="0">
                <a:solidFill>
                  <a:schemeClr val="bg1"/>
                </a:solidFill>
              </a:rPr>
              <a:t>An AI gate, not AI everywhere</a:t>
            </a:r>
            <a:endParaRPr lang="en-US" sz="2000" dirty="0"/>
          </a:p>
        </p:txBody>
      </p:sp>
      <p:sp>
        <p:nvSpPr>
          <p:cNvPr id="21" name="tbb"/>
          <p:cNvSpPr txBox="1"/>
          <p:nvPr/>
        </p:nvSpPr>
        <p:spPr>
          <a:xfrm>
            <a:off x="6492240" y="4892040"/>
            <a:ext cx="4937760" cy="1097280"/>
          </a:xfrm>
          <a:prstGeom prst="rect">
            <a:avLst/>
          </a:prstGeom>
          <a:noFill/>
          <a:ln/>
        </p:spPr>
        <p:txBody>
          <a:bodyPr wrap="square" lIns="0" tIns="0" rIns="0" bIns="0" rtlCol="0" anchor="t"/>
          <a:lstStyle/>
          <a:p>
            <a:pPr indent="0" marL="0">
              <a:buNone/>
            </a:pPr>
            <a:r>
              <a:rPr lang="en-US" sz="1400" dirty="0">
                <a:solidFill>
                  <a:schemeClr val="bg2"/>
                </a:solidFill>
              </a:rPr>
              <a:t>Our VoxelMorph network matched classical alignment (1.172 vs 1.173 mm) but did not beat it, so auto mode keeps the classical method. AI switches on only when its own validation wins, and the raw PET is always exported too.</a:t>
            </a:r>
            <a:endParaRPr lang="en-US" sz="14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childTnLst>
                                </p:cTn>
                              </p:par>
                              <p:par>
                                <p:cTn id="11" presetID="53" presetClass="entr" presetSubtype="16" fill="hold" grpId="0" nodeType="withEffect">
                                  <p:stCondLst>
                                    <p:cond delay="45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450" decel="100000" fill="hold"/>
                                        <p:tgtEl>
                                          <p:spTgt spid="6"/>
                                        </p:tgtEl>
                                        <p:attrNameLst>
                                          <p:attrName>ppt_w</p:attrName>
                                        </p:attrNameLst>
                                      </p:cBhvr>
                                      <p:tavLst>
                                        <p:tav tm="0">
                                          <p:val>
                                            <p:strVal val="#ppt_w*0.55"/>
                                          </p:val>
                                        </p:tav>
                                        <p:tav tm="100000">
                                          <p:val>
                                            <p:strVal val="#ppt_w"/>
                                          </p:val>
                                        </p:tav>
                                      </p:tavLst>
                                    </p:anim>
                                    <p:anim calcmode="lin" valueType="num">
                                      <p:cBhvr additive="base">
                                        <p:cTn id="14" dur="450" decel="100000" fill="hold"/>
                                        <p:tgtEl>
                                          <p:spTgt spid="6"/>
                                        </p:tgtEl>
                                        <p:attrNameLst>
                                          <p:attrName>ppt_h</p:attrName>
                                        </p:attrNameLst>
                                      </p:cBhvr>
                                      <p:tavLst>
                                        <p:tav tm="0">
                                          <p:val>
                                            <p:strVal val="#ppt_h*0.55"/>
                                          </p:val>
                                        </p:tav>
                                        <p:tav tm="100000">
                                          <p:val>
                                            <p:strVal val="#ppt_h"/>
                                          </p:val>
                                        </p:tav>
                                      </p:tavLst>
                                    </p:anim>
                                    <p:animEffect transition="in" filter="fade">
                                      <p:cBhvr>
                                        <p:cTn id="15" dur="450"/>
                                        <p:tgtEl>
                                          <p:spTgt spid="6"/>
                                        </p:tgtEl>
                                      </p:cBhvr>
                                    </p:animEffect>
                                  </p:childTnLst>
                                </p:cTn>
                              </p:par>
                              <p:par>
                                <p:cTn id="16" presetID="22" presetClass="entr" presetSubtype="8" fill="hold" grpId="0" nodeType="withEffect">
                                  <p:stCondLst>
                                    <p:cond delay="65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400"/>
                                        <p:tgtEl>
                                          <p:spTgt spid="8"/>
                                        </p:tgtEl>
                                      </p:cBhvr>
                                    </p:animEffect>
                                  </p:childTnLst>
                                </p:cTn>
                              </p:par>
                              <p:par>
                                <p:cTn id="19" presetID="42" presetClass="entr" presetSubtype="0" fill="hold" grpId="0" nodeType="withEffect">
                                  <p:stCondLst>
                                    <p:cond delay="80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50"/>
                                        <p:tgtEl>
                                          <p:spTgt spid="10"/>
                                        </p:tgtEl>
                                      </p:cBhvr>
                                    </p:animEffect>
                                    <p:anim calcmode="lin" valueType="num">
                                      <p:cBhvr additive="base">
                                        <p:cTn id="22" dur="550" decel="100000" fill="hold"/>
                                        <p:tgtEl>
                                          <p:spTgt spid="10"/>
                                        </p:tgtEl>
                                        <p:attrNameLst>
                                          <p:attrName>ppt_x</p:attrName>
                                        </p:attrNameLst>
                                      </p:cBhvr>
                                      <p:tavLst>
                                        <p:tav tm="0">
                                          <p:val>
                                            <p:strVal val="#ppt_x-0.035"/>
                                          </p:val>
                                        </p:tav>
                                        <p:tav tm="100000">
                                          <p:val>
                                            <p:strVal val="#ppt_x"/>
                                          </p:val>
                                        </p:tav>
                                      </p:tavLst>
                                    </p:anim>
                                    <p:anim calcmode="lin" valueType="num">
                                      <p:cBhvr additive="base">
                                        <p:cTn id="23" dur="550" decel="100000" fill="hold"/>
                                        <p:tgtEl>
                                          <p:spTgt spid="10"/>
                                        </p:tgtEl>
                                        <p:attrNameLst>
                                          <p:attrName>ppt_y</p:attrName>
                                        </p:attrNameLst>
                                      </p:cBhvr>
                                      <p:tavLst>
                                        <p:tav tm="0">
                                          <p:val>
                                            <p:strVal val="#ppt_y"/>
                                          </p:val>
                                        </p:tav>
                                        <p:tav tm="100000">
                                          <p:val>
                                            <p:strVal val="#ppt_y"/>
                                          </p:val>
                                        </p:tav>
                                      </p:tavLst>
                                    </p:anim>
                                  </p:childTnLst>
                                </p:cTn>
                              </p:par>
                              <p:par>
                                <p:cTn id="24" presetID="53" presetClass="entr" presetSubtype="16" fill="hold" grpId="0" nodeType="withEffect">
                                  <p:stCondLst>
                                    <p:cond delay="105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450" decel="100000" fill="hold"/>
                                        <p:tgtEl>
                                          <p:spTgt spid="7"/>
                                        </p:tgtEl>
                                        <p:attrNameLst>
                                          <p:attrName>ppt_w</p:attrName>
                                        </p:attrNameLst>
                                      </p:cBhvr>
                                      <p:tavLst>
                                        <p:tav tm="0">
                                          <p:val>
                                            <p:strVal val="#ppt_w*0.55"/>
                                          </p:val>
                                        </p:tav>
                                        <p:tav tm="100000">
                                          <p:val>
                                            <p:strVal val="#ppt_w"/>
                                          </p:val>
                                        </p:tav>
                                      </p:tavLst>
                                    </p:anim>
                                    <p:anim calcmode="lin" valueType="num">
                                      <p:cBhvr additive="base">
                                        <p:cTn id="27" dur="450" decel="100000" fill="hold"/>
                                        <p:tgtEl>
                                          <p:spTgt spid="7"/>
                                        </p:tgtEl>
                                        <p:attrNameLst>
                                          <p:attrName>ppt_h</p:attrName>
                                        </p:attrNameLst>
                                      </p:cBhvr>
                                      <p:tavLst>
                                        <p:tav tm="0">
                                          <p:val>
                                            <p:strVal val="#ppt_h*0.55"/>
                                          </p:val>
                                        </p:tav>
                                        <p:tav tm="100000">
                                          <p:val>
                                            <p:strVal val="#ppt_h"/>
                                          </p:val>
                                        </p:tav>
                                      </p:tavLst>
                                    </p:anim>
                                    <p:animEffect transition="in" filter="fade">
                                      <p:cBhvr>
                                        <p:cTn id="28" dur="450"/>
                                        <p:tgtEl>
                                          <p:spTgt spid="7"/>
                                        </p:tgtEl>
                                      </p:cBhvr>
                                    </p:animEffect>
                                  </p:childTnLst>
                                </p:cTn>
                              </p:par>
                              <p:par>
                                <p:cTn id="29" presetID="22" presetClass="entr" presetSubtype="8" fill="hold" grpId="0" nodeType="withEffect">
                                  <p:stCondLst>
                                    <p:cond delay="125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400"/>
                                        <p:tgtEl>
                                          <p:spTgt spid="9"/>
                                        </p:tgtEl>
                                      </p:cBhvr>
                                    </p:animEffect>
                                  </p:childTnLst>
                                </p:cTn>
                              </p:par>
                              <p:par>
                                <p:cTn id="32" presetID="42" presetClass="entr" presetSubtype="0" fill="hold" grpId="0" nodeType="withEffect">
                                  <p:stCondLst>
                                    <p:cond delay="14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50"/>
                                        <p:tgtEl>
                                          <p:spTgt spid="11"/>
                                        </p:tgtEl>
                                      </p:cBhvr>
                                    </p:animEffect>
                                    <p:anim calcmode="lin" valueType="num">
                                      <p:cBhvr additive="base">
                                        <p:cTn id="35" dur="550" decel="100000" fill="hold"/>
                                        <p:tgtEl>
                                          <p:spTgt spid="11"/>
                                        </p:tgtEl>
                                        <p:attrNameLst>
                                          <p:attrName>ppt_x</p:attrName>
                                        </p:attrNameLst>
                                      </p:cBhvr>
                                      <p:tavLst>
                                        <p:tav tm="0">
                                          <p:val>
                                            <p:strVal val="#ppt_x-0.035"/>
                                          </p:val>
                                        </p:tav>
                                        <p:tav tm="100000">
                                          <p:val>
                                            <p:strVal val="#ppt_x"/>
                                          </p:val>
                                        </p:tav>
                                      </p:tavLst>
                                    </p:anim>
                                    <p:anim calcmode="lin" valueType="num">
                                      <p:cBhvr additive="base">
                                        <p:cTn id="36" dur="550" decel="100000" fill="hold"/>
                                        <p:tgtEl>
                                          <p:spTgt spid="11"/>
                                        </p:tgtEl>
                                        <p:attrNameLst>
                                          <p:attrName>ppt_y</p:attrName>
                                        </p:attrNameLst>
                                      </p:cBhvr>
                                      <p:tavLst>
                                        <p:tav tm="0">
                                          <p:val>
                                            <p:strVal val="#ppt_y"/>
                                          </p:val>
                                        </p:tav>
                                        <p:tav tm="100000">
                                          <p:val>
                                            <p:strVal val="#ppt_y"/>
                                          </p:val>
                                        </p:tav>
                                      </p:tavLst>
                                    </p:anim>
                                  </p:childTnLst>
                                </p:cTn>
                              </p:par>
                              <p:par>
                                <p:cTn id="37" presetID="42" presetClass="entr" presetSubtype="0" fill="hold" grpId="0" nodeType="withEffect">
                                  <p:stCondLst>
                                    <p:cond delay="170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650"/>
                                        <p:tgtEl>
                                          <p:spTgt spid="12"/>
                                        </p:tgtEl>
                                      </p:cBhvr>
                                    </p:animEffect>
                                    <p:anim calcmode="lin" valueType="num">
                                      <p:cBhvr additive="base">
                                        <p:cTn id="40" dur="650" decel="100000" fill="hold"/>
                                        <p:tgtEl>
                                          <p:spTgt spid="12"/>
                                        </p:tgtEl>
                                        <p:attrNameLst>
                                          <p:attrName>ppt_x</p:attrName>
                                        </p:attrNameLst>
                                      </p:cBhvr>
                                      <p:tavLst>
                                        <p:tav tm="0">
                                          <p:val>
                                            <p:strVal val="#ppt_x"/>
                                          </p:val>
                                        </p:tav>
                                        <p:tav tm="100000">
                                          <p:val>
                                            <p:strVal val="#ppt_x"/>
                                          </p:val>
                                        </p:tav>
                                      </p:tavLst>
                                    </p:anim>
                                    <p:anim calcmode="lin" valueType="num">
                                      <p:cBhvr additive="base">
                                        <p:cTn id="41" dur="650" decel="100000" fill="hold"/>
                                        <p:tgtEl>
                                          <p:spTgt spid="12"/>
                                        </p:tgtEl>
                                        <p:attrNameLst>
                                          <p:attrName>ppt_y</p:attrName>
                                        </p:attrNameLst>
                                      </p:cBhvr>
                                      <p:tavLst>
                                        <p:tav tm="0">
                                          <p:val>
                                            <p:strVal val="#ppt_y+0.05"/>
                                          </p:val>
                                        </p:tav>
                                        <p:tav tm="100000">
                                          <p:val>
                                            <p:strVal val="#ppt_y"/>
                                          </p:val>
                                        </p:tav>
                                      </p:tavLst>
                                    </p:anim>
                                  </p:childTnLst>
                                </p:cTn>
                              </p:par>
                              <p:par>
                                <p:cTn id="42" presetID="42" presetClass="entr" presetSubtype="0" fill="hold" grpId="0" nodeType="withEffect">
                                  <p:stCondLst>
                                    <p:cond delay="170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650"/>
                                        <p:tgtEl>
                                          <p:spTgt spid="13"/>
                                        </p:tgtEl>
                                      </p:cBhvr>
                                    </p:animEffect>
                                    <p:anim calcmode="lin" valueType="num">
                                      <p:cBhvr additive="base">
                                        <p:cTn id="45" dur="650" decel="100000" fill="hold"/>
                                        <p:tgtEl>
                                          <p:spTgt spid="13"/>
                                        </p:tgtEl>
                                        <p:attrNameLst>
                                          <p:attrName>ppt_x</p:attrName>
                                        </p:attrNameLst>
                                      </p:cBhvr>
                                      <p:tavLst>
                                        <p:tav tm="0">
                                          <p:val>
                                            <p:strVal val="#ppt_x"/>
                                          </p:val>
                                        </p:tav>
                                        <p:tav tm="100000">
                                          <p:val>
                                            <p:strVal val="#ppt_x"/>
                                          </p:val>
                                        </p:tav>
                                      </p:tavLst>
                                    </p:anim>
                                    <p:anim calcmode="lin" valueType="num">
                                      <p:cBhvr additive="base">
                                        <p:cTn id="46" dur="650" decel="100000" fill="hold"/>
                                        <p:tgtEl>
                                          <p:spTgt spid="13"/>
                                        </p:tgtEl>
                                        <p:attrNameLst>
                                          <p:attrName>ppt_y</p:attrName>
                                        </p:attrNameLst>
                                      </p:cBhvr>
                                      <p:tavLst>
                                        <p:tav tm="0">
                                          <p:val>
                                            <p:strVal val="#ppt_y+0.05"/>
                                          </p:val>
                                        </p:tav>
                                        <p:tav tm="100000">
                                          <p:val>
                                            <p:strVal val="#ppt_y"/>
                                          </p:val>
                                        </p:tav>
                                      </p:tavLst>
                                    </p:anim>
                                  </p:childTnLst>
                                </p:cTn>
                              </p:par>
                              <p:par>
                                <p:cTn id="47" presetID="42" presetClass="entr" presetSubtype="0" fill="hold" grpId="0" nodeType="withEffect">
                                  <p:stCondLst>
                                    <p:cond delay="170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650"/>
                                        <p:tgtEl>
                                          <p:spTgt spid="14"/>
                                        </p:tgtEl>
                                      </p:cBhvr>
                                    </p:animEffect>
                                    <p:anim calcmode="lin" valueType="num">
                                      <p:cBhvr additive="base">
                                        <p:cTn id="50" dur="650" decel="100000" fill="hold"/>
                                        <p:tgtEl>
                                          <p:spTgt spid="14"/>
                                        </p:tgtEl>
                                        <p:attrNameLst>
                                          <p:attrName>ppt_x</p:attrName>
                                        </p:attrNameLst>
                                      </p:cBhvr>
                                      <p:tavLst>
                                        <p:tav tm="0">
                                          <p:val>
                                            <p:strVal val="#ppt_x"/>
                                          </p:val>
                                        </p:tav>
                                        <p:tav tm="100000">
                                          <p:val>
                                            <p:strVal val="#ppt_x"/>
                                          </p:val>
                                        </p:tav>
                                      </p:tavLst>
                                    </p:anim>
                                    <p:anim calcmode="lin" valueType="num">
                                      <p:cBhvr additive="base">
                                        <p:cTn id="51" dur="650" decel="100000" fill="hold"/>
                                        <p:tgtEl>
                                          <p:spTgt spid="14"/>
                                        </p:tgtEl>
                                        <p:attrNameLst>
                                          <p:attrName>ppt_y</p:attrName>
                                        </p:attrNameLst>
                                      </p:cBhvr>
                                      <p:tavLst>
                                        <p:tav tm="0">
                                          <p:val>
                                            <p:strVal val="#ppt_y+0.05"/>
                                          </p:val>
                                        </p:tav>
                                        <p:tav tm="100000">
                                          <p:val>
                                            <p:strVal val="#ppt_y"/>
                                          </p:val>
                                        </p:tav>
                                      </p:tavLst>
                                    </p:anim>
                                  </p:childTnLst>
                                </p:cTn>
                              </p:par>
                              <p:par>
                                <p:cTn id="52" presetID="42" presetClass="entr" presetSubtype="0" fill="hold" grpId="0" nodeType="withEffect">
                                  <p:stCondLst>
                                    <p:cond delay="170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650"/>
                                        <p:tgtEl>
                                          <p:spTgt spid="15"/>
                                        </p:tgtEl>
                                      </p:cBhvr>
                                    </p:animEffect>
                                    <p:anim calcmode="lin" valueType="num">
                                      <p:cBhvr additive="base">
                                        <p:cTn id="55" dur="650" decel="100000" fill="hold"/>
                                        <p:tgtEl>
                                          <p:spTgt spid="15"/>
                                        </p:tgtEl>
                                        <p:attrNameLst>
                                          <p:attrName>ppt_x</p:attrName>
                                        </p:attrNameLst>
                                      </p:cBhvr>
                                      <p:tavLst>
                                        <p:tav tm="0">
                                          <p:val>
                                            <p:strVal val="#ppt_x"/>
                                          </p:val>
                                        </p:tav>
                                        <p:tav tm="100000">
                                          <p:val>
                                            <p:strVal val="#ppt_x"/>
                                          </p:val>
                                        </p:tav>
                                      </p:tavLst>
                                    </p:anim>
                                    <p:anim calcmode="lin" valueType="num">
                                      <p:cBhvr additive="base">
                                        <p:cTn id="56" dur="650" decel="100000" fill="hold"/>
                                        <p:tgtEl>
                                          <p:spTgt spid="15"/>
                                        </p:tgtEl>
                                        <p:attrNameLst>
                                          <p:attrName>ppt_y</p:attrName>
                                        </p:attrNameLst>
                                      </p:cBhvr>
                                      <p:tavLst>
                                        <p:tav tm="0">
                                          <p:val>
                                            <p:strVal val="#ppt_y+0.05"/>
                                          </p:val>
                                        </p:tav>
                                        <p:tav tm="100000">
                                          <p:val>
                                            <p:strVal val="#ppt_y"/>
                                          </p:val>
                                        </p:tav>
                                      </p:tavLst>
                                    </p:anim>
                                  </p:childTnLst>
                                </p:cTn>
                              </p:par>
                              <p:par>
                                <p:cTn id="57" presetID="10" presetClass="entr" presetSubtype="0" fill="hold" grpId="0" nodeType="withEffect">
                                  <p:stCondLst>
                                    <p:cond delay="190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600"/>
                                        <p:tgtEl>
                                          <p:spTgt spid="16"/>
                                        </p:tgtEl>
                                      </p:cBhvr>
                                    </p:animEffect>
                                  </p:childTnLst>
                                </p:cTn>
                              </p:par>
                              <p:par>
                                <p:cTn id="60" presetID="42" presetClass="entr" presetSubtype="0" fill="hold" grpId="0" nodeType="withEffect">
                                  <p:stCondLst>
                                    <p:cond delay="205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650"/>
                                        <p:tgtEl>
                                          <p:spTgt spid="17"/>
                                        </p:tgtEl>
                                      </p:cBhvr>
                                    </p:animEffect>
                                    <p:anim calcmode="lin" valueType="num">
                                      <p:cBhvr additive="base">
                                        <p:cTn id="63" dur="650" decel="100000" fill="hold"/>
                                        <p:tgtEl>
                                          <p:spTgt spid="17"/>
                                        </p:tgtEl>
                                        <p:attrNameLst>
                                          <p:attrName>ppt_x</p:attrName>
                                        </p:attrNameLst>
                                      </p:cBhvr>
                                      <p:tavLst>
                                        <p:tav tm="0">
                                          <p:val>
                                            <p:strVal val="#ppt_x"/>
                                          </p:val>
                                        </p:tav>
                                        <p:tav tm="100000">
                                          <p:val>
                                            <p:strVal val="#ppt_x"/>
                                          </p:val>
                                        </p:tav>
                                      </p:tavLst>
                                    </p:anim>
                                    <p:anim calcmode="lin" valueType="num">
                                      <p:cBhvr additive="base">
                                        <p:cTn id="64" dur="650" decel="100000" fill="hold"/>
                                        <p:tgtEl>
                                          <p:spTgt spid="17"/>
                                        </p:tgtEl>
                                        <p:attrNameLst>
                                          <p:attrName>ppt_y</p:attrName>
                                        </p:attrNameLst>
                                      </p:cBhvr>
                                      <p:tavLst>
                                        <p:tav tm="0">
                                          <p:val>
                                            <p:strVal val="#ppt_y+0.05"/>
                                          </p:val>
                                        </p:tav>
                                        <p:tav tm="100000">
                                          <p:val>
                                            <p:strVal val="#ppt_y"/>
                                          </p:val>
                                        </p:tav>
                                      </p:tavLst>
                                    </p:anim>
                                  </p:childTnLst>
                                </p:cTn>
                              </p:par>
                              <p:par>
                                <p:cTn id="65" presetID="42" presetClass="entr" presetSubtype="0" fill="hold" grpId="0" nodeType="withEffect">
                                  <p:stCondLst>
                                    <p:cond delay="205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650"/>
                                        <p:tgtEl>
                                          <p:spTgt spid="18"/>
                                        </p:tgtEl>
                                      </p:cBhvr>
                                    </p:animEffect>
                                    <p:anim calcmode="lin" valueType="num">
                                      <p:cBhvr additive="base">
                                        <p:cTn id="68" dur="650" decel="100000" fill="hold"/>
                                        <p:tgtEl>
                                          <p:spTgt spid="18"/>
                                        </p:tgtEl>
                                        <p:attrNameLst>
                                          <p:attrName>ppt_x</p:attrName>
                                        </p:attrNameLst>
                                      </p:cBhvr>
                                      <p:tavLst>
                                        <p:tav tm="0">
                                          <p:val>
                                            <p:strVal val="#ppt_x"/>
                                          </p:val>
                                        </p:tav>
                                        <p:tav tm="100000">
                                          <p:val>
                                            <p:strVal val="#ppt_x"/>
                                          </p:val>
                                        </p:tav>
                                      </p:tavLst>
                                    </p:anim>
                                    <p:anim calcmode="lin" valueType="num">
                                      <p:cBhvr additive="base">
                                        <p:cTn id="69" dur="650" decel="100000" fill="hold"/>
                                        <p:tgtEl>
                                          <p:spTgt spid="18"/>
                                        </p:tgtEl>
                                        <p:attrNameLst>
                                          <p:attrName>ppt_y</p:attrName>
                                        </p:attrNameLst>
                                      </p:cBhvr>
                                      <p:tavLst>
                                        <p:tav tm="0">
                                          <p:val>
                                            <p:strVal val="#ppt_y+0.05"/>
                                          </p:val>
                                        </p:tav>
                                        <p:tav tm="100000">
                                          <p:val>
                                            <p:strVal val="#ppt_y"/>
                                          </p:val>
                                        </p:tav>
                                      </p:tavLst>
                                    </p:anim>
                                  </p:childTnLst>
                                </p:cTn>
                              </p:par>
                              <p:par>
                                <p:cTn id="70" presetID="42" presetClass="entr" presetSubtype="0" fill="hold" grpId="0" nodeType="withEffect">
                                  <p:stCondLst>
                                    <p:cond delay="205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650"/>
                                        <p:tgtEl>
                                          <p:spTgt spid="19"/>
                                        </p:tgtEl>
                                      </p:cBhvr>
                                    </p:animEffect>
                                    <p:anim calcmode="lin" valueType="num">
                                      <p:cBhvr additive="base">
                                        <p:cTn id="73" dur="650" decel="100000" fill="hold"/>
                                        <p:tgtEl>
                                          <p:spTgt spid="19"/>
                                        </p:tgtEl>
                                        <p:attrNameLst>
                                          <p:attrName>ppt_x</p:attrName>
                                        </p:attrNameLst>
                                      </p:cBhvr>
                                      <p:tavLst>
                                        <p:tav tm="0">
                                          <p:val>
                                            <p:strVal val="#ppt_x"/>
                                          </p:val>
                                        </p:tav>
                                        <p:tav tm="100000">
                                          <p:val>
                                            <p:strVal val="#ppt_x"/>
                                          </p:val>
                                        </p:tav>
                                      </p:tavLst>
                                    </p:anim>
                                    <p:anim calcmode="lin" valueType="num">
                                      <p:cBhvr additive="base">
                                        <p:cTn id="74" dur="650" decel="100000" fill="hold"/>
                                        <p:tgtEl>
                                          <p:spTgt spid="19"/>
                                        </p:tgtEl>
                                        <p:attrNameLst>
                                          <p:attrName>ppt_y</p:attrName>
                                        </p:attrNameLst>
                                      </p:cBhvr>
                                      <p:tavLst>
                                        <p:tav tm="0">
                                          <p:val>
                                            <p:strVal val="#ppt_y+0.05"/>
                                          </p:val>
                                        </p:tav>
                                        <p:tav tm="100000">
                                          <p:val>
                                            <p:strVal val="#ppt_y"/>
                                          </p:val>
                                        </p:tav>
                                      </p:tavLst>
                                    </p:anim>
                                  </p:childTnLst>
                                </p:cTn>
                              </p:par>
                              <p:par>
                                <p:cTn id="75" presetID="42" presetClass="entr" presetSubtype="0" fill="hold" grpId="0" nodeType="withEffect">
                                  <p:stCondLst>
                                    <p:cond delay="205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650"/>
                                        <p:tgtEl>
                                          <p:spTgt spid="20"/>
                                        </p:tgtEl>
                                      </p:cBhvr>
                                    </p:animEffect>
                                    <p:anim calcmode="lin" valueType="num">
                                      <p:cBhvr additive="base">
                                        <p:cTn id="78" dur="650" decel="100000" fill="hold"/>
                                        <p:tgtEl>
                                          <p:spTgt spid="20"/>
                                        </p:tgtEl>
                                        <p:attrNameLst>
                                          <p:attrName>ppt_x</p:attrName>
                                        </p:attrNameLst>
                                      </p:cBhvr>
                                      <p:tavLst>
                                        <p:tav tm="0">
                                          <p:val>
                                            <p:strVal val="#ppt_x"/>
                                          </p:val>
                                        </p:tav>
                                        <p:tav tm="100000">
                                          <p:val>
                                            <p:strVal val="#ppt_x"/>
                                          </p:val>
                                        </p:tav>
                                      </p:tavLst>
                                    </p:anim>
                                    <p:anim calcmode="lin" valueType="num">
                                      <p:cBhvr additive="base">
                                        <p:cTn id="79" dur="650" decel="100000" fill="hold"/>
                                        <p:tgtEl>
                                          <p:spTgt spid="20"/>
                                        </p:tgtEl>
                                        <p:attrNameLst>
                                          <p:attrName>ppt_y</p:attrName>
                                        </p:attrNameLst>
                                      </p:cBhvr>
                                      <p:tavLst>
                                        <p:tav tm="0">
                                          <p:val>
                                            <p:strVal val="#ppt_y+0.05"/>
                                          </p:val>
                                        </p:tav>
                                        <p:tav tm="100000">
                                          <p:val>
                                            <p:strVal val="#ppt_y"/>
                                          </p:val>
                                        </p:tav>
                                      </p:tavLst>
                                    </p:anim>
                                  </p:childTnLst>
                                </p:cTn>
                              </p:par>
                              <p:par>
                                <p:cTn id="80" presetID="10" presetClass="entr" presetSubtype="0" fill="hold" grpId="0" nodeType="withEffect">
                                  <p:stCondLst>
                                    <p:cond delay="225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P spid="7" grpId="0" animBg="1"/>
      <p:bldP spid="9" grpId="0" animBg="1"/>
      <p:bldP spid="11" grpId="0" animBg="1"/>
      <p:bldP spid="12" grpId="0" animBg="1"/>
      <p:bldP spid="13" grpId="0" animBg="1"/>
      <p:bldP spid="15" grpId="0" animBg="1"/>
      <p:bldP spid="16" grpId="0" animBg="1"/>
      <p:bldP spid="17" grpId="0" animBg="1"/>
      <p:bldP spid="18" grpId="0" animBg="1"/>
      <p:bldP spid="20" grpId="0" animBg="1"/>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
          <p:cNvSpPr/>
          <p:nvPr>
            <p:ph idx="100" type="body" hasCustomPrompt="1"/>
          </p:nvPr>
        </p:nvSpPr>
        <p:spPr>
          <a:xfrm>
            <a:off x="548640" y="384048"/>
            <a:ext cx="7863840" cy="310896"/>
          </a:xfrm>
          <a:prstGeom prst="rect">
            <a:avLst/>
          </a:prstGeom>
          <a:noFill/>
          <a:ln/>
        </p:spPr>
        <p:txBody>
          <a:bodyPr wrap="square" lIns="0" tIns="0" rIns="0" bIns="0" rtlCol="0" anchor="ctr"/>
          <a:lstStyle/>
          <a:p>
            <a:pPr algn="l" indent="0" marL="0">
              <a:buNone/>
            </a:pPr>
            <a:r>
              <a:rPr lang="en-US" sz="1300" b="1" spc="300" kern="0" dirty="0">
                <a:solidFill>
                  <a:schemeClr val="accent1"/>
                </a:solidFill>
              </a:rPr>
              <a:t>ENGINEERING</a:t>
            </a:r>
            <a:endParaRPr lang="en-US" sz="1300" dirty="0"/>
          </a:p>
        </p:txBody>
      </p:sp>
      <p:sp>
        <p:nvSpPr>
          <p:cNvPr id="3" name="ttl"/>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200" b="1" dirty="0">
                <a:solidFill>
                  <a:schemeClr val="bg1"/>
                </a:solidFill>
              </a:rPr>
              <a:t>Runs on the hospital's own computer</a:t>
            </a:r>
            <a:endParaRPr lang="en-US" sz="3200" dirty="0"/>
          </a:p>
        </p:txBody>
      </p:sp>
      <p:sp>
        <p:nvSpPr>
          <p:cNvPr id="4" name="nd0"/>
          <p:cNvSpPr/>
          <p:nvPr/>
        </p:nvSpPr>
        <p:spPr>
          <a:xfrm>
            <a:off x="548640" y="1691640"/>
            <a:ext cx="2514600" cy="1645920"/>
          </a:xfrm>
          <a:prstGeom prst="roundRect">
            <a:avLst>
              <a:gd name="adj" fmla="val 6667"/>
            </a:avLst>
          </a:prstGeom>
          <a:solidFill>
            <a:schemeClr val="tx2"/>
          </a:solidFill>
          <a:ln w="9525">
            <a:solidFill>
              <a:schemeClr val="accent6"/>
            </a:solidFill>
            <a:prstDash val="solid"/>
          </a:ln>
        </p:spPr>
      </p:sp>
      <p:sp>
        <p:nvSpPr>
          <p:cNvPr id="5" name="nd0i_ring"/>
          <p:cNvSpPr/>
          <p:nvPr/>
        </p:nvSpPr>
        <p:spPr>
          <a:xfrm>
            <a:off x="777240" y="1920240"/>
            <a:ext cx="566928" cy="566928"/>
          </a:xfrm>
          <a:prstGeom prst="ellipse">
            <a:avLst/>
          </a:prstGeom>
          <a:solidFill>
            <a:schemeClr val="tx2"/>
          </a:solidFill>
          <a:ln w="15875">
            <a:solidFill>
              <a:schemeClr val="accent2"/>
            </a:solidFill>
            <a:prstDash val="solid"/>
          </a:ln>
        </p:spPr>
      </p:sp>
      <p:pic>
        <p:nvPicPr>
          <p:cNvPr id="6" name="nd0i_icon" descr="scanner icon">    </p:cNvPr>
          <p:cNvPicPr>
            <a:picLocks noChangeAspect="1"/>
          </p:cNvPicPr>
          <p:nvPr/>
        </p:nvPicPr>
        <p:blipFill>
          <a:blip r:embed="rId1"/>
          <a:stretch>
            <a:fillRect/>
          </a:stretch>
        </p:blipFill>
        <p:spPr>
          <a:xfrm>
            <a:off x="913303" y="2056303"/>
            <a:ext cx="294803" cy="294803"/>
          </a:xfrm>
          <a:prstGeom prst="rect">
            <a:avLst/>
          </a:prstGeom>
        </p:spPr>
      </p:pic>
      <p:sp>
        <p:nvSpPr>
          <p:cNvPr id="7" name="nd0h"/>
          <p:cNvSpPr txBox="1"/>
          <p:nvPr/>
        </p:nvSpPr>
        <p:spPr>
          <a:xfrm>
            <a:off x="1481328" y="1920240"/>
            <a:ext cx="1490472" cy="566928"/>
          </a:xfrm>
          <a:prstGeom prst="rect">
            <a:avLst/>
          </a:prstGeom>
          <a:noFill/>
          <a:ln/>
        </p:spPr>
        <p:txBody>
          <a:bodyPr wrap="square" lIns="0" tIns="0" rIns="0" bIns="0" rtlCol="0" anchor="ctr"/>
          <a:lstStyle/>
          <a:p>
            <a:pPr indent="0" marL="0">
              <a:buNone/>
            </a:pPr>
            <a:r>
              <a:rPr lang="en-US" sz="1600" b="1" dirty="0">
                <a:solidFill>
                  <a:schemeClr val="bg1"/>
                </a:solidFill>
              </a:rPr>
              <a:t>Any PET + MRI</a:t>
            </a:r>
            <a:endParaRPr lang="en-US" sz="1600" dirty="0"/>
          </a:p>
        </p:txBody>
      </p:sp>
      <p:sp>
        <p:nvSpPr>
          <p:cNvPr id="8" name="nd0s"/>
          <p:cNvSpPr txBox="1"/>
          <p:nvPr/>
        </p:nvSpPr>
        <p:spPr>
          <a:xfrm>
            <a:off x="777240" y="2633472"/>
            <a:ext cx="2103120" cy="594360"/>
          </a:xfrm>
          <a:prstGeom prst="rect">
            <a:avLst/>
          </a:prstGeom>
          <a:noFill/>
          <a:ln/>
        </p:spPr>
        <p:txBody>
          <a:bodyPr wrap="square" lIns="0" tIns="0" rIns="0" bIns="0" rtlCol="0" anchor="t"/>
          <a:lstStyle/>
          <a:p>
            <a:pPr indent="0" marL="0">
              <a:buNone/>
            </a:pPr>
            <a:r>
              <a:rPr lang="en-US" sz="1300" dirty="0">
                <a:solidFill>
                  <a:schemeClr val="bg2"/>
                </a:solidFill>
              </a:rPr>
              <a:t>DICOM or NIfTI, from two separate scanners</a:t>
            </a:r>
            <a:endParaRPr lang="en-US" sz="1300" dirty="0"/>
          </a:p>
        </p:txBody>
      </p:sp>
      <p:sp>
        <p:nvSpPr>
          <p:cNvPr id="9" name="ar0"/>
          <p:cNvSpPr/>
          <p:nvPr/>
        </p:nvSpPr>
        <p:spPr>
          <a:xfrm>
            <a:off x="3108960" y="2404872"/>
            <a:ext cx="237744" cy="219456"/>
          </a:xfrm>
          <a:prstGeom prst="rightArrow">
            <a:avLst/>
          </a:prstGeom>
          <a:solidFill>
            <a:schemeClr val="bg2"/>
          </a:solidFill>
          <a:ln w="12700">
            <a:solidFill>
              <a:schemeClr val="bg2"/>
            </a:solidFill>
            <a:prstDash val="solid"/>
          </a:ln>
        </p:spPr>
      </p:sp>
      <p:sp>
        <p:nvSpPr>
          <p:cNvPr id="10" name="nd1"/>
          <p:cNvSpPr/>
          <p:nvPr/>
        </p:nvSpPr>
        <p:spPr>
          <a:xfrm>
            <a:off x="3407969" y="1691640"/>
            <a:ext cx="2514600" cy="1645920"/>
          </a:xfrm>
          <a:prstGeom prst="roundRect">
            <a:avLst>
              <a:gd name="adj" fmla="val 6667"/>
            </a:avLst>
          </a:prstGeom>
          <a:solidFill>
            <a:schemeClr val="tx2"/>
          </a:solidFill>
          <a:ln w="9525">
            <a:solidFill>
              <a:schemeClr val="accent6"/>
            </a:solidFill>
            <a:prstDash val="solid"/>
          </a:ln>
        </p:spPr>
      </p:sp>
      <p:sp>
        <p:nvSpPr>
          <p:cNvPr id="11" name="nd1i_ring"/>
          <p:cNvSpPr/>
          <p:nvPr/>
        </p:nvSpPr>
        <p:spPr>
          <a:xfrm>
            <a:off x="3636569" y="1920240"/>
            <a:ext cx="566928" cy="566928"/>
          </a:xfrm>
          <a:prstGeom prst="ellipse">
            <a:avLst/>
          </a:prstGeom>
          <a:solidFill>
            <a:schemeClr val="tx2"/>
          </a:solidFill>
          <a:ln w="15875">
            <a:solidFill>
              <a:schemeClr val="accent1"/>
            </a:solidFill>
            <a:prstDash val="solid"/>
          </a:ln>
        </p:spPr>
      </p:sp>
      <p:pic>
        <p:nvPicPr>
          <p:cNvPr id="12" name="nd1i_icon" descr="cogs icon">    </p:cNvPr>
          <p:cNvPicPr>
            <a:picLocks noChangeAspect="1"/>
          </p:cNvPicPr>
          <p:nvPr/>
        </p:nvPicPr>
        <p:blipFill>
          <a:blip r:embed="rId2"/>
          <a:stretch>
            <a:fillRect/>
          </a:stretch>
        </p:blipFill>
        <p:spPr>
          <a:xfrm>
            <a:off x="3772632" y="2056303"/>
            <a:ext cx="294803" cy="294803"/>
          </a:xfrm>
          <a:prstGeom prst="rect">
            <a:avLst/>
          </a:prstGeom>
        </p:spPr>
      </p:pic>
      <p:sp>
        <p:nvSpPr>
          <p:cNvPr id="13" name="nd1h"/>
          <p:cNvSpPr txBox="1"/>
          <p:nvPr/>
        </p:nvSpPr>
        <p:spPr>
          <a:xfrm>
            <a:off x="4340657" y="1920240"/>
            <a:ext cx="1490472" cy="566928"/>
          </a:xfrm>
          <a:prstGeom prst="rect">
            <a:avLst/>
          </a:prstGeom>
          <a:noFill/>
          <a:ln/>
        </p:spPr>
        <p:txBody>
          <a:bodyPr wrap="square" lIns="0" tIns="0" rIns="0" bIns="0" rtlCol="0" anchor="ctr"/>
          <a:lstStyle/>
          <a:p>
            <a:pPr indent="0" marL="0">
              <a:buNone/>
            </a:pPr>
            <a:r>
              <a:rPr lang="en-US" sz="1600" b="1" dirty="0">
                <a:solidFill>
                  <a:schemeClr val="bg1"/>
                </a:solidFill>
              </a:rPr>
              <a:t>FusionMap engine</a:t>
            </a:r>
            <a:endParaRPr lang="en-US" sz="1600" dirty="0"/>
          </a:p>
        </p:txBody>
      </p:sp>
      <p:sp>
        <p:nvSpPr>
          <p:cNvPr id="14" name="nd1s"/>
          <p:cNvSpPr txBox="1"/>
          <p:nvPr/>
        </p:nvSpPr>
        <p:spPr>
          <a:xfrm>
            <a:off x="3636569" y="2633472"/>
            <a:ext cx="2103120" cy="594360"/>
          </a:xfrm>
          <a:prstGeom prst="rect">
            <a:avLst/>
          </a:prstGeom>
          <a:noFill/>
          <a:ln/>
        </p:spPr>
        <p:txBody>
          <a:bodyPr wrap="square" lIns="0" tIns="0" rIns="0" bIns="0" rtlCol="0" anchor="t"/>
          <a:lstStyle/>
          <a:p>
            <a:pPr indent="0" marL="0">
              <a:buNone/>
            </a:pPr>
            <a:r>
              <a:rPr lang="en-US" sz="1300" dirty="0">
                <a:solidFill>
                  <a:schemeClr val="bg2"/>
                </a:solidFill>
              </a:rPr>
              <a:t>Python · SimpleITK · ONNX Runtime</a:t>
            </a:r>
            <a:endParaRPr lang="en-US" sz="1300" dirty="0"/>
          </a:p>
        </p:txBody>
      </p:sp>
      <p:sp>
        <p:nvSpPr>
          <p:cNvPr id="15" name="ar1"/>
          <p:cNvSpPr/>
          <p:nvPr/>
        </p:nvSpPr>
        <p:spPr>
          <a:xfrm>
            <a:off x="5968289" y="2404872"/>
            <a:ext cx="237744" cy="219456"/>
          </a:xfrm>
          <a:prstGeom prst="rightArrow">
            <a:avLst/>
          </a:prstGeom>
          <a:solidFill>
            <a:schemeClr val="bg2"/>
          </a:solidFill>
          <a:ln w="12700">
            <a:solidFill>
              <a:schemeClr val="bg2"/>
            </a:solidFill>
            <a:prstDash val="solid"/>
          </a:ln>
        </p:spPr>
      </p:sp>
      <p:sp>
        <p:nvSpPr>
          <p:cNvPr id="16" name="nd2"/>
          <p:cNvSpPr/>
          <p:nvPr/>
        </p:nvSpPr>
        <p:spPr>
          <a:xfrm>
            <a:off x="6267298" y="1691640"/>
            <a:ext cx="2514600" cy="1645920"/>
          </a:xfrm>
          <a:prstGeom prst="roundRect">
            <a:avLst>
              <a:gd name="adj" fmla="val 6667"/>
            </a:avLst>
          </a:prstGeom>
          <a:solidFill>
            <a:schemeClr val="tx2"/>
          </a:solidFill>
          <a:ln w="9525">
            <a:solidFill>
              <a:schemeClr val="accent6"/>
            </a:solidFill>
            <a:prstDash val="solid"/>
          </a:ln>
        </p:spPr>
      </p:sp>
      <p:sp>
        <p:nvSpPr>
          <p:cNvPr id="17" name="nd2i_ring"/>
          <p:cNvSpPr/>
          <p:nvPr/>
        </p:nvSpPr>
        <p:spPr>
          <a:xfrm>
            <a:off x="6495898" y="1920240"/>
            <a:ext cx="566928" cy="566928"/>
          </a:xfrm>
          <a:prstGeom prst="ellipse">
            <a:avLst/>
          </a:prstGeom>
          <a:solidFill>
            <a:schemeClr val="tx2"/>
          </a:solidFill>
          <a:ln w="15875">
            <a:solidFill>
              <a:schemeClr val="accent4"/>
            </a:solidFill>
            <a:prstDash val="solid"/>
          </a:ln>
        </p:spPr>
      </p:sp>
      <p:pic>
        <p:nvPicPr>
          <p:cNvPr id="18" name="nd2i_icon" descr="laptop icon">    </p:cNvPr>
          <p:cNvPicPr>
            <a:picLocks noChangeAspect="1"/>
          </p:cNvPicPr>
          <p:nvPr/>
        </p:nvPicPr>
        <p:blipFill>
          <a:blip r:embed="rId3"/>
          <a:stretch>
            <a:fillRect/>
          </a:stretch>
        </p:blipFill>
        <p:spPr>
          <a:xfrm>
            <a:off x="6631960" y="2056303"/>
            <a:ext cx="294803" cy="294803"/>
          </a:xfrm>
          <a:prstGeom prst="rect">
            <a:avLst/>
          </a:prstGeom>
        </p:spPr>
      </p:pic>
      <p:sp>
        <p:nvSpPr>
          <p:cNvPr id="19" name="nd2h"/>
          <p:cNvSpPr txBox="1"/>
          <p:nvPr/>
        </p:nvSpPr>
        <p:spPr>
          <a:xfrm>
            <a:off x="7199986" y="1920240"/>
            <a:ext cx="1490472" cy="566928"/>
          </a:xfrm>
          <a:prstGeom prst="rect">
            <a:avLst/>
          </a:prstGeom>
          <a:noFill/>
          <a:ln/>
        </p:spPr>
        <p:txBody>
          <a:bodyPr wrap="square" lIns="0" tIns="0" rIns="0" bIns="0" rtlCol="0" anchor="ctr"/>
          <a:lstStyle/>
          <a:p>
            <a:pPr indent="0" marL="0">
              <a:buNone/>
            </a:pPr>
            <a:r>
              <a:rPr lang="en-US" sz="1600" b="1" dirty="0">
                <a:solidFill>
                  <a:schemeClr val="bg1"/>
                </a:solidFill>
              </a:rPr>
              <a:t>Web viewer</a:t>
            </a:r>
            <a:endParaRPr lang="en-US" sz="1600" dirty="0"/>
          </a:p>
        </p:txBody>
      </p:sp>
      <p:sp>
        <p:nvSpPr>
          <p:cNvPr id="20" name="nd2s"/>
          <p:cNvSpPr txBox="1"/>
          <p:nvPr/>
        </p:nvSpPr>
        <p:spPr>
          <a:xfrm>
            <a:off x="6495898" y="2633472"/>
            <a:ext cx="2103120" cy="594360"/>
          </a:xfrm>
          <a:prstGeom prst="rect">
            <a:avLst/>
          </a:prstGeom>
          <a:noFill/>
          <a:ln/>
        </p:spPr>
        <p:txBody>
          <a:bodyPr wrap="square" lIns="0" tIns="0" rIns="0" bIns="0" rtlCol="0" anchor="t"/>
          <a:lstStyle/>
          <a:p>
            <a:pPr indent="0" marL="0">
              <a:buNone/>
            </a:pPr>
            <a:r>
              <a:rPr lang="en-US" sz="1300" dirty="0">
                <a:solidFill>
                  <a:schemeClr val="bg2"/>
                </a:solidFill>
              </a:rPr>
              <a:t>React · runs in any browser</a:t>
            </a:r>
            <a:endParaRPr lang="en-US" sz="1300" dirty="0"/>
          </a:p>
        </p:txBody>
      </p:sp>
      <p:sp>
        <p:nvSpPr>
          <p:cNvPr id="21" name="ar2"/>
          <p:cNvSpPr/>
          <p:nvPr/>
        </p:nvSpPr>
        <p:spPr>
          <a:xfrm>
            <a:off x="8827618" y="2404872"/>
            <a:ext cx="237744" cy="219456"/>
          </a:xfrm>
          <a:prstGeom prst="rightArrow">
            <a:avLst/>
          </a:prstGeom>
          <a:solidFill>
            <a:schemeClr val="bg2"/>
          </a:solidFill>
          <a:ln w="12700">
            <a:solidFill>
              <a:schemeClr val="bg2"/>
            </a:solidFill>
            <a:prstDash val="solid"/>
          </a:ln>
        </p:spPr>
      </p:sp>
      <p:sp>
        <p:nvSpPr>
          <p:cNvPr id="22" name="nd3"/>
          <p:cNvSpPr/>
          <p:nvPr/>
        </p:nvSpPr>
        <p:spPr>
          <a:xfrm>
            <a:off x="9126626" y="1691640"/>
            <a:ext cx="2514600" cy="1645920"/>
          </a:xfrm>
          <a:prstGeom prst="roundRect">
            <a:avLst>
              <a:gd name="adj" fmla="val 6667"/>
            </a:avLst>
          </a:prstGeom>
          <a:solidFill>
            <a:schemeClr val="tx2"/>
          </a:solidFill>
          <a:ln w="9525">
            <a:solidFill>
              <a:schemeClr val="accent6"/>
            </a:solidFill>
            <a:prstDash val="solid"/>
          </a:ln>
        </p:spPr>
      </p:sp>
      <p:sp>
        <p:nvSpPr>
          <p:cNvPr id="23" name="nd3i_ring"/>
          <p:cNvSpPr/>
          <p:nvPr/>
        </p:nvSpPr>
        <p:spPr>
          <a:xfrm>
            <a:off x="9355226" y="1920240"/>
            <a:ext cx="566928" cy="566928"/>
          </a:xfrm>
          <a:prstGeom prst="ellipse">
            <a:avLst/>
          </a:prstGeom>
          <a:solidFill>
            <a:schemeClr val="tx2"/>
          </a:solidFill>
          <a:ln w="15875">
            <a:solidFill>
              <a:schemeClr val="accent3"/>
            </a:solidFill>
            <a:prstDash val="solid"/>
          </a:ln>
        </p:spPr>
      </p:sp>
      <p:pic>
        <p:nvPicPr>
          <p:cNvPr id="24" name="nd3i_icon" descr="server icon">    </p:cNvPr>
          <p:cNvPicPr>
            <a:picLocks noChangeAspect="1"/>
          </p:cNvPicPr>
          <p:nvPr/>
        </p:nvPicPr>
        <p:blipFill>
          <a:blip r:embed="rId4"/>
          <a:stretch>
            <a:fillRect/>
          </a:stretch>
        </p:blipFill>
        <p:spPr>
          <a:xfrm>
            <a:off x="9491289" y="2056303"/>
            <a:ext cx="294803" cy="294803"/>
          </a:xfrm>
          <a:prstGeom prst="rect">
            <a:avLst/>
          </a:prstGeom>
        </p:spPr>
      </p:pic>
      <p:sp>
        <p:nvSpPr>
          <p:cNvPr id="25" name="nd3h"/>
          <p:cNvSpPr txBox="1"/>
          <p:nvPr/>
        </p:nvSpPr>
        <p:spPr>
          <a:xfrm>
            <a:off x="10059314" y="1920240"/>
            <a:ext cx="1490472" cy="566928"/>
          </a:xfrm>
          <a:prstGeom prst="rect">
            <a:avLst/>
          </a:prstGeom>
          <a:noFill/>
          <a:ln/>
        </p:spPr>
        <p:txBody>
          <a:bodyPr wrap="square" lIns="0" tIns="0" rIns="0" bIns="0" rtlCol="0" anchor="ctr"/>
          <a:lstStyle/>
          <a:p>
            <a:pPr indent="0" marL="0">
              <a:buNone/>
            </a:pPr>
            <a:r>
              <a:rPr lang="en-US" sz="1600" b="1" dirty="0">
                <a:solidFill>
                  <a:schemeClr val="bg1"/>
                </a:solidFill>
              </a:rPr>
              <a:t>PACS + planning</a:t>
            </a:r>
            <a:endParaRPr lang="en-US" sz="1600" dirty="0"/>
          </a:p>
        </p:txBody>
      </p:sp>
      <p:sp>
        <p:nvSpPr>
          <p:cNvPr id="26" name="nd3s"/>
          <p:cNvSpPr txBox="1"/>
          <p:nvPr/>
        </p:nvSpPr>
        <p:spPr>
          <a:xfrm>
            <a:off x="9355226" y="2633472"/>
            <a:ext cx="2103120" cy="594360"/>
          </a:xfrm>
          <a:prstGeom prst="rect">
            <a:avLst/>
          </a:prstGeom>
          <a:noFill/>
          <a:ln/>
        </p:spPr>
        <p:txBody>
          <a:bodyPr wrap="square" lIns="0" tIns="0" rIns="0" bIns="0" rtlCol="0" anchor="t"/>
          <a:lstStyle/>
          <a:p>
            <a:pPr indent="0" marL="0">
              <a:buNone/>
            </a:pPr>
            <a:r>
              <a:rPr lang="en-US" sz="1300" dirty="0">
                <a:solidFill>
                  <a:schemeClr val="bg2"/>
                </a:solidFill>
              </a:rPr>
              <a:t>standard DICOM out · C-STORE</a:t>
            </a:r>
            <a:endParaRPr lang="en-US" sz="1300" dirty="0"/>
          </a:p>
        </p:txBody>
      </p:sp>
      <p:sp>
        <p:nvSpPr>
          <p:cNvPr id="27" name="fc0"/>
          <p:cNvSpPr/>
          <p:nvPr/>
        </p:nvSpPr>
        <p:spPr>
          <a:xfrm>
            <a:off x="548640" y="3566160"/>
            <a:ext cx="2615184" cy="1188720"/>
          </a:xfrm>
          <a:prstGeom prst="roundRect">
            <a:avLst>
              <a:gd name="adj" fmla="val 9231"/>
            </a:avLst>
          </a:prstGeom>
          <a:solidFill>
            <a:schemeClr val="tx2"/>
          </a:solidFill>
          <a:ln w="9525">
            <a:solidFill>
              <a:schemeClr val="accent6"/>
            </a:solidFill>
            <a:prstDash val="solid"/>
          </a:ln>
        </p:spPr>
      </p:sp>
      <p:sp>
        <p:nvSpPr>
          <p:cNvPr id="28" name="fc0t"/>
          <p:cNvSpPr txBox="1"/>
          <p:nvPr/>
        </p:nvSpPr>
        <p:spPr>
          <a:xfrm>
            <a:off x="777240" y="3611880"/>
            <a:ext cx="2240280" cy="1097280"/>
          </a:xfrm>
          <a:prstGeom prst="rect">
            <a:avLst/>
          </a:prstGeom>
          <a:noFill/>
          <a:ln/>
        </p:spPr>
        <p:txBody>
          <a:bodyPr wrap="square" lIns="0" tIns="0" rIns="0" bIns="0" rtlCol="0" anchor="ctr"/>
          <a:lstStyle/>
          <a:p>
            <a:pPr indent="0" marL="0">
              <a:buNone/>
            </a:pPr>
            <a:r>
              <a:rPr lang="en-US" sz="2600" b="1" dirty="0">
                <a:solidFill>
                  <a:schemeClr val="accent3"/>
                </a:solidFill>
              </a:rPr>
              <a:t>CPU only</a:t>
            </a:r>
            <a:endParaRPr lang="en-US" sz="2600" dirty="0"/>
          </a:p>
          <a:p>
            <a:pPr indent="0" marL="0">
              <a:buNone/>
            </a:pPr>
            <a:r>
              <a:rPr lang="en-US" sz="1400" dirty="0">
                <a:solidFill>
                  <a:schemeClr val="bg2"/>
                </a:solidFill>
              </a:rPr>
              <a:t>26 s per study. No GPU, no cloud.</a:t>
            </a:r>
            <a:endParaRPr lang="en-US" sz="2600" dirty="0"/>
          </a:p>
        </p:txBody>
      </p:sp>
      <p:sp>
        <p:nvSpPr>
          <p:cNvPr id="29" name="fc1"/>
          <p:cNvSpPr/>
          <p:nvPr/>
        </p:nvSpPr>
        <p:spPr>
          <a:xfrm>
            <a:off x="3374136" y="3566160"/>
            <a:ext cx="2615184" cy="1188720"/>
          </a:xfrm>
          <a:prstGeom prst="roundRect">
            <a:avLst>
              <a:gd name="adj" fmla="val 9231"/>
            </a:avLst>
          </a:prstGeom>
          <a:solidFill>
            <a:schemeClr val="tx2"/>
          </a:solidFill>
          <a:ln w="9525">
            <a:solidFill>
              <a:schemeClr val="accent6"/>
            </a:solidFill>
            <a:prstDash val="solid"/>
          </a:ln>
        </p:spPr>
      </p:sp>
      <p:sp>
        <p:nvSpPr>
          <p:cNvPr id="30" name="fc1t"/>
          <p:cNvSpPr txBox="1"/>
          <p:nvPr/>
        </p:nvSpPr>
        <p:spPr>
          <a:xfrm>
            <a:off x="3602736" y="3611880"/>
            <a:ext cx="2240280" cy="1097280"/>
          </a:xfrm>
          <a:prstGeom prst="rect">
            <a:avLst/>
          </a:prstGeom>
          <a:noFill/>
          <a:ln/>
        </p:spPr>
        <p:txBody>
          <a:bodyPr wrap="square" lIns="0" tIns="0" rIns="0" bIns="0" rtlCol="0" anchor="ctr"/>
          <a:lstStyle/>
          <a:p>
            <a:pPr indent="0" marL="0">
              <a:buNone/>
            </a:pPr>
            <a:r>
              <a:rPr lang="en-US" sz="2600" b="1" dirty="0">
                <a:solidFill>
                  <a:schemeClr val="accent3"/>
                </a:solidFill>
              </a:rPr>
              <a:t>Private</a:t>
            </a:r>
            <a:endParaRPr lang="en-US" sz="2600" dirty="0"/>
          </a:p>
          <a:p>
            <a:pPr indent="0" marL="0">
              <a:buNone/>
            </a:pPr>
            <a:r>
              <a:rPr lang="en-US" sz="1400" dirty="0">
                <a:solidFill>
                  <a:schemeClr val="bg2"/>
                </a:solidFill>
              </a:rPr>
              <a:t>patient data never leaves the hospital</a:t>
            </a:r>
            <a:endParaRPr lang="en-US" sz="2600" dirty="0"/>
          </a:p>
        </p:txBody>
      </p:sp>
      <p:sp>
        <p:nvSpPr>
          <p:cNvPr id="31" name="fc2"/>
          <p:cNvSpPr/>
          <p:nvPr/>
        </p:nvSpPr>
        <p:spPr>
          <a:xfrm>
            <a:off x="6199632" y="3566160"/>
            <a:ext cx="2615184" cy="1188720"/>
          </a:xfrm>
          <a:prstGeom prst="roundRect">
            <a:avLst>
              <a:gd name="adj" fmla="val 9231"/>
            </a:avLst>
          </a:prstGeom>
          <a:solidFill>
            <a:schemeClr val="tx2"/>
          </a:solidFill>
          <a:ln w="9525">
            <a:solidFill>
              <a:schemeClr val="accent6"/>
            </a:solidFill>
            <a:prstDash val="solid"/>
          </a:ln>
        </p:spPr>
      </p:sp>
      <p:sp>
        <p:nvSpPr>
          <p:cNvPr id="32" name="fc2t"/>
          <p:cNvSpPr txBox="1"/>
          <p:nvPr/>
        </p:nvSpPr>
        <p:spPr>
          <a:xfrm>
            <a:off x="6428232" y="3611880"/>
            <a:ext cx="2240280" cy="1097280"/>
          </a:xfrm>
          <a:prstGeom prst="rect">
            <a:avLst/>
          </a:prstGeom>
          <a:noFill/>
          <a:ln/>
        </p:spPr>
        <p:txBody>
          <a:bodyPr wrap="square" lIns="0" tIns="0" rIns="0" bIns="0" rtlCol="0" anchor="ctr"/>
          <a:lstStyle/>
          <a:p>
            <a:pPr indent="0" marL="0">
              <a:buNone/>
            </a:pPr>
            <a:r>
              <a:rPr lang="en-US" sz="2600" b="1" dirty="0">
                <a:solidFill>
                  <a:schemeClr val="accent2"/>
                </a:solidFill>
              </a:rPr>
              <a:t>45 tests</a:t>
            </a:r>
            <a:endParaRPr lang="en-US" sz="2600" dirty="0"/>
          </a:p>
          <a:p>
            <a:pPr indent="0" marL="0">
              <a:buNone/>
            </a:pPr>
            <a:r>
              <a:rPr lang="en-US" sz="1400" dirty="0">
                <a:solidFill>
                  <a:schemeClr val="bg2"/>
                </a:solidFill>
              </a:rPr>
              <a:t>automated, run by CI on every push</a:t>
            </a:r>
            <a:endParaRPr lang="en-US" sz="2600" dirty="0"/>
          </a:p>
        </p:txBody>
      </p:sp>
      <p:sp>
        <p:nvSpPr>
          <p:cNvPr id="33" name="fc3"/>
          <p:cNvSpPr/>
          <p:nvPr/>
        </p:nvSpPr>
        <p:spPr>
          <a:xfrm>
            <a:off x="9025128" y="3566160"/>
            <a:ext cx="2615184" cy="1188720"/>
          </a:xfrm>
          <a:prstGeom prst="roundRect">
            <a:avLst>
              <a:gd name="adj" fmla="val 9231"/>
            </a:avLst>
          </a:prstGeom>
          <a:solidFill>
            <a:schemeClr val="tx2"/>
          </a:solidFill>
          <a:ln w="9525">
            <a:solidFill>
              <a:schemeClr val="accent6"/>
            </a:solidFill>
            <a:prstDash val="solid"/>
          </a:ln>
        </p:spPr>
      </p:sp>
      <p:sp>
        <p:nvSpPr>
          <p:cNvPr id="34" name="fc3t"/>
          <p:cNvSpPr txBox="1"/>
          <p:nvPr/>
        </p:nvSpPr>
        <p:spPr>
          <a:xfrm>
            <a:off x="9253728" y="3611880"/>
            <a:ext cx="2240280" cy="1097280"/>
          </a:xfrm>
          <a:prstGeom prst="rect">
            <a:avLst/>
          </a:prstGeom>
          <a:noFill/>
          <a:ln/>
        </p:spPr>
        <p:txBody>
          <a:bodyPr wrap="square" lIns="0" tIns="0" rIns="0" bIns="0" rtlCol="0" anchor="ctr"/>
          <a:lstStyle/>
          <a:p>
            <a:pPr indent="0" marL="0">
              <a:buNone/>
            </a:pPr>
            <a:r>
              <a:rPr lang="en-US" sz="2600" b="1" dirty="0">
                <a:solidFill>
                  <a:schemeClr val="accent4"/>
                </a:solidFill>
              </a:rPr>
              <a:t>1 command</a:t>
            </a:r>
            <a:endParaRPr lang="en-US" sz="2600" dirty="0"/>
          </a:p>
          <a:p>
            <a:pPr indent="0" marL="0">
              <a:buNone/>
            </a:pPr>
            <a:r>
              <a:rPr lang="en-US" sz="1400" dirty="0">
                <a:solidFill>
                  <a:schemeClr val="bg2"/>
                </a:solidFill>
              </a:rPr>
              <a:t>docker compose up, PACS included</a:t>
            </a:r>
            <a:endParaRPr lang="en-US" sz="2600" dirty="0"/>
          </a:p>
        </p:txBody>
      </p:sp>
      <p:sp>
        <p:nvSpPr>
          <p:cNvPr id="35" name="lit"/>
          <p:cNvSpPr/>
          <p:nvPr/>
        </p:nvSpPr>
        <p:spPr>
          <a:xfrm>
            <a:off x="548640" y="4983480"/>
            <a:ext cx="11091672" cy="1115568"/>
          </a:xfrm>
          <a:prstGeom prst="roundRect">
            <a:avLst>
              <a:gd name="adj" fmla="val 9836"/>
            </a:avLst>
          </a:prstGeom>
          <a:solidFill>
            <a:schemeClr val="tx2"/>
          </a:solidFill>
          <a:ln w="9525">
            <a:solidFill>
              <a:schemeClr val="accent6"/>
            </a:solidFill>
            <a:prstDash val="solid"/>
          </a:ln>
        </p:spPr>
      </p:sp>
      <p:sp>
        <p:nvSpPr>
          <p:cNvPr id="36" name="liti_ring"/>
          <p:cNvSpPr/>
          <p:nvPr/>
        </p:nvSpPr>
        <p:spPr>
          <a:xfrm>
            <a:off x="777240" y="5266944"/>
            <a:ext cx="548640" cy="548640"/>
          </a:xfrm>
          <a:prstGeom prst="ellipse">
            <a:avLst/>
          </a:prstGeom>
          <a:solidFill>
            <a:schemeClr val="tx2"/>
          </a:solidFill>
          <a:ln w="15875">
            <a:solidFill>
              <a:schemeClr val="accent2"/>
            </a:solidFill>
            <a:prstDash val="solid"/>
          </a:ln>
        </p:spPr>
      </p:sp>
      <p:pic>
        <p:nvPicPr>
          <p:cNvPr id="37" name="liti_icon" descr="book icon">    </p:cNvPr>
          <p:cNvPicPr>
            <a:picLocks noChangeAspect="1"/>
          </p:cNvPicPr>
          <p:nvPr/>
        </p:nvPicPr>
        <p:blipFill>
          <a:blip r:embed="rId5"/>
          <a:stretch>
            <a:fillRect/>
          </a:stretch>
        </p:blipFill>
        <p:spPr>
          <a:xfrm>
            <a:off x="908914" y="5398618"/>
            <a:ext cx="285293" cy="285293"/>
          </a:xfrm>
          <a:prstGeom prst="rect">
            <a:avLst/>
          </a:prstGeom>
        </p:spPr>
      </p:pic>
      <p:sp>
        <p:nvSpPr>
          <p:cNvPr id="38" name="lit_t"/>
          <p:cNvSpPr txBox="1"/>
          <p:nvPr/>
        </p:nvSpPr>
        <p:spPr>
          <a:xfrm>
            <a:off x="1508760" y="5029200"/>
            <a:ext cx="9966960" cy="1024128"/>
          </a:xfrm>
          <a:prstGeom prst="rect">
            <a:avLst/>
          </a:prstGeom>
          <a:noFill/>
          <a:ln/>
        </p:spPr>
        <p:txBody>
          <a:bodyPr wrap="square" lIns="0" tIns="0" rIns="0" bIns="0" rtlCol="0" anchor="ctr"/>
          <a:lstStyle/>
          <a:p>
            <a:pPr indent="0" marL="0">
              <a:buNone/>
            </a:pPr>
            <a:r>
              <a:rPr lang="en-US" sz="1600" b="1" dirty="0">
                <a:solidFill>
                  <a:schemeClr val="bg1"/>
                </a:solidFill>
              </a:rPr>
              <a:t>Every design choice traces back to published research</a:t>
            </a:r>
            <a:endParaRPr lang="en-US" sz="1600" dirty="0"/>
          </a:p>
          <a:p>
            <a:pPr indent="0" marL="0">
              <a:buNone/>
            </a:pPr>
            <a:r>
              <a:rPr lang="en-US" sz="1300" dirty="0">
                <a:solidFill>
                  <a:schemeClr val="bg2"/>
                </a:solidFill>
              </a:rPr>
              <a:t>Nensa 2014  ·  Catana 2011  ·  Yoon 2012  ·  Wei 2022  ·  Alongi 2024  ·  Chen 2024 (Plasma CycleGAN)  ·  Chen 2025 (MRI-to-PET synthesis)</a:t>
            </a:r>
            <a:endParaRPr lang="en-US" sz="16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decel="100000" fill="hold"/>
                                        <p:tgtEl>
                                          <p:spTgt spid="4"/>
                                        </p:tgtEl>
                                        <p:attrNameLst>
                                          <p:attrName>ppt_x</p:attrName>
                                        </p:attrNameLst>
                                      </p:cBhvr>
                                      <p:tavLst>
                                        <p:tav tm="0">
                                          <p:val>
                                            <p:strVal val="#ppt_x"/>
                                          </p:val>
                                        </p:tav>
                                        <p:tav tm="100000">
                                          <p:val>
                                            <p:strVal val="#ppt_x"/>
                                          </p:val>
                                        </p:tav>
                                      </p:tavLst>
                                    </p:anim>
                                    <p:anim calcmode="lin" valueType="num">
                                      <p:cBhvr additive="base">
                                        <p:cTn id="9" dur="600" decel="100000" fill="hold"/>
                                        <p:tgtEl>
                                          <p:spTgt spid="4"/>
                                        </p:tgtEl>
                                        <p:attrNameLst>
                                          <p:attrName>ppt_y</p:attrName>
                                        </p:attrNameLst>
                                      </p:cBhvr>
                                      <p:tavLst>
                                        <p:tav tm="0">
                                          <p:val>
                                            <p:strVal val="#ppt_y+0.05"/>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anim calcmode="lin" valueType="num">
                                      <p:cBhvr additive="base">
                                        <p:cTn id="13" dur="600" decel="100000" fill="hold"/>
                                        <p:tgtEl>
                                          <p:spTgt spid="5"/>
                                        </p:tgtEl>
                                        <p:attrNameLst>
                                          <p:attrName>ppt_x</p:attrName>
                                        </p:attrNameLst>
                                      </p:cBhvr>
                                      <p:tavLst>
                                        <p:tav tm="0">
                                          <p:val>
                                            <p:strVal val="#ppt_x"/>
                                          </p:val>
                                        </p:tav>
                                        <p:tav tm="100000">
                                          <p:val>
                                            <p:strVal val="#ppt_x"/>
                                          </p:val>
                                        </p:tav>
                                      </p:tavLst>
                                    </p:anim>
                                    <p:anim calcmode="lin" valueType="num">
                                      <p:cBhvr additive="base">
                                        <p:cTn id="14" dur="600" decel="100000" fill="hold"/>
                                        <p:tgtEl>
                                          <p:spTgt spid="5"/>
                                        </p:tgtEl>
                                        <p:attrNameLst>
                                          <p:attrName>ppt_y</p:attrName>
                                        </p:attrNameLst>
                                      </p:cBhvr>
                                      <p:tavLst>
                                        <p:tav tm="0">
                                          <p:val>
                                            <p:strVal val="#ppt_y+0.05"/>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anim calcmode="lin" valueType="num">
                                      <p:cBhvr additive="base">
                                        <p:cTn id="18" dur="600" decel="100000" fill="hold"/>
                                        <p:tgtEl>
                                          <p:spTgt spid="6"/>
                                        </p:tgtEl>
                                        <p:attrNameLst>
                                          <p:attrName>ppt_x</p:attrName>
                                        </p:attrNameLst>
                                      </p:cBhvr>
                                      <p:tavLst>
                                        <p:tav tm="0">
                                          <p:val>
                                            <p:strVal val="#ppt_x"/>
                                          </p:val>
                                        </p:tav>
                                        <p:tav tm="100000">
                                          <p:val>
                                            <p:strVal val="#ppt_x"/>
                                          </p:val>
                                        </p:tav>
                                      </p:tavLst>
                                    </p:anim>
                                    <p:anim calcmode="lin" valueType="num">
                                      <p:cBhvr additive="base">
                                        <p:cTn id="19" dur="600" decel="100000" fill="hold"/>
                                        <p:tgtEl>
                                          <p:spTgt spid="6"/>
                                        </p:tgtEl>
                                        <p:attrNameLst>
                                          <p:attrName>ppt_y</p:attrName>
                                        </p:attrNameLst>
                                      </p:cBhvr>
                                      <p:tavLst>
                                        <p:tav tm="0">
                                          <p:val>
                                            <p:strVal val="#ppt_y+0.05"/>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anim calcmode="lin" valueType="num">
                                      <p:cBhvr additive="base">
                                        <p:cTn id="23" dur="600" decel="100000" fill="hold"/>
                                        <p:tgtEl>
                                          <p:spTgt spid="7"/>
                                        </p:tgtEl>
                                        <p:attrNameLst>
                                          <p:attrName>ppt_x</p:attrName>
                                        </p:attrNameLst>
                                      </p:cBhvr>
                                      <p:tavLst>
                                        <p:tav tm="0">
                                          <p:val>
                                            <p:strVal val="#ppt_x"/>
                                          </p:val>
                                        </p:tav>
                                        <p:tav tm="100000">
                                          <p:val>
                                            <p:strVal val="#ppt_x"/>
                                          </p:val>
                                        </p:tav>
                                      </p:tavLst>
                                    </p:anim>
                                    <p:anim calcmode="lin" valueType="num">
                                      <p:cBhvr additive="base">
                                        <p:cTn id="24" dur="600" decel="100000" fill="hold"/>
                                        <p:tgtEl>
                                          <p:spTgt spid="7"/>
                                        </p:tgtEl>
                                        <p:attrNameLst>
                                          <p:attrName>ppt_y</p:attrName>
                                        </p:attrNameLst>
                                      </p:cBhvr>
                                      <p:tavLst>
                                        <p:tav tm="0">
                                          <p:val>
                                            <p:strVal val="#ppt_y+0.05"/>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600"/>
                                        <p:tgtEl>
                                          <p:spTgt spid="8"/>
                                        </p:tgtEl>
                                      </p:cBhvr>
                                    </p:animEffect>
                                    <p:anim calcmode="lin" valueType="num">
                                      <p:cBhvr additive="base">
                                        <p:cTn id="28" dur="600" decel="100000" fill="hold"/>
                                        <p:tgtEl>
                                          <p:spTgt spid="8"/>
                                        </p:tgtEl>
                                        <p:attrNameLst>
                                          <p:attrName>ppt_x</p:attrName>
                                        </p:attrNameLst>
                                      </p:cBhvr>
                                      <p:tavLst>
                                        <p:tav tm="0">
                                          <p:val>
                                            <p:strVal val="#ppt_x"/>
                                          </p:val>
                                        </p:tav>
                                        <p:tav tm="100000">
                                          <p:val>
                                            <p:strVal val="#ppt_x"/>
                                          </p:val>
                                        </p:tav>
                                      </p:tavLst>
                                    </p:anim>
                                    <p:anim calcmode="lin" valueType="num">
                                      <p:cBhvr additive="base">
                                        <p:cTn id="29" dur="600" decel="100000" fill="hold"/>
                                        <p:tgtEl>
                                          <p:spTgt spid="8"/>
                                        </p:tgtEl>
                                        <p:attrNameLst>
                                          <p:attrName>ppt_y</p:attrName>
                                        </p:attrNameLst>
                                      </p:cBhvr>
                                      <p:tavLst>
                                        <p:tav tm="0">
                                          <p:val>
                                            <p:strVal val="#ppt_y+0.05"/>
                                          </p:val>
                                        </p:tav>
                                        <p:tav tm="100000">
                                          <p:val>
                                            <p:strVal val="#ppt_y"/>
                                          </p:val>
                                        </p:tav>
                                      </p:tavLst>
                                    </p:anim>
                                  </p:childTnLst>
                                </p:cTn>
                              </p:par>
                              <p:par>
                                <p:cTn id="30" presetID="22" presetClass="entr" presetSubtype="8" fill="hold" grpId="0" nodeType="withEffect">
                                  <p:stCondLst>
                                    <p:cond delay="25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300"/>
                                        <p:tgtEl>
                                          <p:spTgt spid="9"/>
                                        </p:tgtEl>
                                      </p:cBhvr>
                                    </p:animEffect>
                                  </p:childTnLst>
                                </p:cTn>
                              </p:par>
                              <p:par>
                                <p:cTn id="33" presetID="42" presetClass="entr" presetSubtype="0" fill="hold" grpId="0" nodeType="withEffect">
                                  <p:stCondLst>
                                    <p:cond delay="28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600"/>
                                        <p:tgtEl>
                                          <p:spTgt spid="10"/>
                                        </p:tgtEl>
                                      </p:cBhvr>
                                    </p:animEffect>
                                    <p:anim calcmode="lin" valueType="num">
                                      <p:cBhvr additive="base">
                                        <p:cTn id="36" dur="600" decel="100000" fill="hold"/>
                                        <p:tgtEl>
                                          <p:spTgt spid="10"/>
                                        </p:tgtEl>
                                        <p:attrNameLst>
                                          <p:attrName>ppt_x</p:attrName>
                                        </p:attrNameLst>
                                      </p:cBhvr>
                                      <p:tavLst>
                                        <p:tav tm="0">
                                          <p:val>
                                            <p:strVal val="#ppt_x"/>
                                          </p:val>
                                        </p:tav>
                                        <p:tav tm="100000">
                                          <p:val>
                                            <p:strVal val="#ppt_x"/>
                                          </p:val>
                                        </p:tav>
                                      </p:tavLst>
                                    </p:anim>
                                    <p:anim calcmode="lin" valueType="num">
                                      <p:cBhvr additive="base">
                                        <p:cTn id="37" dur="600" decel="100000" fill="hold"/>
                                        <p:tgtEl>
                                          <p:spTgt spid="10"/>
                                        </p:tgtEl>
                                        <p:attrNameLst>
                                          <p:attrName>ppt_y</p:attrName>
                                        </p:attrNameLst>
                                      </p:cBhvr>
                                      <p:tavLst>
                                        <p:tav tm="0">
                                          <p:val>
                                            <p:strVal val="#ppt_y+0.05"/>
                                          </p:val>
                                        </p:tav>
                                        <p:tav tm="100000">
                                          <p:val>
                                            <p:strVal val="#ppt_y"/>
                                          </p:val>
                                        </p:tav>
                                      </p:tavLst>
                                    </p:anim>
                                  </p:childTnLst>
                                </p:cTn>
                              </p:par>
                              <p:par>
                                <p:cTn id="38" presetID="42" presetClass="entr" presetSubtype="0" fill="hold" grpId="0" nodeType="withEffect">
                                  <p:stCondLst>
                                    <p:cond delay="28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00"/>
                                        <p:tgtEl>
                                          <p:spTgt spid="11"/>
                                        </p:tgtEl>
                                      </p:cBhvr>
                                    </p:animEffect>
                                    <p:anim calcmode="lin" valueType="num">
                                      <p:cBhvr additive="base">
                                        <p:cTn id="41" dur="600" decel="100000" fill="hold"/>
                                        <p:tgtEl>
                                          <p:spTgt spid="11"/>
                                        </p:tgtEl>
                                        <p:attrNameLst>
                                          <p:attrName>ppt_x</p:attrName>
                                        </p:attrNameLst>
                                      </p:cBhvr>
                                      <p:tavLst>
                                        <p:tav tm="0">
                                          <p:val>
                                            <p:strVal val="#ppt_x"/>
                                          </p:val>
                                        </p:tav>
                                        <p:tav tm="100000">
                                          <p:val>
                                            <p:strVal val="#ppt_x"/>
                                          </p:val>
                                        </p:tav>
                                      </p:tavLst>
                                    </p:anim>
                                    <p:anim calcmode="lin" valueType="num">
                                      <p:cBhvr additive="base">
                                        <p:cTn id="42" dur="600" decel="100000" fill="hold"/>
                                        <p:tgtEl>
                                          <p:spTgt spid="11"/>
                                        </p:tgtEl>
                                        <p:attrNameLst>
                                          <p:attrName>ppt_y</p:attrName>
                                        </p:attrNameLst>
                                      </p:cBhvr>
                                      <p:tavLst>
                                        <p:tav tm="0">
                                          <p:val>
                                            <p:strVal val="#ppt_y+0.05"/>
                                          </p:val>
                                        </p:tav>
                                        <p:tav tm="100000">
                                          <p:val>
                                            <p:strVal val="#ppt_y"/>
                                          </p:val>
                                        </p:tav>
                                      </p:tavLst>
                                    </p:anim>
                                  </p:childTnLst>
                                </p:cTn>
                              </p:par>
                              <p:par>
                                <p:cTn id="43" presetID="42" presetClass="entr" presetSubtype="0" fill="hold" grpId="0" nodeType="withEffect">
                                  <p:stCondLst>
                                    <p:cond delay="28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600"/>
                                        <p:tgtEl>
                                          <p:spTgt spid="12"/>
                                        </p:tgtEl>
                                      </p:cBhvr>
                                    </p:animEffect>
                                    <p:anim calcmode="lin" valueType="num">
                                      <p:cBhvr additive="base">
                                        <p:cTn id="46" dur="600" decel="100000" fill="hold"/>
                                        <p:tgtEl>
                                          <p:spTgt spid="12"/>
                                        </p:tgtEl>
                                        <p:attrNameLst>
                                          <p:attrName>ppt_x</p:attrName>
                                        </p:attrNameLst>
                                      </p:cBhvr>
                                      <p:tavLst>
                                        <p:tav tm="0">
                                          <p:val>
                                            <p:strVal val="#ppt_x"/>
                                          </p:val>
                                        </p:tav>
                                        <p:tav tm="100000">
                                          <p:val>
                                            <p:strVal val="#ppt_x"/>
                                          </p:val>
                                        </p:tav>
                                      </p:tavLst>
                                    </p:anim>
                                    <p:anim calcmode="lin" valueType="num">
                                      <p:cBhvr additive="base">
                                        <p:cTn id="47" dur="600" decel="100000" fill="hold"/>
                                        <p:tgtEl>
                                          <p:spTgt spid="12"/>
                                        </p:tgtEl>
                                        <p:attrNameLst>
                                          <p:attrName>ppt_y</p:attrName>
                                        </p:attrNameLst>
                                      </p:cBhvr>
                                      <p:tavLst>
                                        <p:tav tm="0">
                                          <p:val>
                                            <p:strVal val="#ppt_y+0.05"/>
                                          </p:val>
                                        </p:tav>
                                        <p:tav tm="100000">
                                          <p:val>
                                            <p:strVal val="#ppt_y"/>
                                          </p:val>
                                        </p:tav>
                                      </p:tavLst>
                                    </p:anim>
                                  </p:childTnLst>
                                </p:cTn>
                              </p:par>
                              <p:par>
                                <p:cTn id="48" presetID="42" presetClass="entr" presetSubtype="0" fill="hold" grpId="0" nodeType="withEffect">
                                  <p:stCondLst>
                                    <p:cond delay="28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600"/>
                                        <p:tgtEl>
                                          <p:spTgt spid="13"/>
                                        </p:tgtEl>
                                      </p:cBhvr>
                                    </p:animEffect>
                                    <p:anim calcmode="lin" valueType="num">
                                      <p:cBhvr additive="base">
                                        <p:cTn id="51" dur="600" decel="100000" fill="hold"/>
                                        <p:tgtEl>
                                          <p:spTgt spid="13"/>
                                        </p:tgtEl>
                                        <p:attrNameLst>
                                          <p:attrName>ppt_x</p:attrName>
                                        </p:attrNameLst>
                                      </p:cBhvr>
                                      <p:tavLst>
                                        <p:tav tm="0">
                                          <p:val>
                                            <p:strVal val="#ppt_x"/>
                                          </p:val>
                                        </p:tav>
                                        <p:tav tm="100000">
                                          <p:val>
                                            <p:strVal val="#ppt_x"/>
                                          </p:val>
                                        </p:tav>
                                      </p:tavLst>
                                    </p:anim>
                                    <p:anim calcmode="lin" valueType="num">
                                      <p:cBhvr additive="base">
                                        <p:cTn id="52" dur="600" decel="100000" fill="hold"/>
                                        <p:tgtEl>
                                          <p:spTgt spid="13"/>
                                        </p:tgtEl>
                                        <p:attrNameLst>
                                          <p:attrName>ppt_y</p:attrName>
                                        </p:attrNameLst>
                                      </p:cBhvr>
                                      <p:tavLst>
                                        <p:tav tm="0">
                                          <p:val>
                                            <p:strVal val="#ppt_y+0.05"/>
                                          </p:val>
                                        </p:tav>
                                        <p:tav tm="100000">
                                          <p:val>
                                            <p:strVal val="#ppt_y"/>
                                          </p:val>
                                        </p:tav>
                                      </p:tavLst>
                                    </p:anim>
                                  </p:childTnLst>
                                </p:cTn>
                              </p:par>
                              <p:par>
                                <p:cTn id="53" presetID="42" presetClass="entr" presetSubtype="0" fill="hold" grpId="0" nodeType="withEffect">
                                  <p:stCondLst>
                                    <p:cond delay="28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600"/>
                                        <p:tgtEl>
                                          <p:spTgt spid="14"/>
                                        </p:tgtEl>
                                      </p:cBhvr>
                                    </p:animEffect>
                                    <p:anim calcmode="lin" valueType="num">
                                      <p:cBhvr additive="base">
                                        <p:cTn id="56" dur="600" decel="100000" fill="hold"/>
                                        <p:tgtEl>
                                          <p:spTgt spid="14"/>
                                        </p:tgtEl>
                                        <p:attrNameLst>
                                          <p:attrName>ppt_x</p:attrName>
                                        </p:attrNameLst>
                                      </p:cBhvr>
                                      <p:tavLst>
                                        <p:tav tm="0">
                                          <p:val>
                                            <p:strVal val="#ppt_x"/>
                                          </p:val>
                                        </p:tav>
                                        <p:tav tm="100000">
                                          <p:val>
                                            <p:strVal val="#ppt_x"/>
                                          </p:val>
                                        </p:tav>
                                      </p:tavLst>
                                    </p:anim>
                                    <p:anim calcmode="lin" valueType="num">
                                      <p:cBhvr additive="base">
                                        <p:cTn id="57" dur="600" decel="100000" fill="hold"/>
                                        <p:tgtEl>
                                          <p:spTgt spid="14"/>
                                        </p:tgtEl>
                                        <p:attrNameLst>
                                          <p:attrName>ppt_y</p:attrName>
                                        </p:attrNameLst>
                                      </p:cBhvr>
                                      <p:tavLst>
                                        <p:tav tm="0">
                                          <p:val>
                                            <p:strVal val="#ppt_y+0.05"/>
                                          </p:val>
                                        </p:tav>
                                        <p:tav tm="100000">
                                          <p:val>
                                            <p:strVal val="#ppt_y"/>
                                          </p:val>
                                        </p:tav>
                                      </p:tavLst>
                                    </p:anim>
                                  </p:childTnLst>
                                </p:cTn>
                              </p:par>
                              <p:par>
                                <p:cTn id="58" presetID="22" presetClass="entr" presetSubtype="8" fill="hold" grpId="0" nodeType="withEffect">
                                  <p:stCondLst>
                                    <p:cond delay="530"/>
                                  </p:stCondLst>
                                  <p:childTnLst>
                                    <p:set>
                                      <p:cBhvr>
                                        <p:cTn id="59" dur="1" fill="hold">
                                          <p:stCondLst>
                                            <p:cond delay="0"/>
                                          </p:stCondLst>
                                        </p:cTn>
                                        <p:tgtEl>
                                          <p:spTgt spid="15"/>
                                        </p:tgtEl>
                                        <p:attrNameLst>
                                          <p:attrName>style.visibility</p:attrName>
                                        </p:attrNameLst>
                                      </p:cBhvr>
                                      <p:to>
                                        <p:strVal val="visible"/>
                                      </p:to>
                                    </p:set>
                                    <p:animEffect transition="in" filter="wipe(left)">
                                      <p:cBhvr>
                                        <p:cTn id="60" dur="300"/>
                                        <p:tgtEl>
                                          <p:spTgt spid="15"/>
                                        </p:tgtEl>
                                      </p:cBhvr>
                                    </p:animEffect>
                                  </p:childTnLst>
                                </p:cTn>
                              </p:par>
                              <p:par>
                                <p:cTn id="61" presetID="42" presetClass="entr" presetSubtype="0" fill="hold" grpId="0" nodeType="withEffect">
                                  <p:stCondLst>
                                    <p:cond delay="56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600"/>
                                        <p:tgtEl>
                                          <p:spTgt spid="16"/>
                                        </p:tgtEl>
                                      </p:cBhvr>
                                    </p:animEffect>
                                    <p:anim calcmode="lin" valueType="num">
                                      <p:cBhvr additive="base">
                                        <p:cTn id="64" dur="600" decel="100000" fill="hold"/>
                                        <p:tgtEl>
                                          <p:spTgt spid="16"/>
                                        </p:tgtEl>
                                        <p:attrNameLst>
                                          <p:attrName>ppt_x</p:attrName>
                                        </p:attrNameLst>
                                      </p:cBhvr>
                                      <p:tavLst>
                                        <p:tav tm="0">
                                          <p:val>
                                            <p:strVal val="#ppt_x"/>
                                          </p:val>
                                        </p:tav>
                                        <p:tav tm="100000">
                                          <p:val>
                                            <p:strVal val="#ppt_x"/>
                                          </p:val>
                                        </p:tav>
                                      </p:tavLst>
                                    </p:anim>
                                    <p:anim calcmode="lin" valueType="num">
                                      <p:cBhvr additive="base">
                                        <p:cTn id="65" dur="600" decel="100000" fill="hold"/>
                                        <p:tgtEl>
                                          <p:spTgt spid="16"/>
                                        </p:tgtEl>
                                        <p:attrNameLst>
                                          <p:attrName>ppt_y</p:attrName>
                                        </p:attrNameLst>
                                      </p:cBhvr>
                                      <p:tavLst>
                                        <p:tav tm="0">
                                          <p:val>
                                            <p:strVal val="#ppt_y+0.05"/>
                                          </p:val>
                                        </p:tav>
                                        <p:tav tm="100000">
                                          <p:val>
                                            <p:strVal val="#ppt_y"/>
                                          </p:val>
                                        </p:tav>
                                      </p:tavLst>
                                    </p:anim>
                                  </p:childTnLst>
                                </p:cTn>
                              </p:par>
                              <p:par>
                                <p:cTn id="66" presetID="42" presetClass="entr" presetSubtype="0" fill="hold" grpId="0" nodeType="withEffect">
                                  <p:stCondLst>
                                    <p:cond delay="56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600"/>
                                        <p:tgtEl>
                                          <p:spTgt spid="17"/>
                                        </p:tgtEl>
                                      </p:cBhvr>
                                    </p:animEffect>
                                    <p:anim calcmode="lin" valueType="num">
                                      <p:cBhvr additive="base">
                                        <p:cTn id="69" dur="600" decel="100000" fill="hold"/>
                                        <p:tgtEl>
                                          <p:spTgt spid="17"/>
                                        </p:tgtEl>
                                        <p:attrNameLst>
                                          <p:attrName>ppt_x</p:attrName>
                                        </p:attrNameLst>
                                      </p:cBhvr>
                                      <p:tavLst>
                                        <p:tav tm="0">
                                          <p:val>
                                            <p:strVal val="#ppt_x"/>
                                          </p:val>
                                        </p:tav>
                                        <p:tav tm="100000">
                                          <p:val>
                                            <p:strVal val="#ppt_x"/>
                                          </p:val>
                                        </p:tav>
                                      </p:tavLst>
                                    </p:anim>
                                    <p:anim calcmode="lin" valueType="num">
                                      <p:cBhvr additive="base">
                                        <p:cTn id="70" dur="600" decel="100000" fill="hold"/>
                                        <p:tgtEl>
                                          <p:spTgt spid="17"/>
                                        </p:tgtEl>
                                        <p:attrNameLst>
                                          <p:attrName>ppt_y</p:attrName>
                                        </p:attrNameLst>
                                      </p:cBhvr>
                                      <p:tavLst>
                                        <p:tav tm="0">
                                          <p:val>
                                            <p:strVal val="#ppt_y+0.05"/>
                                          </p:val>
                                        </p:tav>
                                        <p:tav tm="100000">
                                          <p:val>
                                            <p:strVal val="#ppt_y"/>
                                          </p:val>
                                        </p:tav>
                                      </p:tavLst>
                                    </p:anim>
                                  </p:childTnLst>
                                </p:cTn>
                              </p:par>
                              <p:par>
                                <p:cTn id="71" presetID="42" presetClass="entr" presetSubtype="0" fill="hold" grpId="0" nodeType="withEffect">
                                  <p:stCondLst>
                                    <p:cond delay="56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600"/>
                                        <p:tgtEl>
                                          <p:spTgt spid="18"/>
                                        </p:tgtEl>
                                      </p:cBhvr>
                                    </p:animEffect>
                                    <p:anim calcmode="lin" valueType="num">
                                      <p:cBhvr additive="base">
                                        <p:cTn id="74" dur="600" decel="100000" fill="hold"/>
                                        <p:tgtEl>
                                          <p:spTgt spid="18"/>
                                        </p:tgtEl>
                                        <p:attrNameLst>
                                          <p:attrName>ppt_x</p:attrName>
                                        </p:attrNameLst>
                                      </p:cBhvr>
                                      <p:tavLst>
                                        <p:tav tm="0">
                                          <p:val>
                                            <p:strVal val="#ppt_x"/>
                                          </p:val>
                                        </p:tav>
                                        <p:tav tm="100000">
                                          <p:val>
                                            <p:strVal val="#ppt_x"/>
                                          </p:val>
                                        </p:tav>
                                      </p:tavLst>
                                    </p:anim>
                                    <p:anim calcmode="lin" valueType="num">
                                      <p:cBhvr additive="base">
                                        <p:cTn id="75" dur="600" decel="100000" fill="hold"/>
                                        <p:tgtEl>
                                          <p:spTgt spid="18"/>
                                        </p:tgtEl>
                                        <p:attrNameLst>
                                          <p:attrName>ppt_y</p:attrName>
                                        </p:attrNameLst>
                                      </p:cBhvr>
                                      <p:tavLst>
                                        <p:tav tm="0">
                                          <p:val>
                                            <p:strVal val="#ppt_y+0.05"/>
                                          </p:val>
                                        </p:tav>
                                        <p:tav tm="100000">
                                          <p:val>
                                            <p:strVal val="#ppt_y"/>
                                          </p:val>
                                        </p:tav>
                                      </p:tavLst>
                                    </p:anim>
                                  </p:childTnLst>
                                </p:cTn>
                              </p:par>
                              <p:par>
                                <p:cTn id="76" presetID="42" presetClass="entr" presetSubtype="0" fill="hold" grpId="0" nodeType="withEffect">
                                  <p:stCondLst>
                                    <p:cond delay="56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600"/>
                                        <p:tgtEl>
                                          <p:spTgt spid="19"/>
                                        </p:tgtEl>
                                      </p:cBhvr>
                                    </p:animEffect>
                                    <p:anim calcmode="lin" valueType="num">
                                      <p:cBhvr additive="base">
                                        <p:cTn id="79" dur="600" decel="100000" fill="hold"/>
                                        <p:tgtEl>
                                          <p:spTgt spid="19"/>
                                        </p:tgtEl>
                                        <p:attrNameLst>
                                          <p:attrName>ppt_x</p:attrName>
                                        </p:attrNameLst>
                                      </p:cBhvr>
                                      <p:tavLst>
                                        <p:tav tm="0">
                                          <p:val>
                                            <p:strVal val="#ppt_x"/>
                                          </p:val>
                                        </p:tav>
                                        <p:tav tm="100000">
                                          <p:val>
                                            <p:strVal val="#ppt_x"/>
                                          </p:val>
                                        </p:tav>
                                      </p:tavLst>
                                    </p:anim>
                                    <p:anim calcmode="lin" valueType="num">
                                      <p:cBhvr additive="base">
                                        <p:cTn id="80" dur="600" decel="100000" fill="hold"/>
                                        <p:tgtEl>
                                          <p:spTgt spid="19"/>
                                        </p:tgtEl>
                                        <p:attrNameLst>
                                          <p:attrName>ppt_y</p:attrName>
                                        </p:attrNameLst>
                                      </p:cBhvr>
                                      <p:tavLst>
                                        <p:tav tm="0">
                                          <p:val>
                                            <p:strVal val="#ppt_y+0.05"/>
                                          </p:val>
                                        </p:tav>
                                        <p:tav tm="100000">
                                          <p:val>
                                            <p:strVal val="#ppt_y"/>
                                          </p:val>
                                        </p:tav>
                                      </p:tavLst>
                                    </p:anim>
                                  </p:childTnLst>
                                </p:cTn>
                              </p:par>
                              <p:par>
                                <p:cTn id="81" presetID="42" presetClass="entr" presetSubtype="0" fill="hold" grpId="0" nodeType="withEffect">
                                  <p:stCondLst>
                                    <p:cond delay="56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600"/>
                                        <p:tgtEl>
                                          <p:spTgt spid="20"/>
                                        </p:tgtEl>
                                      </p:cBhvr>
                                    </p:animEffect>
                                    <p:anim calcmode="lin" valueType="num">
                                      <p:cBhvr additive="base">
                                        <p:cTn id="84" dur="600" decel="100000" fill="hold"/>
                                        <p:tgtEl>
                                          <p:spTgt spid="20"/>
                                        </p:tgtEl>
                                        <p:attrNameLst>
                                          <p:attrName>ppt_x</p:attrName>
                                        </p:attrNameLst>
                                      </p:cBhvr>
                                      <p:tavLst>
                                        <p:tav tm="0">
                                          <p:val>
                                            <p:strVal val="#ppt_x"/>
                                          </p:val>
                                        </p:tav>
                                        <p:tav tm="100000">
                                          <p:val>
                                            <p:strVal val="#ppt_x"/>
                                          </p:val>
                                        </p:tav>
                                      </p:tavLst>
                                    </p:anim>
                                    <p:anim calcmode="lin" valueType="num">
                                      <p:cBhvr additive="base">
                                        <p:cTn id="85" dur="600" decel="100000" fill="hold"/>
                                        <p:tgtEl>
                                          <p:spTgt spid="20"/>
                                        </p:tgtEl>
                                        <p:attrNameLst>
                                          <p:attrName>ppt_y</p:attrName>
                                        </p:attrNameLst>
                                      </p:cBhvr>
                                      <p:tavLst>
                                        <p:tav tm="0">
                                          <p:val>
                                            <p:strVal val="#ppt_y+0.05"/>
                                          </p:val>
                                        </p:tav>
                                        <p:tav tm="100000">
                                          <p:val>
                                            <p:strVal val="#ppt_y"/>
                                          </p:val>
                                        </p:tav>
                                      </p:tavLst>
                                    </p:anim>
                                  </p:childTnLst>
                                </p:cTn>
                              </p:par>
                              <p:par>
                                <p:cTn id="86" presetID="22" presetClass="entr" presetSubtype="8" fill="hold" grpId="0" nodeType="withEffect">
                                  <p:stCondLst>
                                    <p:cond delay="810"/>
                                  </p:stCondLst>
                                  <p:childTnLst>
                                    <p:set>
                                      <p:cBhvr>
                                        <p:cTn id="87" dur="1" fill="hold">
                                          <p:stCondLst>
                                            <p:cond delay="0"/>
                                          </p:stCondLst>
                                        </p:cTn>
                                        <p:tgtEl>
                                          <p:spTgt spid="21"/>
                                        </p:tgtEl>
                                        <p:attrNameLst>
                                          <p:attrName>style.visibility</p:attrName>
                                        </p:attrNameLst>
                                      </p:cBhvr>
                                      <p:to>
                                        <p:strVal val="visible"/>
                                      </p:to>
                                    </p:set>
                                    <p:animEffect transition="in" filter="wipe(left)">
                                      <p:cBhvr>
                                        <p:cTn id="88" dur="300"/>
                                        <p:tgtEl>
                                          <p:spTgt spid="21"/>
                                        </p:tgtEl>
                                      </p:cBhvr>
                                    </p:animEffect>
                                  </p:childTnLst>
                                </p:cTn>
                              </p:par>
                              <p:par>
                                <p:cTn id="89" presetID="42" presetClass="entr" presetSubtype="0" fill="hold" grpId="0" nodeType="withEffect">
                                  <p:stCondLst>
                                    <p:cond delay="840"/>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600"/>
                                        <p:tgtEl>
                                          <p:spTgt spid="22"/>
                                        </p:tgtEl>
                                      </p:cBhvr>
                                    </p:animEffect>
                                    <p:anim calcmode="lin" valueType="num">
                                      <p:cBhvr additive="base">
                                        <p:cTn id="92" dur="600" decel="100000" fill="hold"/>
                                        <p:tgtEl>
                                          <p:spTgt spid="22"/>
                                        </p:tgtEl>
                                        <p:attrNameLst>
                                          <p:attrName>ppt_x</p:attrName>
                                        </p:attrNameLst>
                                      </p:cBhvr>
                                      <p:tavLst>
                                        <p:tav tm="0">
                                          <p:val>
                                            <p:strVal val="#ppt_x"/>
                                          </p:val>
                                        </p:tav>
                                        <p:tav tm="100000">
                                          <p:val>
                                            <p:strVal val="#ppt_x"/>
                                          </p:val>
                                        </p:tav>
                                      </p:tavLst>
                                    </p:anim>
                                    <p:anim calcmode="lin" valueType="num">
                                      <p:cBhvr additive="base">
                                        <p:cTn id="93" dur="600" decel="100000" fill="hold"/>
                                        <p:tgtEl>
                                          <p:spTgt spid="22"/>
                                        </p:tgtEl>
                                        <p:attrNameLst>
                                          <p:attrName>ppt_y</p:attrName>
                                        </p:attrNameLst>
                                      </p:cBhvr>
                                      <p:tavLst>
                                        <p:tav tm="0">
                                          <p:val>
                                            <p:strVal val="#ppt_y+0.05"/>
                                          </p:val>
                                        </p:tav>
                                        <p:tav tm="100000">
                                          <p:val>
                                            <p:strVal val="#ppt_y"/>
                                          </p:val>
                                        </p:tav>
                                      </p:tavLst>
                                    </p:anim>
                                  </p:childTnLst>
                                </p:cTn>
                              </p:par>
                              <p:par>
                                <p:cTn id="94" presetID="42" presetClass="entr" presetSubtype="0" fill="hold" grpId="0" nodeType="withEffect">
                                  <p:stCondLst>
                                    <p:cond delay="84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600"/>
                                        <p:tgtEl>
                                          <p:spTgt spid="23"/>
                                        </p:tgtEl>
                                      </p:cBhvr>
                                    </p:animEffect>
                                    <p:anim calcmode="lin" valueType="num">
                                      <p:cBhvr additive="base">
                                        <p:cTn id="97" dur="600" decel="100000" fill="hold"/>
                                        <p:tgtEl>
                                          <p:spTgt spid="23"/>
                                        </p:tgtEl>
                                        <p:attrNameLst>
                                          <p:attrName>ppt_x</p:attrName>
                                        </p:attrNameLst>
                                      </p:cBhvr>
                                      <p:tavLst>
                                        <p:tav tm="0">
                                          <p:val>
                                            <p:strVal val="#ppt_x"/>
                                          </p:val>
                                        </p:tav>
                                        <p:tav tm="100000">
                                          <p:val>
                                            <p:strVal val="#ppt_x"/>
                                          </p:val>
                                        </p:tav>
                                      </p:tavLst>
                                    </p:anim>
                                    <p:anim calcmode="lin" valueType="num">
                                      <p:cBhvr additive="base">
                                        <p:cTn id="98" dur="600" decel="100000" fill="hold"/>
                                        <p:tgtEl>
                                          <p:spTgt spid="23"/>
                                        </p:tgtEl>
                                        <p:attrNameLst>
                                          <p:attrName>ppt_y</p:attrName>
                                        </p:attrNameLst>
                                      </p:cBhvr>
                                      <p:tavLst>
                                        <p:tav tm="0">
                                          <p:val>
                                            <p:strVal val="#ppt_y+0.05"/>
                                          </p:val>
                                        </p:tav>
                                        <p:tav tm="100000">
                                          <p:val>
                                            <p:strVal val="#ppt_y"/>
                                          </p:val>
                                        </p:tav>
                                      </p:tavLst>
                                    </p:anim>
                                  </p:childTnLst>
                                </p:cTn>
                              </p:par>
                              <p:par>
                                <p:cTn id="99" presetID="42" presetClass="entr" presetSubtype="0" fill="hold" grpId="0" nodeType="withEffect">
                                  <p:stCondLst>
                                    <p:cond delay="840"/>
                                  </p:stCondLst>
                                  <p:childTnLst>
                                    <p:set>
                                      <p:cBhvr>
                                        <p:cTn id="100" dur="1" fill="hold">
                                          <p:stCondLst>
                                            <p:cond delay="0"/>
                                          </p:stCondLst>
                                        </p:cTn>
                                        <p:tgtEl>
                                          <p:spTgt spid="24"/>
                                        </p:tgtEl>
                                        <p:attrNameLst>
                                          <p:attrName>style.visibility</p:attrName>
                                        </p:attrNameLst>
                                      </p:cBhvr>
                                      <p:to>
                                        <p:strVal val="visible"/>
                                      </p:to>
                                    </p:set>
                                    <p:animEffect transition="in" filter="fade">
                                      <p:cBhvr>
                                        <p:cTn id="101" dur="600"/>
                                        <p:tgtEl>
                                          <p:spTgt spid="24"/>
                                        </p:tgtEl>
                                      </p:cBhvr>
                                    </p:animEffect>
                                    <p:anim calcmode="lin" valueType="num">
                                      <p:cBhvr additive="base">
                                        <p:cTn id="102" dur="600" decel="100000" fill="hold"/>
                                        <p:tgtEl>
                                          <p:spTgt spid="24"/>
                                        </p:tgtEl>
                                        <p:attrNameLst>
                                          <p:attrName>ppt_x</p:attrName>
                                        </p:attrNameLst>
                                      </p:cBhvr>
                                      <p:tavLst>
                                        <p:tav tm="0">
                                          <p:val>
                                            <p:strVal val="#ppt_x"/>
                                          </p:val>
                                        </p:tav>
                                        <p:tav tm="100000">
                                          <p:val>
                                            <p:strVal val="#ppt_x"/>
                                          </p:val>
                                        </p:tav>
                                      </p:tavLst>
                                    </p:anim>
                                    <p:anim calcmode="lin" valueType="num">
                                      <p:cBhvr additive="base">
                                        <p:cTn id="103" dur="600" decel="100000" fill="hold"/>
                                        <p:tgtEl>
                                          <p:spTgt spid="24"/>
                                        </p:tgtEl>
                                        <p:attrNameLst>
                                          <p:attrName>ppt_y</p:attrName>
                                        </p:attrNameLst>
                                      </p:cBhvr>
                                      <p:tavLst>
                                        <p:tav tm="0">
                                          <p:val>
                                            <p:strVal val="#ppt_y+0.05"/>
                                          </p:val>
                                        </p:tav>
                                        <p:tav tm="100000">
                                          <p:val>
                                            <p:strVal val="#ppt_y"/>
                                          </p:val>
                                        </p:tav>
                                      </p:tavLst>
                                    </p:anim>
                                  </p:childTnLst>
                                </p:cTn>
                              </p:par>
                              <p:par>
                                <p:cTn id="104" presetID="42" presetClass="entr" presetSubtype="0" fill="hold" grpId="0" nodeType="withEffect">
                                  <p:stCondLst>
                                    <p:cond delay="84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600"/>
                                        <p:tgtEl>
                                          <p:spTgt spid="25"/>
                                        </p:tgtEl>
                                      </p:cBhvr>
                                    </p:animEffect>
                                    <p:anim calcmode="lin" valueType="num">
                                      <p:cBhvr additive="base">
                                        <p:cTn id="107" dur="600" decel="100000" fill="hold"/>
                                        <p:tgtEl>
                                          <p:spTgt spid="25"/>
                                        </p:tgtEl>
                                        <p:attrNameLst>
                                          <p:attrName>ppt_x</p:attrName>
                                        </p:attrNameLst>
                                      </p:cBhvr>
                                      <p:tavLst>
                                        <p:tav tm="0">
                                          <p:val>
                                            <p:strVal val="#ppt_x"/>
                                          </p:val>
                                        </p:tav>
                                        <p:tav tm="100000">
                                          <p:val>
                                            <p:strVal val="#ppt_x"/>
                                          </p:val>
                                        </p:tav>
                                      </p:tavLst>
                                    </p:anim>
                                    <p:anim calcmode="lin" valueType="num">
                                      <p:cBhvr additive="base">
                                        <p:cTn id="108" dur="600" decel="100000" fill="hold"/>
                                        <p:tgtEl>
                                          <p:spTgt spid="25"/>
                                        </p:tgtEl>
                                        <p:attrNameLst>
                                          <p:attrName>ppt_y</p:attrName>
                                        </p:attrNameLst>
                                      </p:cBhvr>
                                      <p:tavLst>
                                        <p:tav tm="0">
                                          <p:val>
                                            <p:strVal val="#ppt_y+0.05"/>
                                          </p:val>
                                        </p:tav>
                                        <p:tav tm="100000">
                                          <p:val>
                                            <p:strVal val="#ppt_y"/>
                                          </p:val>
                                        </p:tav>
                                      </p:tavLst>
                                    </p:anim>
                                  </p:childTnLst>
                                </p:cTn>
                              </p:par>
                              <p:par>
                                <p:cTn id="109" presetID="42" presetClass="entr" presetSubtype="0" fill="hold" grpId="0" nodeType="withEffect">
                                  <p:stCondLst>
                                    <p:cond delay="840"/>
                                  </p:stCondLst>
                                  <p:childTnLst>
                                    <p:set>
                                      <p:cBhvr>
                                        <p:cTn id="110" dur="1" fill="hold">
                                          <p:stCondLst>
                                            <p:cond delay="0"/>
                                          </p:stCondLst>
                                        </p:cTn>
                                        <p:tgtEl>
                                          <p:spTgt spid="26"/>
                                        </p:tgtEl>
                                        <p:attrNameLst>
                                          <p:attrName>style.visibility</p:attrName>
                                        </p:attrNameLst>
                                      </p:cBhvr>
                                      <p:to>
                                        <p:strVal val="visible"/>
                                      </p:to>
                                    </p:set>
                                    <p:animEffect transition="in" filter="fade">
                                      <p:cBhvr>
                                        <p:cTn id="111" dur="600"/>
                                        <p:tgtEl>
                                          <p:spTgt spid="26"/>
                                        </p:tgtEl>
                                      </p:cBhvr>
                                    </p:animEffect>
                                    <p:anim calcmode="lin" valueType="num">
                                      <p:cBhvr additive="base">
                                        <p:cTn id="112" dur="600" decel="100000" fill="hold"/>
                                        <p:tgtEl>
                                          <p:spTgt spid="26"/>
                                        </p:tgtEl>
                                        <p:attrNameLst>
                                          <p:attrName>ppt_x</p:attrName>
                                        </p:attrNameLst>
                                      </p:cBhvr>
                                      <p:tavLst>
                                        <p:tav tm="0">
                                          <p:val>
                                            <p:strVal val="#ppt_x"/>
                                          </p:val>
                                        </p:tav>
                                        <p:tav tm="100000">
                                          <p:val>
                                            <p:strVal val="#ppt_x"/>
                                          </p:val>
                                        </p:tav>
                                      </p:tavLst>
                                    </p:anim>
                                    <p:anim calcmode="lin" valueType="num">
                                      <p:cBhvr additive="base">
                                        <p:cTn id="113" dur="600" decel="100000" fill="hold"/>
                                        <p:tgtEl>
                                          <p:spTgt spid="26"/>
                                        </p:tgtEl>
                                        <p:attrNameLst>
                                          <p:attrName>ppt_y</p:attrName>
                                        </p:attrNameLst>
                                      </p:cBhvr>
                                      <p:tavLst>
                                        <p:tav tm="0">
                                          <p:val>
                                            <p:strVal val="#ppt_y+0.05"/>
                                          </p:val>
                                        </p:tav>
                                        <p:tav tm="100000">
                                          <p:val>
                                            <p:strVal val="#ppt_y"/>
                                          </p:val>
                                        </p:tav>
                                      </p:tavLst>
                                    </p:anim>
                                  </p:childTnLst>
                                </p:cTn>
                              </p:par>
                              <p:par>
                                <p:cTn id="114" presetID="53" presetClass="entr" presetSubtype="16" fill="hold" grpId="0" nodeType="withEffect">
                                  <p:stCondLst>
                                    <p:cond delay="1250"/>
                                  </p:stCondLst>
                                  <p:childTnLst>
                                    <p:set>
                                      <p:cBhvr>
                                        <p:cTn id="115" dur="1" fill="hold">
                                          <p:stCondLst>
                                            <p:cond delay="0"/>
                                          </p:stCondLst>
                                        </p:cTn>
                                        <p:tgtEl>
                                          <p:spTgt spid="27"/>
                                        </p:tgtEl>
                                        <p:attrNameLst>
                                          <p:attrName>style.visibility</p:attrName>
                                        </p:attrNameLst>
                                      </p:cBhvr>
                                      <p:to>
                                        <p:strVal val="visible"/>
                                      </p:to>
                                    </p:set>
                                    <p:anim calcmode="lin" valueType="num">
                                      <p:cBhvr additive="base">
                                        <p:cTn id="116" dur="500" decel="100000" fill="hold"/>
                                        <p:tgtEl>
                                          <p:spTgt spid="27"/>
                                        </p:tgtEl>
                                        <p:attrNameLst>
                                          <p:attrName>ppt_w</p:attrName>
                                        </p:attrNameLst>
                                      </p:cBhvr>
                                      <p:tavLst>
                                        <p:tav tm="0">
                                          <p:val>
                                            <p:strVal val="#ppt_w*0.55"/>
                                          </p:val>
                                        </p:tav>
                                        <p:tav tm="100000">
                                          <p:val>
                                            <p:strVal val="#ppt_w"/>
                                          </p:val>
                                        </p:tav>
                                      </p:tavLst>
                                    </p:anim>
                                    <p:anim calcmode="lin" valueType="num">
                                      <p:cBhvr additive="base">
                                        <p:cTn id="117" dur="500" decel="100000" fill="hold"/>
                                        <p:tgtEl>
                                          <p:spTgt spid="27"/>
                                        </p:tgtEl>
                                        <p:attrNameLst>
                                          <p:attrName>ppt_h</p:attrName>
                                        </p:attrNameLst>
                                      </p:cBhvr>
                                      <p:tavLst>
                                        <p:tav tm="0">
                                          <p:val>
                                            <p:strVal val="#ppt_h*0.55"/>
                                          </p:val>
                                        </p:tav>
                                        <p:tav tm="100000">
                                          <p:val>
                                            <p:strVal val="#ppt_h"/>
                                          </p:val>
                                        </p:tav>
                                      </p:tavLst>
                                    </p:anim>
                                    <p:animEffect transition="in" filter="fade">
                                      <p:cBhvr>
                                        <p:cTn id="118" dur="500"/>
                                        <p:tgtEl>
                                          <p:spTgt spid="27"/>
                                        </p:tgtEl>
                                      </p:cBhvr>
                                    </p:animEffect>
                                  </p:childTnLst>
                                </p:cTn>
                              </p:par>
                              <p:par>
                                <p:cTn id="119" presetID="53" presetClass="entr" presetSubtype="16" fill="hold" grpId="0" nodeType="withEffect">
                                  <p:stCondLst>
                                    <p:cond delay="1250"/>
                                  </p:stCondLst>
                                  <p:childTnLst>
                                    <p:set>
                                      <p:cBhvr>
                                        <p:cTn id="120" dur="1" fill="hold">
                                          <p:stCondLst>
                                            <p:cond delay="0"/>
                                          </p:stCondLst>
                                        </p:cTn>
                                        <p:tgtEl>
                                          <p:spTgt spid="28"/>
                                        </p:tgtEl>
                                        <p:attrNameLst>
                                          <p:attrName>style.visibility</p:attrName>
                                        </p:attrNameLst>
                                      </p:cBhvr>
                                      <p:to>
                                        <p:strVal val="visible"/>
                                      </p:to>
                                    </p:set>
                                    <p:anim calcmode="lin" valueType="num">
                                      <p:cBhvr additive="base">
                                        <p:cTn id="121" dur="500" decel="100000" fill="hold"/>
                                        <p:tgtEl>
                                          <p:spTgt spid="28"/>
                                        </p:tgtEl>
                                        <p:attrNameLst>
                                          <p:attrName>ppt_w</p:attrName>
                                        </p:attrNameLst>
                                      </p:cBhvr>
                                      <p:tavLst>
                                        <p:tav tm="0">
                                          <p:val>
                                            <p:strVal val="#ppt_w*0.55"/>
                                          </p:val>
                                        </p:tav>
                                        <p:tav tm="100000">
                                          <p:val>
                                            <p:strVal val="#ppt_w"/>
                                          </p:val>
                                        </p:tav>
                                      </p:tavLst>
                                    </p:anim>
                                    <p:anim calcmode="lin" valueType="num">
                                      <p:cBhvr additive="base">
                                        <p:cTn id="122" dur="500" decel="100000" fill="hold"/>
                                        <p:tgtEl>
                                          <p:spTgt spid="28"/>
                                        </p:tgtEl>
                                        <p:attrNameLst>
                                          <p:attrName>ppt_h</p:attrName>
                                        </p:attrNameLst>
                                      </p:cBhvr>
                                      <p:tavLst>
                                        <p:tav tm="0">
                                          <p:val>
                                            <p:strVal val="#ppt_h*0.55"/>
                                          </p:val>
                                        </p:tav>
                                        <p:tav tm="100000">
                                          <p:val>
                                            <p:strVal val="#ppt_h"/>
                                          </p:val>
                                        </p:tav>
                                      </p:tavLst>
                                    </p:anim>
                                    <p:animEffect transition="in" filter="fade">
                                      <p:cBhvr>
                                        <p:cTn id="123" dur="500"/>
                                        <p:tgtEl>
                                          <p:spTgt spid="28"/>
                                        </p:tgtEl>
                                      </p:cBhvr>
                                    </p:animEffect>
                                  </p:childTnLst>
                                </p:cTn>
                              </p:par>
                              <p:par>
                                <p:cTn id="124" presetID="53" presetClass="entr" presetSubtype="16" fill="hold" grpId="0" nodeType="withEffect">
                                  <p:stCondLst>
                                    <p:cond delay="1400"/>
                                  </p:stCondLst>
                                  <p:childTnLst>
                                    <p:set>
                                      <p:cBhvr>
                                        <p:cTn id="125" dur="1" fill="hold">
                                          <p:stCondLst>
                                            <p:cond delay="0"/>
                                          </p:stCondLst>
                                        </p:cTn>
                                        <p:tgtEl>
                                          <p:spTgt spid="29"/>
                                        </p:tgtEl>
                                        <p:attrNameLst>
                                          <p:attrName>style.visibility</p:attrName>
                                        </p:attrNameLst>
                                      </p:cBhvr>
                                      <p:to>
                                        <p:strVal val="visible"/>
                                      </p:to>
                                    </p:set>
                                    <p:anim calcmode="lin" valueType="num">
                                      <p:cBhvr additive="base">
                                        <p:cTn id="126" dur="500" decel="100000" fill="hold"/>
                                        <p:tgtEl>
                                          <p:spTgt spid="29"/>
                                        </p:tgtEl>
                                        <p:attrNameLst>
                                          <p:attrName>ppt_w</p:attrName>
                                        </p:attrNameLst>
                                      </p:cBhvr>
                                      <p:tavLst>
                                        <p:tav tm="0">
                                          <p:val>
                                            <p:strVal val="#ppt_w*0.55"/>
                                          </p:val>
                                        </p:tav>
                                        <p:tav tm="100000">
                                          <p:val>
                                            <p:strVal val="#ppt_w"/>
                                          </p:val>
                                        </p:tav>
                                      </p:tavLst>
                                    </p:anim>
                                    <p:anim calcmode="lin" valueType="num">
                                      <p:cBhvr additive="base">
                                        <p:cTn id="127" dur="500" decel="100000" fill="hold"/>
                                        <p:tgtEl>
                                          <p:spTgt spid="29"/>
                                        </p:tgtEl>
                                        <p:attrNameLst>
                                          <p:attrName>ppt_h</p:attrName>
                                        </p:attrNameLst>
                                      </p:cBhvr>
                                      <p:tavLst>
                                        <p:tav tm="0">
                                          <p:val>
                                            <p:strVal val="#ppt_h*0.55"/>
                                          </p:val>
                                        </p:tav>
                                        <p:tav tm="100000">
                                          <p:val>
                                            <p:strVal val="#ppt_h"/>
                                          </p:val>
                                        </p:tav>
                                      </p:tavLst>
                                    </p:anim>
                                    <p:animEffect transition="in" filter="fade">
                                      <p:cBhvr>
                                        <p:cTn id="128" dur="500"/>
                                        <p:tgtEl>
                                          <p:spTgt spid="29"/>
                                        </p:tgtEl>
                                      </p:cBhvr>
                                    </p:animEffect>
                                  </p:childTnLst>
                                </p:cTn>
                              </p:par>
                              <p:par>
                                <p:cTn id="129" presetID="53" presetClass="entr" presetSubtype="16" fill="hold" grpId="0" nodeType="withEffect">
                                  <p:stCondLst>
                                    <p:cond delay="1400"/>
                                  </p:stCondLst>
                                  <p:childTnLst>
                                    <p:set>
                                      <p:cBhvr>
                                        <p:cTn id="130" dur="1" fill="hold">
                                          <p:stCondLst>
                                            <p:cond delay="0"/>
                                          </p:stCondLst>
                                        </p:cTn>
                                        <p:tgtEl>
                                          <p:spTgt spid="30"/>
                                        </p:tgtEl>
                                        <p:attrNameLst>
                                          <p:attrName>style.visibility</p:attrName>
                                        </p:attrNameLst>
                                      </p:cBhvr>
                                      <p:to>
                                        <p:strVal val="visible"/>
                                      </p:to>
                                    </p:set>
                                    <p:anim calcmode="lin" valueType="num">
                                      <p:cBhvr additive="base">
                                        <p:cTn id="131" dur="500" decel="100000" fill="hold"/>
                                        <p:tgtEl>
                                          <p:spTgt spid="30"/>
                                        </p:tgtEl>
                                        <p:attrNameLst>
                                          <p:attrName>ppt_w</p:attrName>
                                        </p:attrNameLst>
                                      </p:cBhvr>
                                      <p:tavLst>
                                        <p:tav tm="0">
                                          <p:val>
                                            <p:strVal val="#ppt_w*0.55"/>
                                          </p:val>
                                        </p:tav>
                                        <p:tav tm="100000">
                                          <p:val>
                                            <p:strVal val="#ppt_w"/>
                                          </p:val>
                                        </p:tav>
                                      </p:tavLst>
                                    </p:anim>
                                    <p:anim calcmode="lin" valueType="num">
                                      <p:cBhvr additive="base">
                                        <p:cTn id="132" dur="500" decel="100000" fill="hold"/>
                                        <p:tgtEl>
                                          <p:spTgt spid="30"/>
                                        </p:tgtEl>
                                        <p:attrNameLst>
                                          <p:attrName>ppt_h</p:attrName>
                                        </p:attrNameLst>
                                      </p:cBhvr>
                                      <p:tavLst>
                                        <p:tav tm="0">
                                          <p:val>
                                            <p:strVal val="#ppt_h*0.55"/>
                                          </p:val>
                                        </p:tav>
                                        <p:tav tm="100000">
                                          <p:val>
                                            <p:strVal val="#ppt_h"/>
                                          </p:val>
                                        </p:tav>
                                      </p:tavLst>
                                    </p:anim>
                                    <p:animEffect transition="in" filter="fade">
                                      <p:cBhvr>
                                        <p:cTn id="133" dur="500"/>
                                        <p:tgtEl>
                                          <p:spTgt spid="30"/>
                                        </p:tgtEl>
                                      </p:cBhvr>
                                    </p:animEffect>
                                  </p:childTnLst>
                                </p:cTn>
                              </p:par>
                              <p:par>
                                <p:cTn id="134" presetID="53" presetClass="entr" presetSubtype="16" fill="hold" grpId="0" nodeType="withEffect">
                                  <p:stCondLst>
                                    <p:cond delay="1550"/>
                                  </p:stCondLst>
                                  <p:childTnLst>
                                    <p:set>
                                      <p:cBhvr>
                                        <p:cTn id="135" dur="1" fill="hold">
                                          <p:stCondLst>
                                            <p:cond delay="0"/>
                                          </p:stCondLst>
                                        </p:cTn>
                                        <p:tgtEl>
                                          <p:spTgt spid="31"/>
                                        </p:tgtEl>
                                        <p:attrNameLst>
                                          <p:attrName>style.visibility</p:attrName>
                                        </p:attrNameLst>
                                      </p:cBhvr>
                                      <p:to>
                                        <p:strVal val="visible"/>
                                      </p:to>
                                    </p:set>
                                    <p:anim calcmode="lin" valueType="num">
                                      <p:cBhvr additive="base">
                                        <p:cTn id="136" dur="500" decel="100000" fill="hold"/>
                                        <p:tgtEl>
                                          <p:spTgt spid="31"/>
                                        </p:tgtEl>
                                        <p:attrNameLst>
                                          <p:attrName>ppt_w</p:attrName>
                                        </p:attrNameLst>
                                      </p:cBhvr>
                                      <p:tavLst>
                                        <p:tav tm="0">
                                          <p:val>
                                            <p:strVal val="#ppt_w*0.55"/>
                                          </p:val>
                                        </p:tav>
                                        <p:tav tm="100000">
                                          <p:val>
                                            <p:strVal val="#ppt_w"/>
                                          </p:val>
                                        </p:tav>
                                      </p:tavLst>
                                    </p:anim>
                                    <p:anim calcmode="lin" valueType="num">
                                      <p:cBhvr additive="base">
                                        <p:cTn id="137" dur="500" decel="100000" fill="hold"/>
                                        <p:tgtEl>
                                          <p:spTgt spid="31"/>
                                        </p:tgtEl>
                                        <p:attrNameLst>
                                          <p:attrName>ppt_h</p:attrName>
                                        </p:attrNameLst>
                                      </p:cBhvr>
                                      <p:tavLst>
                                        <p:tav tm="0">
                                          <p:val>
                                            <p:strVal val="#ppt_h*0.55"/>
                                          </p:val>
                                        </p:tav>
                                        <p:tav tm="100000">
                                          <p:val>
                                            <p:strVal val="#ppt_h"/>
                                          </p:val>
                                        </p:tav>
                                      </p:tavLst>
                                    </p:anim>
                                    <p:animEffect transition="in" filter="fade">
                                      <p:cBhvr>
                                        <p:cTn id="138" dur="500"/>
                                        <p:tgtEl>
                                          <p:spTgt spid="31"/>
                                        </p:tgtEl>
                                      </p:cBhvr>
                                    </p:animEffect>
                                  </p:childTnLst>
                                </p:cTn>
                              </p:par>
                              <p:par>
                                <p:cTn id="139" presetID="53" presetClass="entr" presetSubtype="16" fill="hold" grpId="0" nodeType="withEffect">
                                  <p:stCondLst>
                                    <p:cond delay="1550"/>
                                  </p:stCondLst>
                                  <p:childTnLst>
                                    <p:set>
                                      <p:cBhvr>
                                        <p:cTn id="140" dur="1" fill="hold">
                                          <p:stCondLst>
                                            <p:cond delay="0"/>
                                          </p:stCondLst>
                                        </p:cTn>
                                        <p:tgtEl>
                                          <p:spTgt spid="32"/>
                                        </p:tgtEl>
                                        <p:attrNameLst>
                                          <p:attrName>style.visibility</p:attrName>
                                        </p:attrNameLst>
                                      </p:cBhvr>
                                      <p:to>
                                        <p:strVal val="visible"/>
                                      </p:to>
                                    </p:set>
                                    <p:anim calcmode="lin" valueType="num">
                                      <p:cBhvr additive="base">
                                        <p:cTn id="141" dur="500" decel="100000" fill="hold"/>
                                        <p:tgtEl>
                                          <p:spTgt spid="32"/>
                                        </p:tgtEl>
                                        <p:attrNameLst>
                                          <p:attrName>ppt_w</p:attrName>
                                        </p:attrNameLst>
                                      </p:cBhvr>
                                      <p:tavLst>
                                        <p:tav tm="0">
                                          <p:val>
                                            <p:strVal val="#ppt_w*0.55"/>
                                          </p:val>
                                        </p:tav>
                                        <p:tav tm="100000">
                                          <p:val>
                                            <p:strVal val="#ppt_w"/>
                                          </p:val>
                                        </p:tav>
                                      </p:tavLst>
                                    </p:anim>
                                    <p:anim calcmode="lin" valueType="num">
                                      <p:cBhvr additive="base">
                                        <p:cTn id="142" dur="500" decel="100000" fill="hold"/>
                                        <p:tgtEl>
                                          <p:spTgt spid="32"/>
                                        </p:tgtEl>
                                        <p:attrNameLst>
                                          <p:attrName>ppt_h</p:attrName>
                                        </p:attrNameLst>
                                      </p:cBhvr>
                                      <p:tavLst>
                                        <p:tav tm="0">
                                          <p:val>
                                            <p:strVal val="#ppt_h*0.55"/>
                                          </p:val>
                                        </p:tav>
                                        <p:tav tm="100000">
                                          <p:val>
                                            <p:strVal val="#ppt_h"/>
                                          </p:val>
                                        </p:tav>
                                      </p:tavLst>
                                    </p:anim>
                                    <p:animEffect transition="in" filter="fade">
                                      <p:cBhvr>
                                        <p:cTn id="143" dur="500"/>
                                        <p:tgtEl>
                                          <p:spTgt spid="32"/>
                                        </p:tgtEl>
                                      </p:cBhvr>
                                    </p:animEffect>
                                  </p:childTnLst>
                                </p:cTn>
                              </p:par>
                              <p:par>
                                <p:cTn id="144" presetID="53" presetClass="entr" presetSubtype="16" fill="hold" grpId="0" nodeType="withEffect">
                                  <p:stCondLst>
                                    <p:cond delay="1700"/>
                                  </p:stCondLst>
                                  <p:childTnLst>
                                    <p:set>
                                      <p:cBhvr>
                                        <p:cTn id="145" dur="1" fill="hold">
                                          <p:stCondLst>
                                            <p:cond delay="0"/>
                                          </p:stCondLst>
                                        </p:cTn>
                                        <p:tgtEl>
                                          <p:spTgt spid="33"/>
                                        </p:tgtEl>
                                        <p:attrNameLst>
                                          <p:attrName>style.visibility</p:attrName>
                                        </p:attrNameLst>
                                      </p:cBhvr>
                                      <p:to>
                                        <p:strVal val="visible"/>
                                      </p:to>
                                    </p:set>
                                    <p:anim calcmode="lin" valueType="num">
                                      <p:cBhvr additive="base">
                                        <p:cTn id="146" dur="500" decel="100000" fill="hold"/>
                                        <p:tgtEl>
                                          <p:spTgt spid="33"/>
                                        </p:tgtEl>
                                        <p:attrNameLst>
                                          <p:attrName>ppt_w</p:attrName>
                                        </p:attrNameLst>
                                      </p:cBhvr>
                                      <p:tavLst>
                                        <p:tav tm="0">
                                          <p:val>
                                            <p:strVal val="#ppt_w*0.55"/>
                                          </p:val>
                                        </p:tav>
                                        <p:tav tm="100000">
                                          <p:val>
                                            <p:strVal val="#ppt_w"/>
                                          </p:val>
                                        </p:tav>
                                      </p:tavLst>
                                    </p:anim>
                                    <p:anim calcmode="lin" valueType="num">
                                      <p:cBhvr additive="base">
                                        <p:cTn id="147" dur="500" decel="100000" fill="hold"/>
                                        <p:tgtEl>
                                          <p:spTgt spid="33"/>
                                        </p:tgtEl>
                                        <p:attrNameLst>
                                          <p:attrName>ppt_h</p:attrName>
                                        </p:attrNameLst>
                                      </p:cBhvr>
                                      <p:tavLst>
                                        <p:tav tm="0">
                                          <p:val>
                                            <p:strVal val="#ppt_h*0.55"/>
                                          </p:val>
                                        </p:tav>
                                        <p:tav tm="100000">
                                          <p:val>
                                            <p:strVal val="#ppt_h"/>
                                          </p:val>
                                        </p:tav>
                                      </p:tavLst>
                                    </p:anim>
                                    <p:animEffect transition="in" filter="fade">
                                      <p:cBhvr>
                                        <p:cTn id="148" dur="500"/>
                                        <p:tgtEl>
                                          <p:spTgt spid="33"/>
                                        </p:tgtEl>
                                      </p:cBhvr>
                                    </p:animEffect>
                                  </p:childTnLst>
                                </p:cTn>
                              </p:par>
                              <p:par>
                                <p:cTn id="149" presetID="53" presetClass="entr" presetSubtype="16" fill="hold" grpId="0" nodeType="withEffect">
                                  <p:stCondLst>
                                    <p:cond delay="1700"/>
                                  </p:stCondLst>
                                  <p:childTnLst>
                                    <p:set>
                                      <p:cBhvr>
                                        <p:cTn id="150" dur="1" fill="hold">
                                          <p:stCondLst>
                                            <p:cond delay="0"/>
                                          </p:stCondLst>
                                        </p:cTn>
                                        <p:tgtEl>
                                          <p:spTgt spid="34"/>
                                        </p:tgtEl>
                                        <p:attrNameLst>
                                          <p:attrName>style.visibility</p:attrName>
                                        </p:attrNameLst>
                                      </p:cBhvr>
                                      <p:to>
                                        <p:strVal val="visible"/>
                                      </p:to>
                                    </p:set>
                                    <p:anim calcmode="lin" valueType="num">
                                      <p:cBhvr additive="base">
                                        <p:cTn id="151" dur="500" decel="100000" fill="hold"/>
                                        <p:tgtEl>
                                          <p:spTgt spid="34"/>
                                        </p:tgtEl>
                                        <p:attrNameLst>
                                          <p:attrName>ppt_w</p:attrName>
                                        </p:attrNameLst>
                                      </p:cBhvr>
                                      <p:tavLst>
                                        <p:tav tm="0">
                                          <p:val>
                                            <p:strVal val="#ppt_w*0.55"/>
                                          </p:val>
                                        </p:tav>
                                        <p:tav tm="100000">
                                          <p:val>
                                            <p:strVal val="#ppt_w"/>
                                          </p:val>
                                        </p:tav>
                                      </p:tavLst>
                                    </p:anim>
                                    <p:anim calcmode="lin" valueType="num">
                                      <p:cBhvr additive="base">
                                        <p:cTn id="152" dur="500" decel="100000" fill="hold"/>
                                        <p:tgtEl>
                                          <p:spTgt spid="34"/>
                                        </p:tgtEl>
                                        <p:attrNameLst>
                                          <p:attrName>ppt_h</p:attrName>
                                        </p:attrNameLst>
                                      </p:cBhvr>
                                      <p:tavLst>
                                        <p:tav tm="0">
                                          <p:val>
                                            <p:strVal val="#ppt_h*0.55"/>
                                          </p:val>
                                        </p:tav>
                                        <p:tav tm="100000">
                                          <p:val>
                                            <p:strVal val="#ppt_h"/>
                                          </p:val>
                                        </p:tav>
                                      </p:tavLst>
                                    </p:anim>
                                    <p:animEffect transition="in" filter="fade">
                                      <p:cBhvr>
                                        <p:cTn id="153" dur="500"/>
                                        <p:tgtEl>
                                          <p:spTgt spid="34"/>
                                        </p:tgtEl>
                                      </p:cBhvr>
                                    </p:animEffect>
                                  </p:childTnLst>
                                </p:cTn>
                              </p:par>
                              <p:par>
                                <p:cTn id="154" presetID="10" presetClass="entr" presetSubtype="0" fill="hold" grpId="0" nodeType="withEffect">
                                  <p:stCondLst>
                                    <p:cond delay="2000"/>
                                  </p:stCondLst>
                                  <p:childTnLst>
                                    <p:set>
                                      <p:cBhvr>
                                        <p:cTn id="155" dur="1" fill="hold">
                                          <p:stCondLst>
                                            <p:cond delay="0"/>
                                          </p:stCondLst>
                                        </p:cTn>
                                        <p:tgtEl>
                                          <p:spTgt spid="35"/>
                                        </p:tgtEl>
                                        <p:attrNameLst>
                                          <p:attrName>style.visibility</p:attrName>
                                        </p:attrNameLst>
                                      </p:cBhvr>
                                      <p:to>
                                        <p:strVal val="visible"/>
                                      </p:to>
                                    </p:set>
                                    <p:animEffect transition="in" filter="fade">
                                      <p:cBhvr>
                                        <p:cTn id="156" dur="600"/>
                                        <p:tgtEl>
                                          <p:spTgt spid="35"/>
                                        </p:tgtEl>
                                      </p:cBhvr>
                                    </p:animEffect>
                                  </p:childTnLst>
                                </p:cTn>
                              </p:par>
                              <p:par>
                                <p:cTn id="157" presetID="10" presetClass="entr" presetSubtype="0" fill="hold" grpId="0" nodeType="withEffect">
                                  <p:stCondLst>
                                    <p:cond delay="2000"/>
                                  </p:stCondLst>
                                  <p:childTnLst>
                                    <p:set>
                                      <p:cBhvr>
                                        <p:cTn id="158" dur="1" fill="hold">
                                          <p:stCondLst>
                                            <p:cond delay="0"/>
                                          </p:stCondLst>
                                        </p:cTn>
                                        <p:tgtEl>
                                          <p:spTgt spid="36"/>
                                        </p:tgtEl>
                                        <p:attrNameLst>
                                          <p:attrName>style.visibility</p:attrName>
                                        </p:attrNameLst>
                                      </p:cBhvr>
                                      <p:to>
                                        <p:strVal val="visible"/>
                                      </p:to>
                                    </p:set>
                                    <p:animEffect transition="in" filter="fade">
                                      <p:cBhvr>
                                        <p:cTn id="159" dur="600"/>
                                        <p:tgtEl>
                                          <p:spTgt spid="36"/>
                                        </p:tgtEl>
                                      </p:cBhvr>
                                    </p:animEffect>
                                  </p:childTnLst>
                                </p:cTn>
                              </p:par>
                              <p:par>
                                <p:cTn id="160" presetID="10" presetClass="entr" presetSubtype="0" fill="hold" grpId="0" nodeType="withEffect">
                                  <p:stCondLst>
                                    <p:cond delay="2000"/>
                                  </p:stCondLst>
                                  <p:childTnLst>
                                    <p:set>
                                      <p:cBhvr>
                                        <p:cTn id="161" dur="1" fill="hold">
                                          <p:stCondLst>
                                            <p:cond delay="0"/>
                                          </p:stCondLst>
                                        </p:cTn>
                                        <p:tgtEl>
                                          <p:spTgt spid="37"/>
                                        </p:tgtEl>
                                        <p:attrNameLst>
                                          <p:attrName>style.visibility</p:attrName>
                                        </p:attrNameLst>
                                      </p:cBhvr>
                                      <p:to>
                                        <p:strVal val="visible"/>
                                      </p:to>
                                    </p:set>
                                    <p:animEffect transition="in" filter="fade">
                                      <p:cBhvr>
                                        <p:cTn id="162" dur="600"/>
                                        <p:tgtEl>
                                          <p:spTgt spid="37"/>
                                        </p:tgtEl>
                                      </p:cBhvr>
                                    </p:animEffect>
                                  </p:childTnLst>
                                </p:cTn>
                              </p:par>
                              <p:par>
                                <p:cTn id="163" presetID="10" presetClass="entr" presetSubtype="0" fill="hold" grpId="0" nodeType="withEffect">
                                  <p:stCondLst>
                                    <p:cond delay="2100"/>
                                  </p:stCondLst>
                                  <p:childTnLst>
                                    <p:set>
                                      <p:cBhvr>
                                        <p:cTn id="164" dur="1" fill="hold">
                                          <p:stCondLst>
                                            <p:cond delay="0"/>
                                          </p:stCondLst>
                                        </p:cTn>
                                        <p:tgtEl>
                                          <p:spTgt spid="38"/>
                                        </p:tgtEl>
                                        <p:attrNameLst>
                                          <p:attrName>style.visibility</p:attrName>
                                        </p:attrNameLst>
                                      </p:cBhvr>
                                      <p:to>
                                        <p:strVal val="visible"/>
                                      </p:to>
                                    </p:set>
                                    <p:animEffect transition="in" filter="fade">
                                      <p:cBhvr>
                                        <p:cTn id="165" dur="6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
          <p:cNvSpPr/>
          <p:nvPr>
            <p:ph idx="100" type="body" hasCustomPrompt="1"/>
          </p:nvPr>
        </p:nvSpPr>
        <p:spPr>
          <a:xfrm>
            <a:off x="548640" y="384048"/>
            <a:ext cx="7863840" cy="310896"/>
          </a:xfrm>
          <a:prstGeom prst="rect">
            <a:avLst/>
          </a:prstGeom>
          <a:noFill/>
          <a:ln/>
        </p:spPr>
        <p:txBody>
          <a:bodyPr wrap="square" lIns="0" tIns="0" rIns="0" bIns="0" rtlCol="0" anchor="ctr"/>
          <a:lstStyle/>
          <a:p>
            <a:pPr algn="l" indent="0" marL="0">
              <a:buNone/>
            </a:pPr>
            <a:r>
              <a:rPr lang="en-US" sz="1300" b="1" spc="300" kern="0" dirty="0">
                <a:solidFill>
                  <a:schemeClr val="accent1"/>
                </a:solidFill>
              </a:rPr>
              <a:t>IMPACT</a:t>
            </a:r>
            <a:endParaRPr lang="en-US" sz="1300" dirty="0"/>
          </a:p>
        </p:txBody>
      </p:sp>
      <p:sp>
        <p:nvSpPr>
          <p:cNvPr id="3" name="ttl"/>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200" b="1" dirty="0">
                <a:solidFill>
                  <a:schemeClr val="bg1"/>
                </a:solidFill>
              </a:rPr>
              <a:t>PET-MRI-grade precision for the price of software</a:t>
            </a:r>
            <a:endParaRPr lang="en-US" sz="3200" dirty="0"/>
          </a:p>
        </p:txBody>
      </p:sp>
      <p:sp>
        <p:nvSpPr>
          <p:cNvPr id="4" name="old"/>
          <p:cNvSpPr/>
          <p:nvPr/>
        </p:nvSpPr>
        <p:spPr>
          <a:xfrm>
            <a:off x="548640" y="1691640"/>
            <a:ext cx="5440680" cy="3246120"/>
          </a:xfrm>
          <a:prstGeom prst="roundRect">
            <a:avLst>
              <a:gd name="adj" fmla="val 3380"/>
            </a:avLst>
          </a:prstGeom>
          <a:solidFill>
            <a:schemeClr val="tx2"/>
          </a:solidFill>
          <a:ln w="9525">
            <a:solidFill>
              <a:schemeClr val="accent6"/>
            </a:solidFill>
            <a:prstDash val="solid"/>
          </a:ln>
        </p:spPr>
      </p:sp>
      <p:sp>
        <p:nvSpPr>
          <p:cNvPr id="5" name="oldi_ring"/>
          <p:cNvSpPr/>
          <p:nvPr/>
        </p:nvSpPr>
        <p:spPr>
          <a:xfrm>
            <a:off x="822960" y="1901952"/>
            <a:ext cx="548640" cy="548640"/>
          </a:xfrm>
          <a:prstGeom prst="ellipse">
            <a:avLst/>
          </a:prstGeom>
          <a:solidFill>
            <a:schemeClr val="tx2"/>
          </a:solidFill>
          <a:ln w="15875">
            <a:solidFill>
              <a:schemeClr val="bg2"/>
            </a:solidFill>
            <a:prstDash val="solid"/>
          </a:ln>
        </p:spPr>
      </p:sp>
      <p:pic>
        <p:nvPicPr>
          <p:cNvPr id="6" name="oldi_icon" descr="hospital icon">    </p:cNvPr>
          <p:cNvPicPr>
            <a:picLocks noChangeAspect="1"/>
          </p:cNvPicPr>
          <p:nvPr/>
        </p:nvPicPr>
        <p:blipFill>
          <a:blip r:embed="rId1"/>
          <a:stretch>
            <a:fillRect/>
          </a:stretch>
        </p:blipFill>
        <p:spPr>
          <a:xfrm>
            <a:off x="954634" y="2033626"/>
            <a:ext cx="285293" cy="285293"/>
          </a:xfrm>
          <a:prstGeom prst="rect">
            <a:avLst/>
          </a:prstGeom>
        </p:spPr>
      </p:pic>
      <p:sp>
        <p:nvSpPr>
          <p:cNvPr id="7" name="oldh"/>
          <p:cNvSpPr txBox="1"/>
          <p:nvPr/>
        </p:nvSpPr>
        <p:spPr>
          <a:xfrm>
            <a:off x="1554480" y="1901952"/>
            <a:ext cx="4206240" cy="548640"/>
          </a:xfrm>
          <a:prstGeom prst="rect">
            <a:avLst/>
          </a:prstGeom>
          <a:noFill/>
          <a:ln/>
        </p:spPr>
        <p:txBody>
          <a:bodyPr wrap="square" lIns="0" tIns="0" rIns="0" bIns="0" rtlCol="0" anchor="ctr"/>
          <a:lstStyle/>
          <a:p>
            <a:pPr indent="0" marL="0">
              <a:buNone/>
            </a:pPr>
            <a:r>
              <a:rPr lang="en-US" sz="2000" b="1" dirty="0">
                <a:solidFill>
                  <a:schemeClr val="bg2"/>
                </a:solidFill>
              </a:rPr>
              <a:t>Integrated PET-MRI scanner</a:t>
            </a:r>
            <a:endParaRPr lang="en-US" sz="2000" dirty="0"/>
          </a:p>
        </p:txBody>
      </p:sp>
      <p:sp>
        <p:nvSpPr>
          <p:cNvPr id="8" name="oldr0"/>
          <p:cNvSpPr txBox="1"/>
          <p:nvPr/>
        </p:nvSpPr>
        <p:spPr>
          <a:xfrm>
            <a:off x="822960" y="2651760"/>
            <a:ext cx="2148840" cy="640080"/>
          </a:xfrm>
          <a:prstGeom prst="rect">
            <a:avLst/>
          </a:prstGeom>
          <a:noFill/>
          <a:ln/>
        </p:spPr>
        <p:txBody>
          <a:bodyPr wrap="square" lIns="0" tIns="0" rIns="0" bIns="0" rtlCol="0" anchor="ctr"/>
          <a:lstStyle/>
          <a:p>
            <a:pPr indent="0" marL="0">
              <a:buNone/>
            </a:pPr>
            <a:r>
              <a:rPr lang="en-US" sz="2600" b="1" dirty="0">
                <a:solidFill>
                  <a:schemeClr val="bg1"/>
                </a:solidFill>
              </a:rPr>
              <a:t>$4–6 M</a:t>
            </a:r>
            <a:endParaRPr lang="en-US" sz="2600" dirty="0"/>
          </a:p>
        </p:txBody>
      </p:sp>
      <p:sp>
        <p:nvSpPr>
          <p:cNvPr id="9" name="oldd0"/>
          <p:cNvSpPr txBox="1"/>
          <p:nvPr/>
        </p:nvSpPr>
        <p:spPr>
          <a:xfrm>
            <a:off x="3017520" y="2651760"/>
            <a:ext cx="2788920" cy="640080"/>
          </a:xfrm>
          <a:prstGeom prst="rect">
            <a:avLst/>
          </a:prstGeom>
          <a:noFill/>
          <a:ln/>
        </p:spPr>
        <p:txBody>
          <a:bodyPr wrap="square" lIns="0" tIns="0" rIns="0" bIns="0" rtlCol="0" anchor="ctr"/>
          <a:lstStyle/>
          <a:p>
            <a:pPr indent="0" marL="0">
              <a:buNone/>
            </a:pPr>
            <a:r>
              <a:rPr lang="en-US" sz="1400" dirty="0">
                <a:solidFill>
                  <a:schemeClr val="bg2"/>
                </a:solidFill>
              </a:rPr>
              <a:t>per scanner</a:t>
            </a:r>
            <a:endParaRPr lang="en-US" sz="1400" dirty="0"/>
          </a:p>
        </p:txBody>
      </p:sp>
      <p:sp>
        <p:nvSpPr>
          <p:cNvPr id="10" name="oldr1"/>
          <p:cNvSpPr txBox="1"/>
          <p:nvPr/>
        </p:nvSpPr>
        <p:spPr>
          <a:xfrm>
            <a:off x="822960" y="3383280"/>
            <a:ext cx="2148840" cy="640080"/>
          </a:xfrm>
          <a:prstGeom prst="rect">
            <a:avLst/>
          </a:prstGeom>
          <a:noFill/>
          <a:ln/>
        </p:spPr>
        <p:txBody>
          <a:bodyPr wrap="square" lIns="0" tIns="0" rIns="0" bIns="0" rtlCol="0" anchor="ctr"/>
          <a:lstStyle/>
          <a:p>
            <a:pPr indent="0" marL="0">
              <a:buNone/>
            </a:pPr>
            <a:r>
              <a:rPr lang="en-US" sz="2600" b="1" dirty="0">
                <a:solidFill>
                  <a:schemeClr val="bg1"/>
                </a:solidFill>
              </a:rPr>
              <a:t>New suite</a:t>
            </a:r>
            <a:endParaRPr lang="en-US" sz="2600" dirty="0"/>
          </a:p>
        </p:txBody>
      </p:sp>
      <p:sp>
        <p:nvSpPr>
          <p:cNvPr id="11" name="oldd1"/>
          <p:cNvSpPr txBox="1"/>
          <p:nvPr/>
        </p:nvSpPr>
        <p:spPr>
          <a:xfrm>
            <a:off x="3017520" y="3383280"/>
            <a:ext cx="2788920" cy="640080"/>
          </a:xfrm>
          <a:prstGeom prst="rect">
            <a:avLst/>
          </a:prstGeom>
          <a:noFill/>
          <a:ln/>
        </p:spPr>
        <p:txBody>
          <a:bodyPr wrap="square" lIns="0" tIns="0" rIns="0" bIns="0" rtlCol="0" anchor="ctr"/>
          <a:lstStyle/>
          <a:p>
            <a:pPr indent="0" marL="0">
              <a:buNone/>
            </a:pPr>
            <a:r>
              <a:rPr lang="en-US" sz="1400" dirty="0">
                <a:solidFill>
                  <a:schemeClr val="bg2"/>
                </a:solidFill>
              </a:rPr>
              <a:t>shielding, siting, specialist staff</a:t>
            </a:r>
            <a:endParaRPr lang="en-US" sz="1400" dirty="0"/>
          </a:p>
        </p:txBody>
      </p:sp>
      <p:sp>
        <p:nvSpPr>
          <p:cNvPr id="12" name="oldr2"/>
          <p:cNvSpPr txBox="1"/>
          <p:nvPr/>
        </p:nvSpPr>
        <p:spPr>
          <a:xfrm>
            <a:off x="822960" y="4114800"/>
            <a:ext cx="2148840" cy="640080"/>
          </a:xfrm>
          <a:prstGeom prst="rect">
            <a:avLst/>
          </a:prstGeom>
          <a:noFill/>
          <a:ln/>
        </p:spPr>
        <p:txBody>
          <a:bodyPr wrap="square" lIns="0" tIns="0" rIns="0" bIns="0" rtlCol="0" anchor="ctr"/>
          <a:lstStyle/>
          <a:p>
            <a:pPr indent="0" marL="0">
              <a:buNone/>
            </a:pPr>
            <a:r>
              <a:rPr lang="en-US" sz="2600" b="1" dirty="0">
                <a:solidFill>
                  <a:schemeClr val="bg1"/>
                </a:solidFill>
              </a:rPr>
              <a:t>~10</a:t>
            </a:r>
            <a:endParaRPr lang="en-US" sz="2600" dirty="0"/>
          </a:p>
        </p:txBody>
      </p:sp>
      <p:sp>
        <p:nvSpPr>
          <p:cNvPr id="13" name="oldd2"/>
          <p:cNvSpPr txBox="1"/>
          <p:nvPr/>
        </p:nvSpPr>
        <p:spPr>
          <a:xfrm>
            <a:off x="3017520" y="4114800"/>
            <a:ext cx="2788920" cy="640080"/>
          </a:xfrm>
          <a:prstGeom prst="rect">
            <a:avLst/>
          </a:prstGeom>
          <a:noFill/>
          <a:ln/>
        </p:spPr>
        <p:txBody>
          <a:bodyPr wrap="square" lIns="0" tIns="0" rIns="0" bIns="0" rtlCol="0" anchor="ctr"/>
          <a:lstStyle/>
          <a:p>
            <a:pPr indent="0" marL="0">
              <a:buNone/>
            </a:pPr>
            <a:r>
              <a:rPr lang="en-US" sz="1400" dirty="0">
                <a:solidFill>
                  <a:schemeClr val="bg2"/>
                </a:solidFill>
              </a:rPr>
              <a:t>in all of India</a:t>
            </a:r>
            <a:endParaRPr lang="en-US" sz="1400" dirty="0"/>
          </a:p>
        </p:txBody>
      </p:sp>
      <p:sp>
        <p:nvSpPr>
          <p:cNvPr id="14" name="new"/>
          <p:cNvSpPr/>
          <p:nvPr/>
        </p:nvSpPr>
        <p:spPr>
          <a:xfrm>
            <a:off x="6199632" y="1691640"/>
            <a:ext cx="5440680" cy="3246120"/>
          </a:xfrm>
          <a:prstGeom prst="roundRect">
            <a:avLst>
              <a:gd name="adj" fmla="val 3380"/>
            </a:avLst>
          </a:prstGeom>
          <a:solidFill>
            <a:schemeClr val="tx2"/>
          </a:solidFill>
          <a:ln w="22225">
            <a:solidFill>
              <a:schemeClr val="accent1"/>
            </a:solidFill>
            <a:prstDash val="solid"/>
          </a:ln>
        </p:spPr>
      </p:sp>
      <p:pic>
        <p:nvPicPr>
          <p:cNvPr id="15" name="newi" descr="FusionMap logo">    </p:cNvPr>
          <p:cNvPicPr>
            <a:picLocks noChangeAspect="1"/>
          </p:cNvPicPr>
          <p:nvPr/>
        </p:nvPicPr>
        <p:blipFill>
          <a:blip r:embed="rId2"/>
          <a:stretch>
            <a:fillRect/>
          </a:stretch>
        </p:blipFill>
        <p:spPr>
          <a:xfrm>
            <a:off x="6400800" y="1810512"/>
            <a:ext cx="713232" cy="713232"/>
          </a:xfrm>
          <a:prstGeom prst="rect">
            <a:avLst/>
          </a:prstGeom>
        </p:spPr>
      </p:pic>
      <p:sp>
        <p:nvSpPr>
          <p:cNvPr id="16" name="newh"/>
          <p:cNvSpPr txBox="1"/>
          <p:nvPr/>
        </p:nvSpPr>
        <p:spPr>
          <a:xfrm>
            <a:off x="7205472" y="1901952"/>
            <a:ext cx="4206240" cy="548640"/>
          </a:xfrm>
          <a:prstGeom prst="rect">
            <a:avLst/>
          </a:prstGeom>
          <a:noFill/>
          <a:ln/>
        </p:spPr>
        <p:txBody>
          <a:bodyPr wrap="square" lIns="0" tIns="0" rIns="0" bIns="0" rtlCol="0" anchor="ctr"/>
          <a:lstStyle/>
          <a:p>
            <a:pPr indent="0" marL="0">
              <a:buNone/>
            </a:pPr>
            <a:r>
              <a:rPr lang="en-US" sz="2000" b="1" dirty="0">
                <a:solidFill>
                  <a:schemeClr val="accent1"/>
                </a:solidFill>
              </a:rPr>
              <a:t>FusionMap</a:t>
            </a:r>
            <a:endParaRPr lang="en-US" sz="2000" dirty="0"/>
          </a:p>
        </p:txBody>
      </p:sp>
      <p:sp>
        <p:nvSpPr>
          <p:cNvPr id="17" name="newr0"/>
          <p:cNvSpPr txBox="1"/>
          <p:nvPr/>
        </p:nvSpPr>
        <p:spPr>
          <a:xfrm>
            <a:off x="6473952" y="2651760"/>
            <a:ext cx="2148840" cy="640080"/>
          </a:xfrm>
          <a:prstGeom prst="rect">
            <a:avLst/>
          </a:prstGeom>
          <a:noFill/>
          <a:ln/>
        </p:spPr>
        <p:txBody>
          <a:bodyPr wrap="square" lIns="0" tIns="0" rIns="0" bIns="0" rtlCol="0" anchor="ctr"/>
          <a:lstStyle/>
          <a:p>
            <a:pPr indent="0" marL="0">
              <a:buNone/>
            </a:pPr>
            <a:r>
              <a:rPr lang="en-US" sz="2600" b="1" dirty="0">
                <a:solidFill>
                  <a:schemeClr val="accent1"/>
                </a:solidFill>
              </a:rPr>
              <a:t>₹40–60 k</a:t>
            </a:r>
            <a:endParaRPr lang="en-US" sz="2600" dirty="0"/>
          </a:p>
        </p:txBody>
      </p:sp>
      <p:sp>
        <p:nvSpPr>
          <p:cNvPr id="18" name="newd0"/>
          <p:cNvSpPr txBox="1"/>
          <p:nvPr/>
        </p:nvSpPr>
        <p:spPr>
          <a:xfrm>
            <a:off x="8668512" y="2651760"/>
            <a:ext cx="2788920" cy="640080"/>
          </a:xfrm>
          <a:prstGeom prst="rect">
            <a:avLst/>
          </a:prstGeom>
          <a:noFill/>
          <a:ln/>
        </p:spPr>
        <p:txBody>
          <a:bodyPr wrap="square" lIns="0" tIns="0" rIns="0" bIns="0" rtlCol="0" anchor="ctr"/>
          <a:lstStyle/>
          <a:p>
            <a:pPr indent="0" marL="0">
              <a:buNone/>
            </a:pPr>
            <a:r>
              <a:rPr lang="en-US" sz="1400" dirty="0">
                <a:solidFill>
                  <a:schemeClr val="bg2"/>
                </a:solidFill>
              </a:rPr>
              <a:t>to build</a:t>
            </a:r>
            <a:endParaRPr lang="en-US" sz="1400" dirty="0"/>
          </a:p>
        </p:txBody>
      </p:sp>
      <p:sp>
        <p:nvSpPr>
          <p:cNvPr id="19" name="newr1"/>
          <p:cNvSpPr txBox="1"/>
          <p:nvPr/>
        </p:nvSpPr>
        <p:spPr>
          <a:xfrm>
            <a:off x="6473952" y="3383280"/>
            <a:ext cx="2148840" cy="640080"/>
          </a:xfrm>
          <a:prstGeom prst="rect">
            <a:avLst/>
          </a:prstGeom>
          <a:noFill/>
          <a:ln/>
        </p:spPr>
        <p:txBody>
          <a:bodyPr wrap="square" lIns="0" tIns="0" rIns="0" bIns="0" rtlCol="0" anchor="ctr"/>
          <a:lstStyle/>
          <a:p>
            <a:pPr indent="0" marL="0">
              <a:buNone/>
            </a:pPr>
            <a:r>
              <a:rPr lang="en-US" sz="2600" b="1" dirty="0">
                <a:solidFill>
                  <a:schemeClr val="accent1"/>
                </a:solidFill>
              </a:rPr>
              <a:t>₹0</a:t>
            </a:r>
            <a:endParaRPr lang="en-US" sz="2600" dirty="0"/>
          </a:p>
        </p:txBody>
      </p:sp>
      <p:sp>
        <p:nvSpPr>
          <p:cNvPr id="20" name="newd1"/>
          <p:cNvSpPr txBox="1"/>
          <p:nvPr/>
        </p:nvSpPr>
        <p:spPr>
          <a:xfrm>
            <a:off x="8668512" y="3383280"/>
            <a:ext cx="2788920" cy="640080"/>
          </a:xfrm>
          <a:prstGeom prst="rect">
            <a:avLst/>
          </a:prstGeom>
          <a:noFill/>
          <a:ln/>
        </p:spPr>
        <p:txBody>
          <a:bodyPr wrap="square" lIns="0" tIns="0" rIns="0" bIns="0" rtlCol="0" anchor="ctr"/>
          <a:lstStyle/>
          <a:p>
            <a:pPr indent="0" marL="0">
              <a:buNone/>
            </a:pPr>
            <a:r>
              <a:rPr lang="en-US" sz="1400" dirty="0">
                <a:solidFill>
                  <a:schemeClr val="bg2"/>
                </a:solidFill>
              </a:rPr>
              <a:t>new hardware: uses the PET and MRI already there</a:t>
            </a:r>
            <a:endParaRPr lang="en-US" sz="1400" dirty="0"/>
          </a:p>
        </p:txBody>
      </p:sp>
      <p:sp>
        <p:nvSpPr>
          <p:cNvPr id="21" name="newr2"/>
          <p:cNvSpPr txBox="1"/>
          <p:nvPr/>
        </p:nvSpPr>
        <p:spPr>
          <a:xfrm>
            <a:off x="6473952" y="4114800"/>
            <a:ext cx="2148840" cy="640080"/>
          </a:xfrm>
          <a:prstGeom prst="rect">
            <a:avLst/>
          </a:prstGeom>
          <a:noFill/>
          <a:ln/>
        </p:spPr>
        <p:txBody>
          <a:bodyPr wrap="square" lIns="0" tIns="0" rIns="0" bIns="0" rtlCol="0" anchor="ctr"/>
          <a:lstStyle/>
          <a:p>
            <a:pPr indent="0" marL="0">
              <a:buNone/>
            </a:pPr>
            <a:r>
              <a:rPr lang="en-US" sz="2600" b="1" dirty="0">
                <a:solidFill>
                  <a:schemeClr val="accent1"/>
                </a:solidFill>
              </a:rPr>
              <a:t>700+</a:t>
            </a:r>
            <a:endParaRPr lang="en-US" sz="2600" dirty="0"/>
          </a:p>
        </p:txBody>
      </p:sp>
      <p:sp>
        <p:nvSpPr>
          <p:cNvPr id="22" name="newd2"/>
          <p:cNvSpPr txBox="1"/>
          <p:nvPr/>
        </p:nvSpPr>
        <p:spPr>
          <a:xfrm>
            <a:off x="8668512" y="4114800"/>
            <a:ext cx="2788920" cy="640080"/>
          </a:xfrm>
          <a:prstGeom prst="rect">
            <a:avLst/>
          </a:prstGeom>
          <a:noFill/>
          <a:ln/>
        </p:spPr>
        <p:txBody>
          <a:bodyPr wrap="square" lIns="0" tIns="0" rIns="0" bIns="0" rtlCol="0" anchor="ctr"/>
          <a:lstStyle/>
          <a:p>
            <a:pPr indent="0" marL="0">
              <a:buNone/>
            </a:pPr>
            <a:r>
              <a:rPr lang="en-US" sz="1400" dirty="0">
                <a:solidFill>
                  <a:schemeClr val="bg2"/>
                </a:solidFill>
              </a:rPr>
              <a:t>centres that could run it</a:t>
            </a:r>
            <a:endParaRPr lang="en-US" sz="1400" dirty="0"/>
          </a:p>
        </p:txBody>
      </p:sp>
      <p:sp>
        <p:nvSpPr>
          <p:cNvPr id="23" name="w0_ring"/>
          <p:cNvSpPr/>
          <p:nvPr/>
        </p:nvSpPr>
        <p:spPr>
          <a:xfrm>
            <a:off x="548640" y="5230368"/>
            <a:ext cx="548640" cy="548640"/>
          </a:xfrm>
          <a:prstGeom prst="ellipse">
            <a:avLst/>
          </a:prstGeom>
          <a:solidFill>
            <a:schemeClr val="tx2"/>
          </a:solidFill>
          <a:ln w="15875">
            <a:solidFill>
              <a:schemeClr val="accent4"/>
            </a:solidFill>
            <a:prstDash val="solid"/>
          </a:ln>
        </p:spPr>
      </p:sp>
      <p:pic>
        <p:nvPicPr>
          <p:cNvPr id="24" name="w0_icon" descr="users icon">    </p:cNvPr>
          <p:cNvPicPr>
            <a:picLocks noChangeAspect="1"/>
          </p:cNvPicPr>
          <p:nvPr/>
        </p:nvPicPr>
        <p:blipFill>
          <a:blip r:embed="rId3"/>
          <a:stretch>
            <a:fillRect/>
          </a:stretch>
        </p:blipFill>
        <p:spPr>
          <a:xfrm>
            <a:off x="680314" y="5362042"/>
            <a:ext cx="285293" cy="285293"/>
          </a:xfrm>
          <a:prstGeom prst="rect">
            <a:avLst/>
          </a:prstGeom>
        </p:spPr>
      </p:pic>
      <p:sp>
        <p:nvSpPr>
          <p:cNvPr id="25" name="w0t"/>
          <p:cNvSpPr txBox="1"/>
          <p:nvPr/>
        </p:nvSpPr>
        <p:spPr>
          <a:xfrm>
            <a:off x="1261872" y="5138928"/>
            <a:ext cx="2926080" cy="731520"/>
          </a:xfrm>
          <a:prstGeom prst="rect">
            <a:avLst/>
          </a:prstGeom>
          <a:noFill/>
          <a:ln/>
        </p:spPr>
        <p:txBody>
          <a:bodyPr wrap="square" lIns="0" tIns="0" rIns="0" bIns="0" rtlCol="0" anchor="ctr"/>
          <a:lstStyle/>
          <a:p>
            <a:pPr indent="0" marL="0">
              <a:buNone/>
            </a:pPr>
            <a:r>
              <a:rPr lang="en-US" sz="1600" b="1" dirty="0">
                <a:solidFill>
                  <a:schemeClr val="bg1"/>
                </a:solidFill>
              </a:rPr>
              <a:t>Patients</a:t>
            </a:r>
            <a:endParaRPr lang="en-US" sz="1600" dirty="0"/>
          </a:p>
          <a:p>
            <a:pPr indent="0" marL="0">
              <a:buNone/>
            </a:pPr>
            <a:r>
              <a:rPr lang="en-US" sz="1400" dirty="0">
                <a:solidFill>
                  <a:schemeClr val="bg2"/>
                </a:solidFill>
              </a:rPr>
              <a:t>radiotherapy aimed at the living tumour</a:t>
            </a:r>
            <a:endParaRPr lang="en-US" sz="1600" dirty="0"/>
          </a:p>
        </p:txBody>
      </p:sp>
      <p:sp>
        <p:nvSpPr>
          <p:cNvPr id="26" name="w1_ring"/>
          <p:cNvSpPr/>
          <p:nvPr/>
        </p:nvSpPr>
        <p:spPr>
          <a:xfrm>
            <a:off x="4343400" y="5230368"/>
            <a:ext cx="548640" cy="548640"/>
          </a:xfrm>
          <a:prstGeom prst="ellipse">
            <a:avLst/>
          </a:prstGeom>
          <a:solidFill>
            <a:schemeClr val="tx2"/>
          </a:solidFill>
          <a:ln w="15875">
            <a:solidFill>
              <a:schemeClr val="accent2"/>
            </a:solidFill>
            <a:prstDash val="solid"/>
          </a:ln>
        </p:spPr>
      </p:sp>
      <p:pic>
        <p:nvPicPr>
          <p:cNvPr id="27" name="w1_icon" descr="eye icon">    </p:cNvPr>
          <p:cNvPicPr>
            <a:picLocks noChangeAspect="1"/>
          </p:cNvPicPr>
          <p:nvPr/>
        </p:nvPicPr>
        <p:blipFill>
          <a:blip r:embed="rId4"/>
          <a:stretch>
            <a:fillRect/>
          </a:stretch>
        </p:blipFill>
        <p:spPr>
          <a:xfrm>
            <a:off x="4475074" y="5362042"/>
            <a:ext cx="285293" cy="285293"/>
          </a:xfrm>
          <a:prstGeom prst="rect">
            <a:avLst/>
          </a:prstGeom>
        </p:spPr>
      </p:pic>
      <p:sp>
        <p:nvSpPr>
          <p:cNvPr id="28" name="w1t"/>
          <p:cNvSpPr txBox="1"/>
          <p:nvPr/>
        </p:nvSpPr>
        <p:spPr>
          <a:xfrm>
            <a:off x="5056632" y="5138928"/>
            <a:ext cx="2926080" cy="731520"/>
          </a:xfrm>
          <a:prstGeom prst="rect">
            <a:avLst/>
          </a:prstGeom>
          <a:noFill/>
          <a:ln/>
        </p:spPr>
        <p:txBody>
          <a:bodyPr wrap="square" lIns="0" tIns="0" rIns="0" bIns="0" rtlCol="0" anchor="ctr"/>
          <a:lstStyle/>
          <a:p>
            <a:pPr indent="0" marL="0">
              <a:buNone/>
            </a:pPr>
            <a:r>
              <a:rPr lang="en-US" sz="1600" b="1" dirty="0">
                <a:solidFill>
                  <a:schemeClr val="bg1"/>
                </a:solidFill>
              </a:rPr>
              <a:t>Doctors</a:t>
            </a:r>
            <a:endParaRPr lang="en-US" sz="1600" dirty="0"/>
          </a:p>
          <a:p>
            <a:pPr indent="0" marL="0">
              <a:buNone/>
            </a:pPr>
            <a:r>
              <a:rPr lang="en-US" sz="1400" dirty="0">
                <a:solidFill>
                  <a:schemeClr val="bg2"/>
                </a:solidFill>
              </a:rPr>
              <a:t>one fused image instead of two screens</a:t>
            </a:r>
            <a:endParaRPr lang="en-US" sz="1600" dirty="0"/>
          </a:p>
        </p:txBody>
      </p:sp>
      <p:sp>
        <p:nvSpPr>
          <p:cNvPr id="29" name="w2_ring"/>
          <p:cNvSpPr/>
          <p:nvPr/>
        </p:nvSpPr>
        <p:spPr>
          <a:xfrm>
            <a:off x="8138160" y="5230368"/>
            <a:ext cx="548640" cy="548640"/>
          </a:xfrm>
          <a:prstGeom prst="ellipse">
            <a:avLst/>
          </a:prstGeom>
          <a:solidFill>
            <a:schemeClr val="tx2"/>
          </a:solidFill>
          <a:ln w="15875">
            <a:solidFill>
              <a:schemeClr val="accent3"/>
            </a:solidFill>
            <a:prstDash val="solid"/>
          </a:ln>
        </p:spPr>
      </p:sp>
      <p:pic>
        <p:nvPicPr>
          <p:cNvPr id="30" name="w2_icon" descr="hospital icon">    </p:cNvPr>
          <p:cNvPicPr>
            <a:picLocks noChangeAspect="1"/>
          </p:cNvPicPr>
          <p:nvPr/>
        </p:nvPicPr>
        <p:blipFill>
          <a:blip r:embed="rId5"/>
          <a:stretch>
            <a:fillRect/>
          </a:stretch>
        </p:blipFill>
        <p:spPr>
          <a:xfrm>
            <a:off x="8269834" y="5362042"/>
            <a:ext cx="285293" cy="285293"/>
          </a:xfrm>
          <a:prstGeom prst="rect">
            <a:avLst/>
          </a:prstGeom>
        </p:spPr>
      </p:pic>
      <p:sp>
        <p:nvSpPr>
          <p:cNvPr id="31" name="w2t"/>
          <p:cNvSpPr txBox="1"/>
          <p:nvPr/>
        </p:nvSpPr>
        <p:spPr>
          <a:xfrm>
            <a:off x="8851392" y="5138928"/>
            <a:ext cx="2926080" cy="731520"/>
          </a:xfrm>
          <a:prstGeom prst="rect">
            <a:avLst/>
          </a:prstGeom>
          <a:noFill/>
          <a:ln/>
        </p:spPr>
        <p:txBody>
          <a:bodyPr wrap="square" lIns="0" tIns="0" rIns="0" bIns="0" rtlCol="0" anchor="ctr"/>
          <a:lstStyle/>
          <a:p>
            <a:pPr indent="0" marL="0">
              <a:buNone/>
            </a:pPr>
            <a:r>
              <a:rPr lang="en-US" sz="1600" b="1" dirty="0">
                <a:solidFill>
                  <a:schemeClr val="bg1"/>
                </a:solidFill>
              </a:rPr>
              <a:t>Hospitals</a:t>
            </a:r>
            <a:endParaRPr lang="en-US" sz="1600" dirty="0"/>
          </a:p>
          <a:p>
            <a:pPr indent="0" marL="0">
              <a:buNone/>
            </a:pPr>
            <a:r>
              <a:rPr lang="en-US" sz="1400" dirty="0">
                <a:solidFill>
                  <a:schemeClr val="bg2"/>
                </a:solidFill>
              </a:rPr>
              <a:t>a new capability with no capital cost</a:t>
            </a:r>
            <a:endParaRPr lang="en-US" sz="16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50"/>
                                        <p:tgtEl>
                                          <p:spTgt spid="7"/>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35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4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5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42" presetClass="entr" presetSubtype="0" fill="hold" grpId="0" nodeType="withEffect">
                                  <p:stCondLst>
                                    <p:cond delay="7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50"/>
                                        <p:tgtEl>
                                          <p:spTgt spid="14"/>
                                        </p:tgtEl>
                                      </p:cBhvr>
                                    </p:animEffect>
                                    <p:anim calcmode="lin" valueType="num">
                                      <p:cBhvr additive="base">
                                        <p:cTn id="38" dur="650" decel="100000" fill="hold"/>
                                        <p:tgtEl>
                                          <p:spTgt spid="14"/>
                                        </p:tgtEl>
                                        <p:attrNameLst>
                                          <p:attrName>ppt_x</p:attrName>
                                        </p:attrNameLst>
                                      </p:cBhvr>
                                      <p:tavLst>
                                        <p:tav tm="0">
                                          <p:val>
                                            <p:strVal val="#ppt_x"/>
                                          </p:val>
                                        </p:tav>
                                        <p:tav tm="100000">
                                          <p:val>
                                            <p:strVal val="#ppt_x"/>
                                          </p:val>
                                        </p:tav>
                                      </p:tavLst>
                                    </p:anim>
                                    <p:anim calcmode="lin" valueType="num">
                                      <p:cBhvr additive="base">
                                        <p:cTn id="39" dur="650" decel="100000" fill="hold"/>
                                        <p:tgtEl>
                                          <p:spTgt spid="14"/>
                                        </p:tgtEl>
                                        <p:attrNameLst>
                                          <p:attrName>ppt_y</p:attrName>
                                        </p:attrNameLst>
                                      </p:cBhvr>
                                      <p:tavLst>
                                        <p:tav tm="0">
                                          <p:val>
                                            <p:strVal val="#ppt_y+0.05"/>
                                          </p:val>
                                        </p:tav>
                                        <p:tav tm="100000">
                                          <p:val>
                                            <p:strVal val="#ppt_y"/>
                                          </p:val>
                                        </p:tav>
                                      </p:tavLst>
                                    </p:anim>
                                  </p:childTnLst>
                                </p:cTn>
                              </p:par>
                              <p:par>
                                <p:cTn id="40" presetID="42" presetClass="entr" presetSubtype="0" fill="hold" grpId="0" nodeType="withEffect">
                                  <p:stCondLst>
                                    <p:cond delay="70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650"/>
                                        <p:tgtEl>
                                          <p:spTgt spid="16"/>
                                        </p:tgtEl>
                                      </p:cBhvr>
                                    </p:animEffect>
                                    <p:anim calcmode="lin" valueType="num">
                                      <p:cBhvr additive="base">
                                        <p:cTn id="43" dur="650" decel="100000" fill="hold"/>
                                        <p:tgtEl>
                                          <p:spTgt spid="16"/>
                                        </p:tgtEl>
                                        <p:attrNameLst>
                                          <p:attrName>ppt_x</p:attrName>
                                        </p:attrNameLst>
                                      </p:cBhvr>
                                      <p:tavLst>
                                        <p:tav tm="0">
                                          <p:val>
                                            <p:strVal val="#ppt_x"/>
                                          </p:val>
                                        </p:tav>
                                        <p:tav tm="100000">
                                          <p:val>
                                            <p:strVal val="#ppt_x"/>
                                          </p:val>
                                        </p:tav>
                                      </p:tavLst>
                                    </p:anim>
                                    <p:anim calcmode="lin" valueType="num">
                                      <p:cBhvr additive="base">
                                        <p:cTn id="44" dur="650" decel="100000" fill="hold"/>
                                        <p:tgtEl>
                                          <p:spTgt spid="16"/>
                                        </p:tgtEl>
                                        <p:attrNameLst>
                                          <p:attrName>ppt_y</p:attrName>
                                        </p:attrNameLst>
                                      </p:cBhvr>
                                      <p:tavLst>
                                        <p:tav tm="0">
                                          <p:val>
                                            <p:strVal val="#ppt_y+0.05"/>
                                          </p:val>
                                        </p:tav>
                                        <p:tav tm="100000">
                                          <p:val>
                                            <p:strVal val="#ppt_y"/>
                                          </p:val>
                                        </p:tav>
                                      </p:tavLst>
                                    </p:anim>
                                  </p:childTnLst>
                                </p:cTn>
                              </p:par>
                              <p:par>
                                <p:cTn id="45" presetID="53" presetClass="entr" presetSubtype="16" fill="hold" grpId="0" nodeType="withEffect">
                                  <p:stCondLst>
                                    <p:cond delay="80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600" decel="100000" fill="hold"/>
                                        <p:tgtEl>
                                          <p:spTgt spid="15"/>
                                        </p:tgtEl>
                                        <p:attrNameLst>
                                          <p:attrName>ppt_w</p:attrName>
                                        </p:attrNameLst>
                                      </p:cBhvr>
                                      <p:tavLst>
                                        <p:tav tm="0">
                                          <p:val>
                                            <p:strVal val="#ppt_w*0.55"/>
                                          </p:val>
                                        </p:tav>
                                        <p:tav tm="100000">
                                          <p:val>
                                            <p:strVal val="#ppt_w"/>
                                          </p:val>
                                        </p:tav>
                                      </p:tavLst>
                                    </p:anim>
                                    <p:anim calcmode="lin" valueType="num">
                                      <p:cBhvr additive="base">
                                        <p:cTn id="48" dur="600" decel="100000" fill="hold"/>
                                        <p:tgtEl>
                                          <p:spTgt spid="15"/>
                                        </p:tgtEl>
                                        <p:attrNameLst>
                                          <p:attrName>ppt_h</p:attrName>
                                        </p:attrNameLst>
                                      </p:cBhvr>
                                      <p:tavLst>
                                        <p:tav tm="0">
                                          <p:val>
                                            <p:strVal val="#ppt_h*0.55"/>
                                          </p:val>
                                        </p:tav>
                                        <p:tav tm="100000">
                                          <p:val>
                                            <p:strVal val="#ppt_h"/>
                                          </p:val>
                                        </p:tav>
                                      </p:tavLst>
                                    </p:anim>
                                    <p:animEffect transition="in" filter="fade">
                                      <p:cBhvr>
                                        <p:cTn id="49" dur="600"/>
                                        <p:tgtEl>
                                          <p:spTgt spid="15"/>
                                        </p:tgtEl>
                                      </p:cBhvr>
                                    </p:animEffect>
                                  </p:childTnLst>
                                </p:cTn>
                              </p:par>
                              <p:par>
                                <p:cTn id="50" presetID="53" presetClass="entr" presetSubtype="16" fill="hold" grpId="0" nodeType="withEffect">
                                  <p:stCondLst>
                                    <p:cond delay="90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decel="100000" fill="hold"/>
                                        <p:tgtEl>
                                          <p:spTgt spid="17"/>
                                        </p:tgtEl>
                                        <p:attrNameLst>
                                          <p:attrName>ppt_w</p:attrName>
                                        </p:attrNameLst>
                                      </p:cBhvr>
                                      <p:tavLst>
                                        <p:tav tm="0">
                                          <p:val>
                                            <p:strVal val="#ppt_w*0.55"/>
                                          </p:val>
                                        </p:tav>
                                        <p:tav tm="100000">
                                          <p:val>
                                            <p:strVal val="#ppt_w"/>
                                          </p:val>
                                        </p:tav>
                                      </p:tavLst>
                                    </p:anim>
                                    <p:anim calcmode="lin" valueType="num">
                                      <p:cBhvr additive="base">
                                        <p:cTn id="53" dur="500" decel="100000" fill="hold"/>
                                        <p:tgtEl>
                                          <p:spTgt spid="17"/>
                                        </p:tgtEl>
                                        <p:attrNameLst>
                                          <p:attrName>ppt_h</p:attrName>
                                        </p:attrNameLst>
                                      </p:cBhvr>
                                      <p:tavLst>
                                        <p:tav tm="0">
                                          <p:val>
                                            <p:strVal val="#ppt_h*0.55"/>
                                          </p:val>
                                        </p:tav>
                                        <p:tav tm="100000">
                                          <p:val>
                                            <p:strVal val="#ppt_h"/>
                                          </p:val>
                                        </p:tav>
                                      </p:tavLst>
                                    </p:anim>
                                    <p:animEffect transition="in" filter="fade">
                                      <p:cBhvr>
                                        <p:cTn id="54" dur="500"/>
                                        <p:tgtEl>
                                          <p:spTgt spid="17"/>
                                        </p:tgtEl>
                                      </p:cBhvr>
                                    </p:animEffect>
                                  </p:childTnLst>
                                </p:cTn>
                              </p:par>
                              <p:par>
                                <p:cTn id="55" presetID="10" presetClass="entr" presetSubtype="0" fill="hold" grpId="0" nodeType="withEffect">
                                  <p:stCondLst>
                                    <p:cond delay="95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par>
                                <p:cTn id="58" presetID="53" presetClass="entr" presetSubtype="16" fill="hold" grpId="0" nodeType="withEffect">
                                  <p:stCondLst>
                                    <p:cond delay="1050"/>
                                  </p:stCondLst>
                                  <p:childTnLst>
                                    <p:set>
                                      <p:cBhvr>
                                        <p:cTn id="59" dur="1" fill="hold">
                                          <p:stCondLst>
                                            <p:cond delay="0"/>
                                          </p:stCondLst>
                                        </p:cTn>
                                        <p:tgtEl>
                                          <p:spTgt spid="19"/>
                                        </p:tgtEl>
                                        <p:attrNameLst>
                                          <p:attrName>style.visibility</p:attrName>
                                        </p:attrNameLst>
                                      </p:cBhvr>
                                      <p:to>
                                        <p:strVal val="visible"/>
                                      </p:to>
                                    </p:set>
                                    <p:anim calcmode="lin" valueType="num">
                                      <p:cBhvr additive="base">
                                        <p:cTn id="60" dur="500" decel="100000" fill="hold"/>
                                        <p:tgtEl>
                                          <p:spTgt spid="19"/>
                                        </p:tgtEl>
                                        <p:attrNameLst>
                                          <p:attrName>ppt_w</p:attrName>
                                        </p:attrNameLst>
                                      </p:cBhvr>
                                      <p:tavLst>
                                        <p:tav tm="0">
                                          <p:val>
                                            <p:strVal val="#ppt_w*0.55"/>
                                          </p:val>
                                        </p:tav>
                                        <p:tav tm="100000">
                                          <p:val>
                                            <p:strVal val="#ppt_w"/>
                                          </p:val>
                                        </p:tav>
                                      </p:tavLst>
                                    </p:anim>
                                    <p:anim calcmode="lin" valueType="num">
                                      <p:cBhvr additive="base">
                                        <p:cTn id="61" dur="500" decel="100000" fill="hold"/>
                                        <p:tgtEl>
                                          <p:spTgt spid="19"/>
                                        </p:tgtEl>
                                        <p:attrNameLst>
                                          <p:attrName>ppt_h</p:attrName>
                                        </p:attrNameLst>
                                      </p:cBhvr>
                                      <p:tavLst>
                                        <p:tav tm="0">
                                          <p:val>
                                            <p:strVal val="#ppt_h*0.55"/>
                                          </p:val>
                                        </p:tav>
                                        <p:tav tm="100000">
                                          <p:val>
                                            <p:strVal val="#ppt_h"/>
                                          </p:val>
                                        </p:tav>
                                      </p:tavLst>
                                    </p:anim>
                                    <p:animEffect transition="in" filter="fade">
                                      <p:cBhvr>
                                        <p:cTn id="62" dur="500"/>
                                        <p:tgtEl>
                                          <p:spTgt spid="19"/>
                                        </p:tgtEl>
                                      </p:cBhvr>
                                    </p:animEffect>
                                  </p:childTnLst>
                                </p:cTn>
                              </p:par>
                              <p:par>
                                <p:cTn id="63" presetID="10" presetClass="entr" presetSubtype="0" fill="hold" grpId="0" nodeType="withEffect">
                                  <p:stCondLst>
                                    <p:cond delay="110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500"/>
                                        <p:tgtEl>
                                          <p:spTgt spid="20"/>
                                        </p:tgtEl>
                                      </p:cBhvr>
                                    </p:animEffect>
                                  </p:childTnLst>
                                </p:cTn>
                              </p:par>
                              <p:par>
                                <p:cTn id="66" presetID="53" presetClass="entr" presetSubtype="16" fill="hold" grpId="0" nodeType="withEffect">
                                  <p:stCondLst>
                                    <p:cond delay="1200"/>
                                  </p:stCondLst>
                                  <p:childTnLst>
                                    <p:set>
                                      <p:cBhvr>
                                        <p:cTn id="67" dur="1" fill="hold">
                                          <p:stCondLst>
                                            <p:cond delay="0"/>
                                          </p:stCondLst>
                                        </p:cTn>
                                        <p:tgtEl>
                                          <p:spTgt spid="21"/>
                                        </p:tgtEl>
                                        <p:attrNameLst>
                                          <p:attrName>style.visibility</p:attrName>
                                        </p:attrNameLst>
                                      </p:cBhvr>
                                      <p:to>
                                        <p:strVal val="visible"/>
                                      </p:to>
                                    </p:set>
                                    <p:anim calcmode="lin" valueType="num">
                                      <p:cBhvr additive="base">
                                        <p:cTn id="68" dur="500" decel="100000" fill="hold"/>
                                        <p:tgtEl>
                                          <p:spTgt spid="21"/>
                                        </p:tgtEl>
                                        <p:attrNameLst>
                                          <p:attrName>ppt_w</p:attrName>
                                        </p:attrNameLst>
                                      </p:cBhvr>
                                      <p:tavLst>
                                        <p:tav tm="0">
                                          <p:val>
                                            <p:strVal val="#ppt_w*0.55"/>
                                          </p:val>
                                        </p:tav>
                                        <p:tav tm="100000">
                                          <p:val>
                                            <p:strVal val="#ppt_w"/>
                                          </p:val>
                                        </p:tav>
                                      </p:tavLst>
                                    </p:anim>
                                    <p:anim calcmode="lin" valueType="num">
                                      <p:cBhvr additive="base">
                                        <p:cTn id="69" dur="500" decel="100000" fill="hold"/>
                                        <p:tgtEl>
                                          <p:spTgt spid="21"/>
                                        </p:tgtEl>
                                        <p:attrNameLst>
                                          <p:attrName>ppt_h</p:attrName>
                                        </p:attrNameLst>
                                      </p:cBhvr>
                                      <p:tavLst>
                                        <p:tav tm="0">
                                          <p:val>
                                            <p:strVal val="#ppt_h*0.55"/>
                                          </p:val>
                                        </p:tav>
                                        <p:tav tm="100000">
                                          <p:val>
                                            <p:strVal val="#ppt_h"/>
                                          </p:val>
                                        </p:tav>
                                      </p:tavLst>
                                    </p:anim>
                                    <p:animEffect transition="in" filter="fade">
                                      <p:cBhvr>
                                        <p:cTn id="70" dur="500"/>
                                        <p:tgtEl>
                                          <p:spTgt spid="21"/>
                                        </p:tgtEl>
                                      </p:cBhvr>
                                    </p:animEffect>
                                  </p:childTnLst>
                                </p:cTn>
                              </p:par>
                              <p:par>
                                <p:cTn id="71" presetID="10" presetClass="entr" presetSubtype="0" fill="hold" grpId="0" nodeType="withEffect">
                                  <p:stCondLst>
                                    <p:cond delay="125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500"/>
                                        <p:tgtEl>
                                          <p:spTgt spid="22"/>
                                        </p:tgtEl>
                                      </p:cBhvr>
                                    </p:animEffect>
                                  </p:childTnLst>
                                </p:cTn>
                              </p:par>
                              <p:par>
                                <p:cTn id="74" presetID="53" presetClass="entr" presetSubtype="16" fill="hold" grpId="0" nodeType="withEffect">
                                  <p:stCondLst>
                                    <p:cond delay="1800"/>
                                  </p:stCondLst>
                                  <p:childTnLst>
                                    <p:set>
                                      <p:cBhvr>
                                        <p:cTn id="75" dur="1" fill="hold">
                                          <p:stCondLst>
                                            <p:cond delay="0"/>
                                          </p:stCondLst>
                                        </p:cTn>
                                        <p:tgtEl>
                                          <p:spTgt spid="23"/>
                                        </p:tgtEl>
                                        <p:attrNameLst>
                                          <p:attrName>style.visibility</p:attrName>
                                        </p:attrNameLst>
                                      </p:cBhvr>
                                      <p:to>
                                        <p:strVal val="visible"/>
                                      </p:to>
                                    </p:set>
                                    <p:anim calcmode="lin" valueType="num">
                                      <p:cBhvr additive="base">
                                        <p:cTn id="76" dur="450" decel="100000" fill="hold"/>
                                        <p:tgtEl>
                                          <p:spTgt spid="23"/>
                                        </p:tgtEl>
                                        <p:attrNameLst>
                                          <p:attrName>ppt_w</p:attrName>
                                        </p:attrNameLst>
                                      </p:cBhvr>
                                      <p:tavLst>
                                        <p:tav tm="0">
                                          <p:val>
                                            <p:strVal val="#ppt_w*0.55"/>
                                          </p:val>
                                        </p:tav>
                                        <p:tav tm="100000">
                                          <p:val>
                                            <p:strVal val="#ppt_w"/>
                                          </p:val>
                                        </p:tav>
                                      </p:tavLst>
                                    </p:anim>
                                    <p:anim calcmode="lin" valueType="num">
                                      <p:cBhvr additive="base">
                                        <p:cTn id="77" dur="450" decel="100000" fill="hold"/>
                                        <p:tgtEl>
                                          <p:spTgt spid="23"/>
                                        </p:tgtEl>
                                        <p:attrNameLst>
                                          <p:attrName>ppt_h</p:attrName>
                                        </p:attrNameLst>
                                      </p:cBhvr>
                                      <p:tavLst>
                                        <p:tav tm="0">
                                          <p:val>
                                            <p:strVal val="#ppt_h*0.55"/>
                                          </p:val>
                                        </p:tav>
                                        <p:tav tm="100000">
                                          <p:val>
                                            <p:strVal val="#ppt_h"/>
                                          </p:val>
                                        </p:tav>
                                      </p:tavLst>
                                    </p:anim>
                                    <p:animEffect transition="in" filter="fade">
                                      <p:cBhvr>
                                        <p:cTn id="78" dur="450"/>
                                        <p:tgtEl>
                                          <p:spTgt spid="23"/>
                                        </p:tgtEl>
                                      </p:cBhvr>
                                    </p:animEffect>
                                  </p:childTnLst>
                                </p:cTn>
                              </p:par>
                              <p:par>
                                <p:cTn id="79" presetID="53" presetClass="entr" presetSubtype="16" fill="hold" grpId="0" nodeType="withEffect">
                                  <p:stCondLst>
                                    <p:cond delay="1800"/>
                                  </p:stCondLst>
                                  <p:childTnLst>
                                    <p:set>
                                      <p:cBhvr>
                                        <p:cTn id="80" dur="1" fill="hold">
                                          <p:stCondLst>
                                            <p:cond delay="0"/>
                                          </p:stCondLst>
                                        </p:cTn>
                                        <p:tgtEl>
                                          <p:spTgt spid="24"/>
                                        </p:tgtEl>
                                        <p:attrNameLst>
                                          <p:attrName>style.visibility</p:attrName>
                                        </p:attrNameLst>
                                      </p:cBhvr>
                                      <p:to>
                                        <p:strVal val="visible"/>
                                      </p:to>
                                    </p:set>
                                    <p:anim calcmode="lin" valueType="num">
                                      <p:cBhvr additive="base">
                                        <p:cTn id="81" dur="450" decel="100000" fill="hold"/>
                                        <p:tgtEl>
                                          <p:spTgt spid="24"/>
                                        </p:tgtEl>
                                        <p:attrNameLst>
                                          <p:attrName>ppt_w</p:attrName>
                                        </p:attrNameLst>
                                      </p:cBhvr>
                                      <p:tavLst>
                                        <p:tav tm="0">
                                          <p:val>
                                            <p:strVal val="#ppt_w*0.55"/>
                                          </p:val>
                                        </p:tav>
                                        <p:tav tm="100000">
                                          <p:val>
                                            <p:strVal val="#ppt_w"/>
                                          </p:val>
                                        </p:tav>
                                      </p:tavLst>
                                    </p:anim>
                                    <p:anim calcmode="lin" valueType="num">
                                      <p:cBhvr additive="base">
                                        <p:cTn id="82" dur="450" decel="100000" fill="hold"/>
                                        <p:tgtEl>
                                          <p:spTgt spid="24"/>
                                        </p:tgtEl>
                                        <p:attrNameLst>
                                          <p:attrName>ppt_h</p:attrName>
                                        </p:attrNameLst>
                                      </p:cBhvr>
                                      <p:tavLst>
                                        <p:tav tm="0">
                                          <p:val>
                                            <p:strVal val="#ppt_h*0.55"/>
                                          </p:val>
                                        </p:tav>
                                        <p:tav tm="100000">
                                          <p:val>
                                            <p:strVal val="#ppt_h"/>
                                          </p:val>
                                        </p:tav>
                                      </p:tavLst>
                                    </p:anim>
                                    <p:animEffect transition="in" filter="fade">
                                      <p:cBhvr>
                                        <p:cTn id="83" dur="450"/>
                                        <p:tgtEl>
                                          <p:spTgt spid="24"/>
                                        </p:tgtEl>
                                      </p:cBhvr>
                                    </p:animEffect>
                                  </p:childTnLst>
                                </p:cTn>
                              </p:par>
                              <p:par>
                                <p:cTn id="84" presetID="42" presetClass="entr" presetSubtype="0" fill="hold" grpId="0" nodeType="withEffect">
                                  <p:stCondLst>
                                    <p:cond delay="185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550"/>
                                        <p:tgtEl>
                                          <p:spTgt spid="25"/>
                                        </p:tgtEl>
                                      </p:cBhvr>
                                    </p:animEffect>
                                    <p:anim calcmode="lin" valueType="num">
                                      <p:cBhvr additive="base">
                                        <p:cTn id="87" dur="550" decel="100000" fill="hold"/>
                                        <p:tgtEl>
                                          <p:spTgt spid="25"/>
                                        </p:tgtEl>
                                        <p:attrNameLst>
                                          <p:attrName>ppt_x</p:attrName>
                                        </p:attrNameLst>
                                      </p:cBhvr>
                                      <p:tavLst>
                                        <p:tav tm="0">
                                          <p:val>
                                            <p:strVal val="#ppt_x-0.035"/>
                                          </p:val>
                                        </p:tav>
                                        <p:tav tm="100000">
                                          <p:val>
                                            <p:strVal val="#ppt_x"/>
                                          </p:val>
                                        </p:tav>
                                      </p:tavLst>
                                    </p:anim>
                                    <p:anim calcmode="lin" valueType="num">
                                      <p:cBhvr additive="base">
                                        <p:cTn id="88" dur="550" decel="100000" fill="hold"/>
                                        <p:tgtEl>
                                          <p:spTgt spid="25"/>
                                        </p:tgtEl>
                                        <p:attrNameLst>
                                          <p:attrName>ppt_y</p:attrName>
                                        </p:attrNameLst>
                                      </p:cBhvr>
                                      <p:tavLst>
                                        <p:tav tm="0">
                                          <p:val>
                                            <p:strVal val="#ppt_y"/>
                                          </p:val>
                                        </p:tav>
                                        <p:tav tm="100000">
                                          <p:val>
                                            <p:strVal val="#ppt_y"/>
                                          </p:val>
                                        </p:tav>
                                      </p:tavLst>
                                    </p:anim>
                                  </p:childTnLst>
                                </p:cTn>
                              </p:par>
                              <p:par>
                                <p:cTn id="89" presetID="53" presetClass="entr" presetSubtype="16" fill="hold" grpId="0" nodeType="withEffect">
                                  <p:stCondLst>
                                    <p:cond delay="1980"/>
                                  </p:stCondLst>
                                  <p:childTnLst>
                                    <p:set>
                                      <p:cBhvr>
                                        <p:cTn id="90" dur="1" fill="hold">
                                          <p:stCondLst>
                                            <p:cond delay="0"/>
                                          </p:stCondLst>
                                        </p:cTn>
                                        <p:tgtEl>
                                          <p:spTgt spid="26"/>
                                        </p:tgtEl>
                                        <p:attrNameLst>
                                          <p:attrName>style.visibility</p:attrName>
                                        </p:attrNameLst>
                                      </p:cBhvr>
                                      <p:to>
                                        <p:strVal val="visible"/>
                                      </p:to>
                                    </p:set>
                                    <p:anim calcmode="lin" valueType="num">
                                      <p:cBhvr additive="base">
                                        <p:cTn id="91" dur="450" decel="100000" fill="hold"/>
                                        <p:tgtEl>
                                          <p:spTgt spid="26"/>
                                        </p:tgtEl>
                                        <p:attrNameLst>
                                          <p:attrName>ppt_w</p:attrName>
                                        </p:attrNameLst>
                                      </p:cBhvr>
                                      <p:tavLst>
                                        <p:tav tm="0">
                                          <p:val>
                                            <p:strVal val="#ppt_w*0.55"/>
                                          </p:val>
                                        </p:tav>
                                        <p:tav tm="100000">
                                          <p:val>
                                            <p:strVal val="#ppt_w"/>
                                          </p:val>
                                        </p:tav>
                                      </p:tavLst>
                                    </p:anim>
                                    <p:anim calcmode="lin" valueType="num">
                                      <p:cBhvr additive="base">
                                        <p:cTn id="92" dur="450" decel="100000" fill="hold"/>
                                        <p:tgtEl>
                                          <p:spTgt spid="26"/>
                                        </p:tgtEl>
                                        <p:attrNameLst>
                                          <p:attrName>ppt_h</p:attrName>
                                        </p:attrNameLst>
                                      </p:cBhvr>
                                      <p:tavLst>
                                        <p:tav tm="0">
                                          <p:val>
                                            <p:strVal val="#ppt_h*0.55"/>
                                          </p:val>
                                        </p:tav>
                                        <p:tav tm="100000">
                                          <p:val>
                                            <p:strVal val="#ppt_h"/>
                                          </p:val>
                                        </p:tav>
                                      </p:tavLst>
                                    </p:anim>
                                    <p:animEffect transition="in" filter="fade">
                                      <p:cBhvr>
                                        <p:cTn id="93" dur="450"/>
                                        <p:tgtEl>
                                          <p:spTgt spid="26"/>
                                        </p:tgtEl>
                                      </p:cBhvr>
                                    </p:animEffect>
                                  </p:childTnLst>
                                </p:cTn>
                              </p:par>
                              <p:par>
                                <p:cTn id="94" presetID="53" presetClass="entr" presetSubtype="16" fill="hold" grpId="0" nodeType="withEffect">
                                  <p:stCondLst>
                                    <p:cond delay="1980"/>
                                  </p:stCondLst>
                                  <p:childTnLst>
                                    <p:set>
                                      <p:cBhvr>
                                        <p:cTn id="95" dur="1" fill="hold">
                                          <p:stCondLst>
                                            <p:cond delay="0"/>
                                          </p:stCondLst>
                                        </p:cTn>
                                        <p:tgtEl>
                                          <p:spTgt spid="27"/>
                                        </p:tgtEl>
                                        <p:attrNameLst>
                                          <p:attrName>style.visibility</p:attrName>
                                        </p:attrNameLst>
                                      </p:cBhvr>
                                      <p:to>
                                        <p:strVal val="visible"/>
                                      </p:to>
                                    </p:set>
                                    <p:anim calcmode="lin" valueType="num">
                                      <p:cBhvr additive="base">
                                        <p:cTn id="96" dur="450" decel="100000" fill="hold"/>
                                        <p:tgtEl>
                                          <p:spTgt spid="27"/>
                                        </p:tgtEl>
                                        <p:attrNameLst>
                                          <p:attrName>ppt_w</p:attrName>
                                        </p:attrNameLst>
                                      </p:cBhvr>
                                      <p:tavLst>
                                        <p:tav tm="0">
                                          <p:val>
                                            <p:strVal val="#ppt_w*0.55"/>
                                          </p:val>
                                        </p:tav>
                                        <p:tav tm="100000">
                                          <p:val>
                                            <p:strVal val="#ppt_w"/>
                                          </p:val>
                                        </p:tav>
                                      </p:tavLst>
                                    </p:anim>
                                    <p:anim calcmode="lin" valueType="num">
                                      <p:cBhvr additive="base">
                                        <p:cTn id="97" dur="450" decel="100000" fill="hold"/>
                                        <p:tgtEl>
                                          <p:spTgt spid="27"/>
                                        </p:tgtEl>
                                        <p:attrNameLst>
                                          <p:attrName>ppt_h</p:attrName>
                                        </p:attrNameLst>
                                      </p:cBhvr>
                                      <p:tavLst>
                                        <p:tav tm="0">
                                          <p:val>
                                            <p:strVal val="#ppt_h*0.55"/>
                                          </p:val>
                                        </p:tav>
                                        <p:tav tm="100000">
                                          <p:val>
                                            <p:strVal val="#ppt_h"/>
                                          </p:val>
                                        </p:tav>
                                      </p:tavLst>
                                    </p:anim>
                                    <p:animEffect transition="in" filter="fade">
                                      <p:cBhvr>
                                        <p:cTn id="98" dur="450"/>
                                        <p:tgtEl>
                                          <p:spTgt spid="27"/>
                                        </p:tgtEl>
                                      </p:cBhvr>
                                    </p:animEffect>
                                  </p:childTnLst>
                                </p:cTn>
                              </p:par>
                              <p:par>
                                <p:cTn id="99" presetID="42" presetClass="entr" presetSubtype="0" fill="hold" grpId="0" nodeType="withEffect">
                                  <p:stCondLst>
                                    <p:cond delay="2030"/>
                                  </p:stCondLst>
                                  <p:childTnLst>
                                    <p:set>
                                      <p:cBhvr>
                                        <p:cTn id="100" dur="1" fill="hold">
                                          <p:stCondLst>
                                            <p:cond delay="0"/>
                                          </p:stCondLst>
                                        </p:cTn>
                                        <p:tgtEl>
                                          <p:spTgt spid="28"/>
                                        </p:tgtEl>
                                        <p:attrNameLst>
                                          <p:attrName>style.visibility</p:attrName>
                                        </p:attrNameLst>
                                      </p:cBhvr>
                                      <p:to>
                                        <p:strVal val="visible"/>
                                      </p:to>
                                    </p:set>
                                    <p:animEffect transition="in" filter="fade">
                                      <p:cBhvr>
                                        <p:cTn id="101" dur="550"/>
                                        <p:tgtEl>
                                          <p:spTgt spid="28"/>
                                        </p:tgtEl>
                                      </p:cBhvr>
                                    </p:animEffect>
                                    <p:anim calcmode="lin" valueType="num">
                                      <p:cBhvr additive="base">
                                        <p:cTn id="102" dur="550" decel="100000" fill="hold"/>
                                        <p:tgtEl>
                                          <p:spTgt spid="28"/>
                                        </p:tgtEl>
                                        <p:attrNameLst>
                                          <p:attrName>ppt_x</p:attrName>
                                        </p:attrNameLst>
                                      </p:cBhvr>
                                      <p:tavLst>
                                        <p:tav tm="0">
                                          <p:val>
                                            <p:strVal val="#ppt_x-0.035"/>
                                          </p:val>
                                        </p:tav>
                                        <p:tav tm="100000">
                                          <p:val>
                                            <p:strVal val="#ppt_x"/>
                                          </p:val>
                                        </p:tav>
                                      </p:tavLst>
                                    </p:anim>
                                    <p:anim calcmode="lin" valueType="num">
                                      <p:cBhvr additive="base">
                                        <p:cTn id="103" dur="550" decel="100000" fill="hold"/>
                                        <p:tgtEl>
                                          <p:spTgt spid="28"/>
                                        </p:tgtEl>
                                        <p:attrNameLst>
                                          <p:attrName>ppt_y</p:attrName>
                                        </p:attrNameLst>
                                      </p:cBhvr>
                                      <p:tavLst>
                                        <p:tav tm="0">
                                          <p:val>
                                            <p:strVal val="#ppt_y"/>
                                          </p:val>
                                        </p:tav>
                                        <p:tav tm="100000">
                                          <p:val>
                                            <p:strVal val="#ppt_y"/>
                                          </p:val>
                                        </p:tav>
                                      </p:tavLst>
                                    </p:anim>
                                  </p:childTnLst>
                                </p:cTn>
                              </p:par>
                              <p:par>
                                <p:cTn id="104" presetID="53" presetClass="entr" presetSubtype="16" fill="hold" grpId="0" nodeType="withEffect">
                                  <p:stCondLst>
                                    <p:cond delay="2160"/>
                                  </p:stCondLst>
                                  <p:childTnLst>
                                    <p:set>
                                      <p:cBhvr>
                                        <p:cTn id="105" dur="1" fill="hold">
                                          <p:stCondLst>
                                            <p:cond delay="0"/>
                                          </p:stCondLst>
                                        </p:cTn>
                                        <p:tgtEl>
                                          <p:spTgt spid="29"/>
                                        </p:tgtEl>
                                        <p:attrNameLst>
                                          <p:attrName>style.visibility</p:attrName>
                                        </p:attrNameLst>
                                      </p:cBhvr>
                                      <p:to>
                                        <p:strVal val="visible"/>
                                      </p:to>
                                    </p:set>
                                    <p:anim calcmode="lin" valueType="num">
                                      <p:cBhvr additive="base">
                                        <p:cTn id="106" dur="450" decel="100000" fill="hold"/>
                                        <p:tgtEl>
                                          <p:spTgt spid="29"/>
                                        </p:tgtEl>
                                        <p:attrNameLst>
                                          <p:attrName>ppt_w</p:attrName>
                                        </p:attrNameLst>
                                      </p:cBhvr>
                                      <p:tavLst>
                                        <p:tav tm="0">
                                          <p:val>
                                            <p:strVal val="#ppt_w*0.55"/>
                                          </p:val>
                                        </p:tav>
                                        <p:tav tm="100000">
                                          <p:val>
                                            <p:strVal val="#ppt_w"/>
                                          </p:val>
                                        </p:tav>
                                      </p:tavLst>
                                    </p:anim>
                                    <p:anim calcmode="lin" valueType="num">
                                      <p:cBhvr additive="base">
                                        <p:cTn id="107" dur="450" decel="100000" fill="hold"/>
                                        <p:tgtEl>
                                          <p:spTgt spid="29"/>
                                        </p:tgtEl>
                                        <p:attrNameLst>
                                          <p:attrName>ppt_h</p:attrName>
                                        </p:attrNameLst>
                                      </p:cBhvr>
                                      <p:tavLst>
                                        <p:tav tm="0">
                                          <p:val>
                                            <p:strVal val="#ppt_h*0.55"/>
                                          </p:val>
                                        </p:tav>
                                        <p:tav tm="100000">
                                          <p:val>
                                            <p:strVal val="#ppt_h"/>
                                          </p:val>
                                        </p:tav>
                                      </p:tavLst>
                                    </p:anim>
                                    <p:animEffect transition="in" filter="fade">
                                      <p:cBhvr>
                                        <p:cTn id="108" dur="450"/>
                                        <p:tgtEl>
                                          <p:spTgt spid="29"/>
                                        </p:tgtEl>
                                      </p:cBhvr>
                                    </p:animEffect>
                                  </p:childTnLst>
                                </p:cTn>
                              </p:par>
                              <p:par>
                                <p:cTn id="109" presetID="53" presetClass="entr" presetSubtype="16" fill="hold" grpId="0" nodeType="withEffect">
                                  <p:stCondLst>
                                    <p:cond delay="2160"/>
                                  </p:stCondLst>
                                  <p:childTnLst>
                                    <p:set>
                                      <p:cBhvr>
                                        <p:cTn id="110" dur="1" fill="hold">
                                          <p:stCondLst>
                                            <p:cond delay="0"/>
                                          </p:stCondLst>
                                        </p:cTn>
                                        <p:tgtEl>
                                          <p:spTgt spid="30"/>
                                        </p:tgtEl>
                                        <p:attrNameLst>
                                          <p:attrName>style.visibility</p:attrName>
                                        </p:attrNameLst>
                                      </p:cBhvr>
                                      <p:to>
                                        <p:strVal val="visible"/>
                                      </p:to>
                                    </p:set>
                                    <p:anim calcmode="lin" valueType="num">
                                      <p:cBhvr additive="base">
                                        <p:cTn id="111" dur="450" decel="100000" fill="hold"/>
                                        <p:tgtEl>
                                          <p:spTgt spid="30"/>
                                        </p:tgtEl>
                                        <p:attrNameLst>
                                          <p:attrName>ppt_w</p:attrName>
                                        </p:attrNameLst>
                                      </p:cBhvr>
                                      <p:tavLst>
                                        <p:tav tm="0">
                                          <p:val>
                                            <p:strVal val="#ppt_w*0.55"/>
                                          </p:val>
                                        </p:tav>
                                        <p:tav tm="100000">
                                          <p:val>
                                            <p:strVal val="#ppt_w"/>
                                          </p:val>
                                        </p:tav>
                                      </p:tavLst>
                                    </p:anim>
                                    <p:anim calcmode="lin" valueType="num">
                                      <p:cBhvr additive="base">
                                        <p:cTn id="112" dur="450" decel="100000" fill="hold"/>
                                        <p:tgtEl>
                                          <p:spTgt spid="30"/>
                                        </p:tgtEl>
                                        <p:attrNameLst>
                                          <p:attrName>ppt_h</p:attrName>
                                        </p:attrNameLst>
                                      </p:cBhvr>
                                      <p:tavLst>
                                        <p:tav tm="0">
                                          <p:val>
                                            <p:strVal val="#ppt_h*0.55"/>
                                          </p:val>
                                        </p:tav>
                                        <p:tav tm="100000">
                                          <p:val>
                                            <p:strVal val="#ppt_h"/>
                                          </p:val>
                                        </p:tav>
                                      </p:tavLst>
                                    </p:anim>
                                    <p:animEffect transition="in" filter="fade">
                                      <p:cBhvr>
                                        <p:cTn id="113" dur="450"/>
                                        <p:tgtEl>
                                          <p:spTgt spid="30"/>
                                        </p:tgtEl>
                                      </p:cBhvr>
                                    </p:animEffect>
                                  </p:childTnLst>
                                </p:cTn>
                              </p:par>
                              <p:par>
                                <p:cTn id="114" presetID="42" presetClass="entr" presetSubtype="0" fill="hold" grpId="0" nodeType="withEffect">
                                  <p:stCondLst>
                                    <p:cond delay="2210"/>
                                  </p:stCondLst>
                                  <p:childTnLst>
                                    <p:set>
                                      <p:cBhvr>
                                        <p:cTn id="115" dur="1" fill="hold">
                                          <p:stCondLst>
                                            <p:cond delay="0"/>
                                          </p:stCondLst>
                                        </p:cTn>
                                        <p:tgtEl>
                                          <p:spTgt spid="31"/>
                                        </p:tgtEl>
                                        <p:attrNameLst>
                                          <p:attrName>style.visibility</p:attrName>
                                        </p:attrNameLst>
                                      </p:cBhvr>
                                      <p:to>
                                        <p:strVal val="visible"/>
                                      </p:to>
                                    </p:set>
                                    <p:animEffect transition="in" filter="fade">
                                      <p:cBhvr>
                                        <p:cTn id="116" dur="550"/>
                                        <p:tgtEl>
                                          <p:spTgt spid="31"/>
                                        </p:tgtEl>
                                      </p:cBhvr>
                                    </p:animEffect>
                                    <p:anim calcmode="lin" valueType="num">
                                      <p:cBhvr additive="base">
                                        <p:cTn id="117" dur="550" decel="100000" fill="hold"/>
                                        <p:tgtEl>
                                          <p:spTgt spid="31"/>
                                        </p:tgtEl>
                                        <p:attrNameLst>
                                          <p:attrName>ppt_x</p:attrName>
                                        </p:attrNameLst>
                                      </p:cBhvr>
                                      <p:tavLst>
                                        <p:tav tm="0">
                                          <p:val>
                                            <p:strVal val="#ppt_x-0.035"/>
                                          </p:val>
                                        </p:tav>
                                        <p:tav tm="100000">
                                          <p:val>
                                            <p:strVal val="#ppt_x"/>
                                          </p:val>
                                        </p:tav>
                                      </p:tavLst>
                                    </p:anim>
                                    <p:anim calcmode="lin" valueType="num">
                                      <p:cBhvr additive="base">
                                        <p:cTn id="118" dur="550" decel="10000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1" grpId="0" animBg="1"/>
      <p:bldP spid="22" grpId="0" animBg="1"/>
      <p:bldP spid="23" grpId="0" animBg="1"/>
      <p:bldP spid="25" grpId="0" animBg="1"/>
      <p:bldP spid="26" grpId="0" animBg="1"/>
      <p:bldP spid="28" grpId="0" animBg="1"/>
      <p:bldP spid="29" grpId="0" animBg="1"/>
      <p:bldP spid="3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
          <p:cNvSpPr/>
          <p:nvPr>
            <p:ph idx="100" type="body" hasCustomPrompt="1"/>
          </p:nvPr>
        </p:nvSpPr>
        <p:spPr>
          <a:xfrm>
            <a:off x="548640" y="384048"/>
            <a:ext cx="7863840" cy="310896"/>
          </a:xfrm>
          <a:prstGeom prst="rect">
            <a:avLst/>
          </a:prstGeom>
          <a:noFill/>
          <a:ln/>
        </p:spPr>
        <p:txBody>
          <a:bodyPr wrap="square" lIns="0" tIns="0" rIns="0" bIns="0" rtlCol="0" anchor="ctr"/>
          <a:lstStyle/>
          <a:p>
            <a:pPr algn="l" indent="0" marL="0">
              <a:buNone/>
            </a:pPr>
            <a:r>
              <a:rPr lang="en-US" sz="1300" b="1" spc="300" kern="0" dirty="0">
                <a:solidFill>
                  <a:schemeClr val="accent1"/>
                </a:solidFill>
              </a:rPr>
              <a:t>WHAT'S NEXT</a:t>
            </a:r>
            <a:endParaRPr lang="en-US" sz="1300" dirty="0"/>
          </a:p>
        </p:txBody>
      </p:sp>
      <p:sp>
        <p:nvSpPr>
          <p:cNvPr id="3" name="ttl"/>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200" b="1" dirty="0">
                <a:solidFill>
                  <a:schemeClr val="bg1"/>
                </a:solidFill>
              </a:rPr>
              <a:t>From prototype to the clinic</a:t>
            </a:r>
            <a:endParaRPr lang="en-US" sz="3200" dirty="0"/>
          </a:p>
        </p:txBody>
      </p:sp>
      <p:sp>
        <p:nvSpPr>
          <p:cNvPr id="4" name="tline"/>
          <p:cNvSpPr/>
          <p:nvPr/>
        </p:nvSpPr>
        <p:spPr>
          <a:xfrm>
            <a:off x="1851660" y="2331720"/>
            <a:ext cx="8484718" cy="0"/>
          </a:xfrm>
          <a:prstGeom prst="line">
            <a:avLst/>
          </a:prstGeom>
          <a:noFill/>
          <a:ln w="25400">
            <a:solidFill>
              <a:schemeClr val="accent6"/>
            </a:solidFill>
            <a:prstDash val="solid"/>
          </a:ln>
        </p:spPr>
      </p:sp>
      <p:sp>
        <p:nvSpPr>
          <p:cNvPr id="5" name="rt0"/>
          <p:cNvSpPr txBox="1"/>
          <p:nvPr/>
        </p:nvSpPr>
        <p:spPr>
          <a:xfrm>
            <a:off x="937260" y="1691640"/>
            <a:ext cx="1828800" cy="292608"/>
          </a:xfrm>
          <a:prstGeom prst="rect">
            <a:avLst/>
          </a:prstGeom>
          <a:noFill/>
          <a:ln/>
        </p:spPr>
        <p:txBody>
          <a:bodyPr wrap="square" lIns="0" tIns="0" rIns="0" bIns="0" rtlCol="0" anchor="t"/>
          <a:lstStyle/>
          <a:p>
            <a:pPr algn="ctr" indent="0" marL="0">
              <a:buNone/>
            </a:pPr>
            <a:r>
              <a:rPr lang="en-US" sz="1300" b="1" spc="300" kern="0" dirty="0">
                <a:solidFill>
                  <a:schemeClr val="accent3"/>
                </a:solidFill>
              </a:rPr>
              <a:t>NOW</a:t>
            </a:r>
            <a:endParaRPr lang="en-US" sz="1300" dirty="0"/>
          </a:p>
        </p:txBody>
      </p:sp>
      <p:sp>
        <p:nvSpPr>
          <p:cNvPr id="6" name="rn0"/>
          <p:cNvSpPr/>
          <p:nvPr/>
        </p:nvSpPr>
        <p:spPr>
          <a:xfrm>
            <a:off x="1623060" y="2103120"/>
            <a:ext cx="457200" cy="457200"/>
          </a:xfrm>
          <a:prstGeom prst="ellipse">
            <a:avLst/>
          </a:prstGeom>
          <a:solidFill>
            <a:schemeClr val="accent3"/>
          </a:solidFill>
          <a:ln w="19050">
            <a:solidFill>
              <a:schemeClr val="accent3"/>
            </a:solidFill>
          </a:ln>
        </p:spPr>
        <p:txBody>
          <a:bodyPr wrap="square" lIns="0" tIns="0" rIns="0" bIns="0" rtlCol="0" anchor="ctr"/>
          <a:lstStyle/>
          <a:p>
            <a:pPr algn="ctr" indent="0" marL="0">
              <a:buNone/>
            </a:pPr>
            <a:r>
              <a:rPr lang="en-US" sz="1500" b="1" dirty="0">
                <a:solidFill>
                  <a:schemeClr val="tx1"/>
                </a:solidFill>
              </a:rPr>
              <a:t>✓</a:t>
            </a:r>
            <a:endParaRPr lang="en-US" sz="1500" dirty="0"/>
          </a:p>
        </p:txBody>
      </p:sp>
      <p:sp>
        <p:nvSpPr>
          <p:cNvPr id="7" name="rc0"/>
          <p:cNvSpPr/>
          <p:nvPr/>
        </p:nvSpPr>
        <p:spPr>
          <a:xfrm>
            <a:off x="548640" y="2788920"/>
            <a:ext cx="2606040" cy="1874520"/>
          </a:xfrm>
          <a:prstGeom prst="roundRect">
            <a:avLst>
              <a:gd name="adj" fmla="val 5854"/>
            </a:avLst>
          </a:prstGeom>
          <a:solidFill>
            <a:schemeClr val="tx2"/>
          </a:solidFill>
          <a:ln w="9525">
            <a:solidFill>
              <a:schemeClr val="accent6"/>
            </a:solidFill>
            <a:prstDash val="solid"/>
          </a:ln>
        </p:spPr>
      </p:sp>
      <p:sp>
        <p:nvSpPr>
          <p:cNvPr id="8" name="rc0h"/>
          <p:cNvSpPr txBox="1"/>
          <p:nvPr/>
        </p:nvSpPr>
        <p:spPr>
          <a:xfrm>
            <a:off x="777240" y="2971800"/>
            <a:ext cx="2194560" cy="457200"/>
          </a:xfrm>
          <a:prstGeom prst="rect">
            <a:avLst/>
          </a:prstGeom>
          <a:noFill/>
          <a:ln/>
        </p:spPr>
        <p:txBody>
          <a:bodyPr wrap="square" lIns="0" tIns="0" rIns="0" bIns="0" rtlCol="0" anchor="ctr"/>
          <a:lstStyle/>
          <a:p>
            <a:pPr indent="0" marL="0">
              <a:buNone/>
            </a:pPr>
            <a:r>
              <a:rPr lang="en-US" sz="1800" b="1" dirty="0">
                <a:solidFill>
                  <a:schemeClr val="bg1"/>
                </a:solidFill>
              </a:rPr>
              <a:t>Working prototype</a:t>
            </a:r>
            <a:endParaRPr lang="en-US" sz="1800" dirty="0"/>
          </a:p>
        </p:txBody>
      </p:sp>
      <p:sp>
        <p:nvSpPr>
          <p:cNvPr id="9" name="rc0b"/>
          <p:cNvSpPr txBox="1"/>
          <p:nvPr/>
        </p:nvSpPr>
        <p:spPr>
          <a:xfrm>
            <a:off x="777240" y="3520440"/>
            <a:ext cx="2194560" cy="1280160"/>
          </a:xfrm>
          <a:prstGeom prst="rect">
            <a:avLst/>
          </a:prstGeom>
          <a:noFill/>
          <a:ln/>
        </p:spPr>
        <p:txBody>
          <a:bodyPr wrap="square" lIns="0" tIns="0" rIns="0" bIns="0" rtlCol="0" anchor="t"/>
          <a:lstStyle/>
          <a:p>
            <a:pPr indent="0" marL="0">
              <a:buNone/>
            </a:pPr>
            <a:r>
              <a:rPr lang="en-US" sz="1400" dirty="0">
                <a:solidFill>
                  <a:schemeClr val="bg2"/>
                </a:solidFill>
              </a:rPr>
              <a:t>Validated on 12 digital patients, DICOM in and out, PACS push, 45 tests</a:t>
            </a:r>
            <a:endParaRPr lang="en-US" sz="1400" dirty="0"/>
          </a:p>
        </p:txBody>
      </p:sp>
      <p:sp>
        <p:nvSpPr>
          <p:cNvPr id="10" name="rt1"/>
          <p:cNvSpPr txBox="1"/>
          <p:nvPr/>
        </p:nvSpPr>
        <p:spPr>
          <a:xfrm>
            <a:off x="3765499" y="1691640"/>
            <a:ext cx="1828800" cy="292608"/>
          </a:xfrm>
          <a:prstGeom prst="rect">
            <a:avLst/>
          </a:prstGeom>
          <a:noFill/>
          <a:ln/>
        </p:spPr>
        <p:txBody>
          <a:bodyPr wrap="square" lIns="0" tIns="0" rIns="0" bIns="0" rtlCol="0" anchor="t"/>
          <a:lstStyle/>
          <a:p>
            <a:pPr algn="ctr" indent="0" marL="0">
              <a:buNone/>
            </a:pPr>
            <a:r>
              <a:rPr lang="en-US" sz="1300" b="1" spc="300" kern="0" dirty="0">
                <a:solidFill>
                  <a:schemeClr val="accent2"/>
                </a:solidFill>
              </a:rPr>
              <a:t>NEXT</a:t>
            </a:r>
            <a:endParaRPr lang="en-US" sz="1300" dirty="0"/>
          </a:p>
        </p:txBody>
      </p:sp>
      <p:sp>
        <p:nvSpPr>
          <p:cNvPr id="11" name="rn1"/>
          <p:cNvSpPr/>
          <p:nvPr/>
        </p:nvSpPr>
        <p:spPr>
          <a:xfrm>
            <a:off x="4451299" y="2103120"/>
            <a:ext cx="457200" cy="457200"/>
          </a:xfrm>
          <a:prstGeom prst="ellipse">
            <a:avLst/>
          </a:prstGeom>
          <a:solidFill>
            <a:schemeClr val="tx2"/>
          </a:solidFill>
          <a:ln w="19050">
            <a:solidFill>
              <a:schemeClr val="accent2"/>
            </a:solidFill>
          </a:ln>
        </p:spPr>
        <p:txBody>
          <a:bodyPr wrap="square" lIns="0" tIns="0" rIns="0" bIns="0" rtlCol="0" anchor="ctr"/>
          <a:lstStyle/>
          <a:p>
            <a:pPr algn="ctr" indent="0" marL="0">
              <a:buNone/>
            </a:pPr>
            <a:r>
              <a:rPr lang="en-US" sz="1500" b="1" dirty="0">
                <a:solidFill>
                  <a:schemeClr val="accent2"/>
                </a:solidFill>
              </a:rPr>
              <a:t>2</a:t>
            </a:r>
            <a:endParaRPr lang="en-US" sz="1500" dirty="0"/>
          </a:p>
        </p:txBody>
      </p:sp>
      <p:sp>
        <p:nvSpPr>
          <p:cNvPr id="12" name="rc1"/>
          <p:cNvSpPr/>
          <p:nvPr/>
        </p:nvSpPr>
        <p:spPr>
          <a:xfrm>
            <a:off x="3376879" y="2788920"/>
            <a:ext cx="2606040" cy="1874520"/>
          </a:xfrm>
          <a:prstGeom prst="roundRect">
            <a:avLst>
              <a:gd name="adj" fmla="val 5854"/>
            </a:avLst>
          </a:prstGeom>
          <a:solidFill>
            <a:schemeClr val="tx2"/>
          </a:solidFill>
          <a:ln w="9525">
            <a:solidFill>
              <a:schemeClr val="accent6"/>
            </a:solidFill>
            <a:prstDash val="solid"/>
          </a:ln>
        </p:spPr>
      </p:sp>
      <p:sp>
        <p:nvSpPr>
          <p:cNvPr id="13" name="rc1h"/>
          <p:cNvSpPr txBox="1"/>
          <p:nvPr/>
        </p:nvSpPr>
        <p:spPr>
          <a:xfrm>
            <a:off x="3605479" y="2971800"/>
            <a:ext cx="2194560" cy="457200"/>
          </a:xfrm>
          <a:prstGeom prst="rect">
            <a:avLst/>
          </a:prstGeom>
          <a:noFill/>
          <a:ln/>
        </p:spPr>
        <p:txBody>
          <a:bodyPr wrap="square" lIns="0" tIns="0" rIns="0" bIns="0" rtlCol="0" anchor="ctr"/>
          <a:lstStyle/>
          <a:p>
            <a:pPr indent="0" marL="0">
              <a:buNone/>
            </a:pPr>
            <a:r>
              <a:rPr lang="en-US" sz="1800" b="1" dirty="0">
                <a:solidFill>
                  <a:schemeClr val="bg1"/>
                </a:solidFill>
              </a:rPr>
              <a:t>Real scans</a:t>
            </a:r>
            <a:endParaRPr lang="en-US" sz="1800" dirty="0"/>
          </a:p>
        </p:txBody>
      </p:sp>
      <p:sp>
        <p:nvSpPr>
          <p:cNvPr id="14" name="rc1b"/>
          <p:cNvSpPr txBox="1"/>
          <p:nvPr/>
        </p:nvSpPr>
        <p:spPr>
          <a:xfrm>
            <a:off x="3605479" y="3520440"/>
            <a:ext cx="2194560" cy="1280160"/>
          </a:xfrm>
          <a:prstGeom prst="rect">
            <a:avLst/>
          </a:prstGeom>
          <a:noFill/>
          <a:ln/>
        </p:spPr>
        <p:txBody>
          <a:bodyPr wrap="square" lIns="0" tIns="0" rIns="0" bIns="0" rtlCol="0" anchor="t"/>
          <a:lstStyle/>
          <a:p>
            <a:pPr indent="0" marL="0">
              <a:buNone/>
            </a:pPr>
            <a:r>
              <a:rPr lang="en-US" sz="1400" dirty="0">
                <a:solidFill>
                  <a:schemeClr val="bg2"/>
                </a:solidFill>
              </a:rPr>
              <a:t>Fine-tune on paired PET/MRI from The Cancer Imaging Archive (TCIA)</a:t>
            </a:r>
            <a:endParaRPr lang="en-US" sz="1400" dirty="0"/>
          </a:p>
        </p:txBody>
      </p:sp>
      <p:sp>
        <p:nvSpPr>
          <p:cNvPr id="15" name="rt2"/>
          <p:cNvSpPr txBox="1"/>
          <p:nvPr/>
        </p:nvSpPr>
        <p:spPr>
          <a:xfrm>
            <a:off x="6593738" y="1691640"/>
            <a:ext cx="1828800" cy="292608"/>
          </a:xfrm>
          <a:prstGeom prst="rect">
            <a:avLst/>
          </a:prstGeom>
          <a:noFill/>
          <a:ln/>
        </p:spPr>
        <p:txBody>
          <a:bodyPr wrap="square" lIns="0" tIns="0" rIns="0" bIns="0" rtlCol="0" anchor="t"/>
          <a:lstStyle/>
          <a:p>
            <a:pPr algn="ctr" indent="0" marL="0">
              <a:buNone/>
            </a:pPr>
            <a:r>
              <a:rPr lang="en-US" sz="1300" b="1" spc="300" kern="0" dirty="0">
                <a:solidFill>
                  <a:schemeClr val="accent4"/>
                </a:solidFill>
              </a:rPr>
              <a:t>THEN</a:t>
            </a:r>
            <a:endParaRPr lang="en-US" sz="1300" dirty="0"/>
          </a:p>
        </p:txBody>
      </p:sp>
      <p:sp>
        <p:nvSpPr>
          <p:cNvPr id="16" name="rn2"/>
          <p:cNvSpPr/>
          <p:nvPr/>
        </p:nvSpPr>
        <p:spPr>
          <a:xfrm>
            <a:off x="7279538" y="2103120"/>
            <a:ext cx="457200" cy="457200"/>
          </a:xfrm>
          <a:prstGeom prst="ellipse">
            <a:avLst/>
          </a:prstGeom>
          <a:solidFill>
            <a:schemeClr val="tx2"/>
          </a:solidFill>
          <a:ln w="19050">
            <a:solidFill>
              <a:schemeClr val="accent4"/>
            </a:solidFill>
          </a:ln>
        </p:spPr>
        <p:txBody>
          <a:bodyPr wrap="square" lIns="0" tIns="0" rIns="0" bIns="0" rtlCol="0" anchor="ctr"/>
          <a:lstStyle/>
          <a:p>
            <a:pPr algn="ctr" indent="0" marL="0">
              <a:buNone/>
            </a:pPr>
            <a:r>
              <a:rPr lang="en-US" sz="1500" b="1" dirty="0">
                <a:solidFill>
                  <a:schemeClr val="accent4"/>
                </a:solidFill>
              </a:rPr>
              <a:t>3</a:t>
            </a:r>
            <a:endParaRPr lang="en-US" sz="1500" dirty="0"/>
          </a:p>
        </p:txBody>
      </p:sp>
      <p:sp>
        <p:nvSpPr>
          <p:cNvPr id="17" name="rc2"/>
          <p:cNvSpPr/>
          <p:nvPr/>
        </p:nvSpPr>
        <p:spPr>
          <a:xfrm>
            <a:off x="6205118" y="2788920"/>
            <a:ext cx="2606040" cy="1874520"/>
          </a:xfrm>
          <a:prstGeom prst="roundRect">
            <a:avLst>
              <a:gd name="adj" fmla="val 5854"/>
            </a:avLst>
          </a:prstGeom>
          <a:solidFill>
            <a:schemeClr val="tx2"/>
          </a:solidFill>
          <a:ln w="9525">
            <a:solidFill>
              <a:schemeClr val="accent6"/>
            </a:solidFill>
            <a:prstDash val="solid"/>
          </a:ln>
        </p:spPr>
      </p:sp>
      <p:sp>
        <p:nvSpPr>
          <p:cNvPr id="18" name="rc2h"/>
          <p:cNvSpPr txBox="1"/>
          <p:nvPr/>
        </p:nvSpPr>
        <p:spPr>
          <a:xfrm>
            <a:off x="6433718" y="2971800"/>
            <a:ext cx="2194560" cy="457200"/>
          </a:xfrm>
          <a:prstGeom prst="rect">
            <a:avLst/>
          </a:prstGeom>
          <a:noFill/>
          <a:ln/>
        </p:spPr>
        <p:txBody>
          <a:bodyPr wrap="square" lIns="0" tIns="0" rIns="0" bIns="0" rtlCol="0" anchor="ctr"/>
          <a:lstStyle/>
          <a:p>
            <a:pPr indent="0" marL="0">
              <a:buNone/>
            </a:pPr>
            <a:r>
              <a:rPr lang="en-US" sz="1800" b="1" dirty="0">
                <a:solidFill>
                  <a:schemeClr val="bg1"/>
                </a:solidFill>
              </a:rPr>
              <a:t>Reader study</a:t>
            </a:r>
            <a:endParaRPr lang="en-US" sz="1800" dirty="0"/>
          </a:p>
        </p:txBody>
      </p:sp>
      <p:sp>
        <p:nvSpPr>
          <p:cNvPr id="19" name="rc2b"/>
          <p:cNvSpPr txBox="1"/>
          <p:nvPr/>
        </p:nvSpPr>
        <p:spPr>
          <a:xfrm>
            <a:off x="6433718" y="3520440"/>
            <a:ext cx="2194560" cy="1280160"/>
          </a:xfrm>
          <a:prstGeom prst="rect">
            <a:avLst/>
          </a:prstGeom>
          <a:noFill/>
          <a:ln/>
        </p:spPr>
        <p:txBody>
          <a:bodyPr wrap="square" lIns="0" tIns="0" rIns="0" bIns="0" rtlCol="0" anchor="t"/>
          <a:lstStyle/>
          <a:p>
            <a:pPr indent="0" marL="0">
              <a:buNone/>
            </a:pPr>
            <a:r>
              <a:rPr lang="en-US" sz="1400" dirty="0">
                <a:solidFill>
                  <a:schemeClr val="bg2"/>
                </a:solidFill>
              </a:rPr>
              <a:t>Nuclear-medicine physicians compare FusionMap with hybrid PET-MRI</a:t>
            </a:r>
            <a:endParaRPr lang="en-US" sz="1400" dirty="0"/>
          </a:p>
        </p:txBody>
      </p:sp>
      <p:sp>
        <p:nvSpPr>
          <p:cNvPr id="20" name="rt3"/>
          <p:cNvSpPr txBox="1"/>
          <p:nvPr/>
        </p:nvSpPr>
        <p:spPr>
          <a:xfrm>
            <a:off x="9421978" y="1691640"/>
            <a:ext cx="1828800" cy="292608"/>
          </a:xfrm>
          <a:prstGeom prst="rect">
            <a:avLst/>
          </a:prstGeom>
          <a:noFill/>
          <a:ln/>
        </p:spPr>
        <p:txBody>
          <a:bodyPr wrap="square" lIns="0" tIns="0" rIns="0" bIns="0" rtlCol="0" anchor="t"/>
          <a:lstStyle/>
          <a:p>
            <a:pPr algn="ctr" indent="0" marL="0">
              <a:buNone/>
            </a:pPr>
            <a:r>
              <a:rPr lang="en-US" sz="1300" b="1" spc="300" kern="0" dirty="0">
                <a:solidFill>
                  <a:schemeClr val="accent1"/>
                </a:solidFill>
              </a:rPr>
              <a:t>SCALE</a:t>
            </a:r>
            <a:endParaRPr lang="en-US" sz="1300" dirty="0"/>
          </a:p>
        </p:txBody>
      </p:sp>
      <p:sp>
        <p:nvSpPr>
          <p:cNvPr id="21" name="rn3"/>
          <p:cNvSpPr/>
          <p:nvPr/>
        </p:nvSpPr>
        <p:spPr>
          <a:xfrm>
            <a:off x="10107778" y="2103120"/>
            <a:ext cx="457200" cy="457200"/>
          </a:xfrm>
          <a:prstGeom prst="ellipse">
            <a:avLst/>
          </a:prstGeom>
          <a:solidFill>
            <a:schemeClr val="tx2"/>
          </a:solidFill>
          <a:ln w="19050">
            <a:solidFill>
              <a:schemeClr val="accent1"/>
            </a:solidFill>
          </a:ln>
        </p:spPr>
        <p:txBody>
          <a:bodyPr wrap="square" lIns="0" tIns="0" rIns="0" bIns="0" rtlCol="0" anchor="ctr"/>
          <a:lstStyle/>
          <a:p>
            <a:pPr algn="ctr" indent="0" marL="0">
              <a:buNone/>
            </a:pPr>
            <a:r>
              <a:rPr lang="en-US" sz="1500" b="1" dirty="0">
                <a:solidFill>
                  <a:schemeClr val="accent1"/>
                </a:solidFill>
              </a:rPr>
              <a:t>4</a:t>
            </a:r>
            <a:endParaRPr lang="en-US" sz="1500" dirty="0"/>
          </a:p>
        </p:txBody>
      </p:sp>
      <p:sp>
        <p:nvSpPr>
          <p:cNvPr id="22" name="rc3"/>
          <p:cNvSpPr/>
          <p:nvPr/>
        </p:nvSpPr>
        <p:spPr>
          <a:xfrm>
            <a:off x="9033358" y="2788920"/>
            <a:ext cx="2606040" cy="1874520"/>
          </a:xfrm>
          <a:prstGeom prst="roundRect">
            <a:avLst>
              <a:gd name="adj" fmla="val 5854"/>
            </a:avLst>
          </a:prstGeom>
          <a:solidFill>
            <a:schemeClr val="tx2"/>
          </a:solidFill>
          <a:ln w="9525">
            <a:solidFill>
              <a:schemeClr val="accent6"/>
            </a:solidFill>
            <a:prstDash val="solid"/>
          </a:ln>
        </p:spPr>
      </p:sp>
      <p:sp>
        <p:nvSpPr>
          <p:cNvPr id="23" name="rc3h"/>
          <p:cNvSpPr txBox="1"/>
          <p:nvPr/>
        </p:nvSpPr>
        <p:spPr>
          <a:xfrm>
            <a:off x="9261958" y="2971800"/>
            <a:ext cx="2194560" cy="457200"/>
          </a:xfrm>
          <a:prstGeom prst="rect">
            <a:avLst/>
          </a:prstGeom>
          <a:noFill/>
          <a:ln/>
        </p:spPr>
        <p:txBody>
          <a:bodyPr wrap="square" lIns="0" tIns="0" rIns="0" bIns="0" rtlCol="0" anchor="ctr"/>
          <a:lstStyle/>
          <a:p>
            <a:pPr indent="0" marL="0">
              <a:buNone/>
            </a:pPr>
            <a:r>
              <a:rPr lang="en-US" sz="1800" b="1" dirty="0">
                <a:solidFill>
                  <a:schemeClr val="bg1"/>
                </a:solidFill>
              </a:rPr>
              <a:t>Clinic and body</a:t>
            </a:r>
            <a:endParaRPr lang="en-US" sz="1800" dirty="0"/>
          </a:p>
        </p:txBody>
      </p:sp>
      <p:sp>
        <p:nvSpPr>
          <p:cNvPr id="24" name="rc3b"/>
          <p:cNvSpPr txBox="1"/>
          <p:nvPr/>
        </p:nvSpPr>
        <p:spPr>
          <a:xfrm>
            <a:off x="9261958" y="3520440"/>
            <a:ext cx="2194560" cy="1280160"/>
          </a:xfrm>
          <a:prstGeom prst="rect">
            <a:avLst/>
          </a:prstGeom>
          <a:noFill/>
          <a:ln/>
        </p:spPr>
        <p:txBody>
          <a:bodyPr wrap="square" lIns="0" tIns="0" rIns="0" bIns="0" rtlCol="0" anchor="t"/>
          <a:lstStyle/>
          <a:p>
            <a:pPr indent="0" marL="0">
              <a:buNone/>
            </a:pPr>
            <a:r>
              <a:rPr lang="en-US" sz="1400" dirty="0">
                <a:solidFill>
                  <a:schemeClr val="bg2"/>
                </a:solidFill>
              </a:rPr>
              <a:t>CDSCO medical-device software pathway; lung and prostate with VoxelMorph</a:t>
            </a:r>
            <a:endParaRPr lang="en-US" sz="1400" dirty="0"/>
          </a:p>
        </p:txBody>
      </p:sp>
      <p:sp>
        <p:nvSpPr>
          <p:cNvPr id="25" name="ask"/>
          <p:cNvSpPr/>
          <p:nvPr/>
        </p:nvSpPr>
        <p:spPr>
          <a:xfrm>
            <a:off x="548640" y="4937760"/>
            <a:ext cx="11091672" cy="914400"/>
          </a:xfrm>
          <a:prstGeom prst="roundRect">
            <a:avLst>
              <a:gd name="adj" fmla="val 12000"/>
            </a:avLst>
          </a:prstGeom>
          <a:solidFill>
            <a:schemeClr val="tx2"/>
          </a:solidFill>
          <a:ln w="15875">
            <a:solidFill>
              <a:schemeClr val="accent1"/>
            </a:solidFill>
            <a:prstDash val="solid"/>
          </a:ln>
        </p:spPr>
      </p:sp>
      <p:sp>
        <p:nvSpPr>
          <p:cNvPr id="26" name="aski_ring"/>
          <p:cNvSpPr/>
          <p:nvPr/>
        </p:nvSpPr>
        <p:spPr>
          <a:xfrm>
            <a:off x="777240" y="5120640"/>
            <a:ext cx="548640" cy="548640"/>
          </a:xfrm>
          <a:prstGeom prst="ellipse">
            <a:avLst/>
          </a:prstGeom>
          <a:solidFill>
            <a:schemeClr val="tx2"/>
          </a:solidFill>
          <a:ln w="15875">
            <a:solidFill>
              <a:schemeClr val="accent1"/>
            </a:solidFill>
            <a:prstDash val="solid"/>
          </a:ln>
        </p:spPr>
      </p:sp>
      <p:pic>
        <p:nvPicPr>
          <p:cNvPr id="27" name="aski_icon" descr="rocket icon">    </p:cNvPr>
          <p:cNvPicPr>
            <a:picLocks noChangeAspect="1"/>
          </p:cNvPicPr>
          <p:nvPr/>
        </p:nvPicPr>
        <p:blipFill>
          <a:blip r:embed="rId1"/>
          <a:stretch>
            <a:fillRect/>
          </a:stretch>
        </p:blipFill>
        <p:spPr>
          <a:xfrm>
            <a:off x="908914" y="5252314"/>
            <a:ext cx="285293" cy="285293"/>
          </a:xfrm>
          <a:prstGeom prst="rect">
            <a:avLst/>
          </a:prstGeom>
        </p:spPr>
      </p:pic>
      <p:sp>
        <p:nvSpPr>
          <p:cNvPr id="28" name="ask_t"/>
          <p:cNvSpPr txBox="1"/>
          <p:nvPr/>
        </p:nvSpPr>
        <p:spPr>
          <a:xfrm>
            <a:off x="1508760" y="4983480"/>
            <a:ext cx="9966960" cy="822960"/>
          </a:xfrm>
          <a:prstGeom prst="rect">
            <a:avLst/>
          </a:prstGeom>
          <a:noFill/>
          <a:ln/>
        </p:spPr>
        <p:txBody>
          <a:bodyPr wrap="square" lIns="0" tIns="0" rIns="0" bIns="0" rtlCol="0" anchor="ctr"/>
          <a:lstStyle/>
          <a:p>
            <a:pPr indent="0" marL="0">
              <a:buNone/>
            </a:pPr>
            <a:r>
              <a:rPr lang="en-US" sz="1700" b="1" dirty="0">
                <a:solidFill>
                  <a:schemeClr val="bg1"/>
                </a:solidFill>
              </a:rPr>
              <a:t>What would speed us up: </a:t>
            </a:r>
            <a:pPr indent="0" marL="0">
              <a:buNone/>
            </a:pPr>
            <a:r>
              <a:rPr lang="en-US" sz="1700" dirty="0">
                <a:solidFill>
                  <a:schemeClr val="bg2"/>
                </a:solidFill>
              </a:rPr>
              <a:t>a clinical partner with a PET and an MRI, for real-patient validation and the reader study.</a:t>
            </a:r>
            <a:endParaRPr lang="en-US" sz="17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300"/>
                                        <p:tgtEl>
                                          <p:spTgt spid="4"/>
                                        </p:tgtEl>
                                      </p:cBhvr>
                                    </p:animEffect>
                                  </p:childTnLst>
                                </p:cTn>
                              </p:par>
                              <p:par>
                                <p:cTn id="8" presetID="53" presetClass="entr" presetSubtype="16" fill="hold" grpId="0" nodeType="withEffect">
                                  <p:stCondLst>
                                    <p:cond delay="15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450" decel="100000" fill="hold"/>
                                        <p:tgtEl>
                                          <p:spTgt spid="6"/>
                                        </p:tgtEl>
                                        <p:attrNameLst>
                                          <p:attrName>ppt_w</p:attrName>
                                        </p:attrNameLst>
                                      </p:cBhvr>
                                      <p:tavLst>
                                        <p:tav tm="0">
                                          <p:val>
                                            <p:strVal val="#ppt_w*0.55"/>
                                          </p:val>
                                        </p:tav>
                                        <p:tav tm="100000">
                                          <p:val>
                                            <p:strVal val="#ppt_w"/>
                                          </p:val>
                                        </p:tav>
                                      </p:tavLst>
                                    </p:anim>
                                    <p:anim calcmode="lin" valueType="num">
                                      <p:cBhvr additive="base">
                                        <p:cTn id="11" dur="450" decel="100000" fill="hold"/>
                                        <p:tgtEl>
                                          <p:spTgt spid="6"/>
                                        </p:tgtEl>
                                        <p:attrNameLst>
                                          <p:attrName>ppt_h</p:attrName>
                                        </p:attrNameLst>
                                      </p:cBhvr>
                                      <p:tavLst>
                                        <p:tav tm="0">
                                          <p:val>
                                            <p:strVal val="#ppt_h*0.55"/>
                                          </p:val>
                                        </p:tav>
                                        <p:tav tm="100000">
                                          <p:val>
                                            <p:strVal val="#ppt_h"/>
                                          </p:val>
                                        </p:tav>
                                      </p:tavLst>
                                    </p:anim>
                                    <p:animEffect transition="in" filter="fade">
                                      <p:cBhvr>
                                        <p:cTn id="12" dur="450"/>
                                        <p:tgtEl>
                                          <p:spTgt spid="6"/>
                                        </p:tgtEl>
                                      </p:cBhvr>
                                    </p:animEffect>
                                  </p:childTnLst>
                                </p:cTn>
                              </p:par>
                              <p:par>
                                <p:cTn id="13" presetID="10" presetClass="entr" presetSubtype="0" fill="hold" grpId="0" nodeType="withEffect">
                                  <p:stCondLst>
                                    <p:cond delay="15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50"/>
                                        <p:tgtEl>
                                          <p:spTgt spid="5"/>
                                        </p:tgtEl>
                                      </p:cBhvr>
                                    </p:animEffect>
                                  </p:childTnLst>
                                </p:cTn>
                              </p:par>
                              <p:par>
                                <p:cTn id="16" presetID="42" presetClass="entr" presetSubtype="0" fill="hold" grpId="0" nodeType="withEffect">
                                  <p:stCondLst>
                                    <p:cond delay="25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additive="base">
                                        <p:cTn id="19" dur="600" decel="100000" fill="hold"/>
                                        <p:tgtEl>
                                          <p:spTgt spid="7"/>
                                        </p:tgtEl>
                                        <p:attrNameLst>
                                          <p:attrName>ppt_x</p:attrName>
                                        </p:attrNameLst>
                                      </p:cBhvr>
                                      <p:tavLst>
                                        <p:tav tm="0">
                                          <p:val>
                                            <p:strVal val="#ppt_x"/>
                                          </p:val>
                                        </p:tav>
                                        <p:tav tm="100000">
                                          <p:val>
                                            <p:strVal val="#ppt_x"/>
                                          </p:val>
                                        </p:tav>
                                      </p:tavLst>
                                    </p:anim>
                                    <p:anim calcmode="lin" valueType="num">
                                      <p:cBhvr additive="base">
                                        <p:cTn id="20" dur="600" decel="100000" fill="hold"/>
                                        <p:tgtEl>
                                          <p:spTgt spid="7"/>
                                        </p:tgtEl>
                                        <p:attrNameLst>
                                          <p:attrName>ppt_y</p:attrName>
                                        </p:attrNameLst>
                                      </p:cBhvr>
                                      <p:tavLst>
                                        <p:tav tm="0">
                                          <p:val>
                                            <p:strVal val="#ppt_y+0.05"/>
                                          </p:val>
                                        </p:tav>
                                        <p:tav tm="100000">
                                          <p:val>
                                            <p:strVal val="#ppt_y"/>
                                          </p:val>
                                        </p:tav>
                                      </p:tavLst>
                                    </p:anim>
                                  </p:childTnLst>
                                </p:cTn>
                              </p:par>
                              <p:par>
                                <p:cTn id="21" presetID="42" presetClass="entr" presetSubtype="0" fill="hold" grpId="0" nodeType="withEffect">
                                  <p:stCondLst>
                                    <p:cond delay="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decel="100000" fill="hold"/>
                                        <p:tgtEl>
                                          <p:spTgt spid="8"/>
                                        </p:tgtEl>
                                        <p:attrNameLst>
                                          <p:attrName>ppt_x</p:attrName>
                                        </p:attrNameLst>
                                      </p:cBhvr>
                                      <p:tavLst>
                                        <p:tav tm="0">
                                          <p:val>
                                            <p:strVal val="#ppt_x"/>
                                          </p:val>
                                        </p:tav>
                                        <p:tav tm="100000">
                                          <p:val>
                                            <p:strVal val="#ppt_x"/>
                                          </p:val>
                                        </p:tav>
                                      </p:tavLst>
                                    </p:anim>
                                    <p:anim calcmode="lin" valueType="num">
                                      <p:cBhvr additive="base">
                                        <p:cTn id="25" dur="600" decel="100000" fill="hold"/>
                                        <p:tgtEl>
                                          <p:spTgt spid="8"/>
                                        </p:tgtEl>
                                        <p:attrNameLst>
                                          <p:attrName>ppt_y</p:attrName>
                                        </p:attrNameLst>
                                      </p:cBhvr>
                                      <p:tavLst>
                                        <p:tav tm="0">
                                          <p:val>
                                            <p:strVal val="#ppt_y+0.05"/>
                                          </p:val>
                                        </p:tav>
                                        <p:tav tm="100000">
                                          <p:val>
                                            <p:strVal val="#ppt_y"/>
                                          </p:val>
                                        </p:tav>
                                      </p:tavLst>
                                    </p:anim>
                                  </p:childTnLst>
                                </p:cTn>
                              </p:par>
                              <p:par>
                                <p:cTn id="26" presetID="42" presetClass="entr" presetSubtype="0" fill="hold" grpId="0" nodeType="withEffect">
                                  <p:stCondLst>
                                    <p:cond delay="35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decel="100000" fill="hold"/>
                                        <p:tgtEl>
                                          <p:spTgt spid="9"/>
                                        </p:tgtEl>
                                        <p:attrNameLst>
                                          <p:attrName>ppt_x</p:attrName>
                                        </p:attrNameLst>
                                      </p:cBhvr>
                                      <p:tavLst>
                                        <p:tav tm="0">
                                          <p:val>
                                            <p:strVal val="#ppt_x"/>
                                          </p:val>
                                        </p:tav>
                                        <p:tav tm="100000">
                                          <p:val>
                                            <p:strVal val="#ppt_x"/>
                                          </p:val>
                                        </p:tav>
                                      </p:tavLst>
                                    </p:anim>
                                    <p:anim calcmode="lin" valueType="num">
                                      <p:cBhvr additive="base">
                                        <p:cTn id="30" dur="600" decel="100000" fill="hold"/>
                                        <p:tgtEl>
                                          <p:spTgt spid="9"/>
                                        </p:tgtEl>
                                        <p:attrNameLst>
                                          <p:attrName>ppt_y</p:attrName>
                                        </p:attrNameLst>
                                      </p:cBhvr>
                                      <p:tavLst>
                                        <p:tav tm="0">
                                          <p:val>
                                            <p:strVal val="#ppt_y+0.05"/>
                                          </p:val>
                                        </p:tav>
                                        <p:tav tm="100000">
                                          <p:val>
                                            <p:strVal val="#ppt_y"/>
                                          </p:val>
                                        </p:tav>
                                      </p:tavLst>
                                    </p:anim>
                                  </p:childTnLst>
                                </p:cTn>
                              </p:par>
                              <p:par>
                                <p:cTn id="31" presetID="53" presetClass="entr" presetSubtype="16" fill="hold" grpId="0" nodeType="withEffect">
                                  <p:stCondLst>
                                    <p:cond delay="47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450" decel="100000" fill="hold"/>
                                        <p:tgtEl>
                                          <p:spTgt spid="11"/>
                                        </p:tgtEl>
                                        <p:attrNameLst>
                                          <p:attrName>ppt_w</p:attrName>
                                        </p:attrNameLst>
                                      </p:cBhvr>
                                      <p:tavLst>
                                        <p:tav tm="0">
                                          <p:val>
                                            <p:strVal val="#ppt_w*0.55"/>
                                          </p:val>
                                        </p:tav>
                                        <p:tav tm="100000">
                                          <p:val>
                                            <p:strVal val="#ppt_w"/>
                                          </p:val>
                                        </p:tav>
                                      </p:tavLst>
                                    </p:anim>
                                    <p:anim calcmode="lin" valueType="num">
                                      <p:cBhvr additive="base">
                                        <p:cTn id="34" dur="450" decel="100000" fill="hold"/>
                                        <p:tgtEl>
                                          <p:spTgt spid="11"/>
                                        </p:tgtEl>
                                        <p:attrNameLst>
                                          <p:attrName>ppt_h</p:attrName>
                                        </p:attrNameLst>
                                      </p:cBhvr>
                                      <p:tavLst>
                                        <p:tav tm="0">
                                          <p:val>
                                            <p:strVal val="#ppt_h*0.55"/>
                                          </p:val>
                                        </p:tav>
                                        <p:tav tm="100000">
                                          <p:val>
                                            <p:strVal val="#ppt_h"/>
                                          </p:val>
                                        </p:tav>
                                      </p:tavLst>
                                    </p:anim>
                                    <p:animEffect transition="in" filter="fade">
                                      <p:cBhvr>
                                        <p:cTn id="35" dur="450"/>
                                        <p:tgtEl>
                                          <p:spTgt spid="11"/>
                                        </p:tgtEl>
                                      </p:cBhvr>
                                    </p:animEffect>
                                  </p:childTnLst>
                                </p:cTn>
                              </p:par>
                              <p:par>
                                <p:cTn id="36" presetID="10" presetClass="entr" presetSubtype="0" fill="hold" grpId="0" nodeType="withEffect">
                                  <p:stCondLst>
                                    <p:cond delay="47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450"/>
                                        <p:tgtEl>
                                          <p:spTgt spid="10"/>
                                        </p:tgtEl>
                                      </p:cBhvr>
                                    </p:animEffect>
                                  </p:childTnLst>
                                </p:cTn>
                              </p:par>
                              <p:par>
                                <p:cTn id="39" presetID="42" presetClass="entr" presetSubtype="0" fill="hold" grpId="0" nodeType="withEffect">
                                  <p:stCondLst>
                                    <p:cond delay="57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600"/>
                                        <p:tgtEl>
                                          <p:spTgt spid="12"/>
                                        </p:tgtEl>
                                      </p:cBhvr>
                                    </p:animEffect>
                                    <p:anim calcmode="lin" valueType="num">
                                      <p:cBhvr additive="base">
                                        <p:cTn id="42" dur="600" decel="100000" fill="hold"/>
                                        <p:tgtEl>
                                          <p:spTgt spid="12"/>
                                        </p:tgtEl>
                                        <p:attrNameLst>
                                          <p:attrName>ppt_x</p:attrName>
                                        </p:attrNameLst>
                                      </p:cBhvr>
                                      <p:tavLst>
                                        <p:tav tm="0">
                                          <p:val>
                                            <p:strVal val="#ppt_x"/>
                                          </p:val>
                                        </p:tav>
                                        <p:tav tm="100000">
                                          <p:val>
                                            <p:strVal val="#ppt_x"/>
                                          </p:val>
                                        </p:tav>
                                      </p:tavLst>
                                    </p:anim>
                                    <p:anim calcmode="lin" valueType="num">
                                      <p:cBhvr additive="base">
                                        <p:cTn id="43" dur="600" decel="100000" fill="hold"/>
                                        <p:tgtEl>
                                          <p:spTgt spid="12"/>
                                        </p:tgtEl>
                                        <p:attrNameLst>
                                          <p:attrName>ppt_y</p:attrName>
                                        </p:attrNameLst>
                                      </p:cBhvr>
                                      <p:tavLst>
                                        <p:tav tm="0">
                                          <p:val>
                                            <p:strVal val="#ppt_y+0.05"/>
                                          </p:val>
                                        </p:tav>
                                        <p:tav tm="100000">
                                          <p:val>
                                            <p:strVal val="#ppt_y"/>
                                          </p:val>
                                        </p:tav>
                                      </p:tavLst>
                                    </p:anim>
                                  </p:childTnLst>
                                </p:cTn>
                              </p:par>
                              <p:par>
                                <p:cTn id="44" presetID="42" presetClass="entr" presetSubtype="0" fill="hold" grpId="0" nodeType="withEffect">
                                  <p:stCondLst>
                                    <p:cond delay="57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600"/>
                                        <p:tgtEl>
                                          <p:spTgt spid="13"/>
                                        </p:tgtEl>
                                      </p:cBhvr>
                                    </p:animEffect>
                                    <p:anim calcmode="lin" valueType="num">
                                      <p:cBhvr additive="base">
                                        <p:cTn id="47" dur="600" decel="100000" fill="hold"/>
                                        <p:tgtEl>
                                          <p:spTgt spid="13"/>
                                        </p:tgtEl>
                                        <p:attrNameLst>
                                          <p:attrName>ppt_x</p:attrName>
                                        </p:attrNameLst>
                                      </p:cBhvr>
                                      <p:tavLst>
                                        <p:tav tm="0">
                                          <p:val>
                                            <p:strVal val="#ppt_x"/>
                                          </p:val>
                                        </p:tav>
                                        <p:tav tm="100000">
                                          <p:val>
                                            <p:strVal val="#ppt_x"/>
                                          </p:val>
                                        </p:tav>
                                      </p:tavLst>
                                    </p:anim>
                                    <p:anim calcmode="lin" valueType="num">
                                      <p:cBhvr additive="base">
                                        <p:cTn id="48" dur="600" decel="100000" fill="hold"/>
                                        <p:tgtEl>
                                          <p:spTgt spid="13"/>
                                        </p:tgtEl>
                                        <p:attrNameLst>
                                          <p:attrName>ppt_y</p:attrName>
                                        </p:attrNameLst>
                                      </p:cBhvr>
                                      <p:tavLst>
                                        <p:tav tm="0">
                                          <p:val>
                                            <p:strVal val="#ppt_y+0.05"/>
                                          </p:val>
                                        </p:tav>
                                        <p:tav tm="100000">
                                          <p:val>
                                            <p:strVal val="#ppt_y"/>
                                          </p:val>
                                        </p:tav>
                                      </p:tavLst>
                                    </p:anim>
                                  </p:childTnLst>
                                </p:cTn>
                              </p:par>
                              <p:par>
                                <p:cTn id="49" presetID="42" presetClass="entr" presetSubtype="0" fill="hold" grpId="0" nodeType="withEffect">
                                  <p:stCondLst>
                                    <p:cond delay="67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600"/>
                                        <p:tgtEl>
                                          <p:spTgt spid="14"/>
                                        </p:tgtEl>
                                      </p:cBhvr>
                                    </p:animEffect>
                                    <p:anim calcmode="lin" valueType="num">
                                      <p:cBhvr additive="base">
                                        <p:cTn id="52" dur="600" decel="100000" fill="hold"/>
                                        <p:tgtEl>
                                          <p:spTgt spid="14"/>
                                        </p:tgtEl>
                                        <p:attrNameLst>
                                          <p:attrName>ppt_x</p:attrName>
                                        </p:attrNameLst>
                                      </p:cBhvr>
                                      <p:tavLst>
                                        <p:tav tm="0">
                                          <p:val>
                                            <p:strVal val="#ppt_x"/>
                                          </p:val>
                                        </p:tav>
                                        <p:tav tm="100000">
                                          <p:val>
                                            <p:strVal val="#ppt_x"/>
                                          </p:val>
                                        </p:tav>
                                      </p:tavLst>
                                    </p:anim>
                                    <p:anim calcmode="lin" valueType="num">
                                      <p:cBhvr additive="base">
                                        <p:cTn id="53" dur="600" decel="100000" fill="hold"/>
                                        <p:tgtEl>
                                          <p:spTgt spid="14"/>
                                        </p:tgtEl>
                                        <p:attrNameLst>
                                          <p:attrName>ppt_y</p:attrName>
                                        </p:attrNameLst>
                                      </p:cBhvr>
                                      <p:tavLst>
                                        <p:tav tm="0">
                                          <p:val>
                                            <p:strVal val="#ppt_y+0.05"/>
                                          </p:val>
                                        </p:tav>
                                        <p:tav tm="100000">
                                          <p:val>
                                            <p:strVal val="#ppt_y"/>
                                          </p:val>
                                        </p:tav>
                                      </p:tavLst>
                                    </p:anim>
                                  </p:childTnLst>
                                </p:cTn>
                              </p:par>
                              <p:par>
                                <p:cTn id="54" presetID="53" presetClass="entr" presetSubtype="16" fill="hold" grpId="0" nodeType="withEffect">
                                  <p:stCondLst>
                                    <p:cond delay="790"/>
                                  </p:stCondLst>
                                  <p:childTnLst>
                                    <p:set>
                                      <p:cBhvr>
                                        <p:cTn id="55" dur="1" fill="hold">
                                          <p:stCondLst>
                                            <p:cond delay="0"/>
                                          </p:stCondLst>
                                        </p:cTn>
                                        <p:tgtEl>
                                          <p:spTgt spid="16"/>
                                        </p:tgtEl>
                                        <p:attrNameLst>
                                          <p:attrName>style.visibility</p:attrName>
                                        </p:attrNameLst>
                                      </p:cBhvr>
                                      <p:to>
                                        <p:strVal val="visible"/>
                                      </p:to>
                                    </p:set>
                                    <p:anim calcmode="lin" valueType="num">
                                      <p:cBhvr additive="base">
                                        <p:cTn id="56" dur="450" decel="100000" fill="hold"/>
                                        <p:tgtEl>
                                          <p:spTgt spid="16"/>
                                        </p:tgtEl>
                                        <p:attrNameLst>
                                          <p:attrName>ppt_w</p:attrName>
                                        </p:attrNameLst>
                                      </p:cBhvr>
                                      <p:tavLst>
                                        <p:tav tm="0">
                                          <p:val>
                                            <p:strVal val="#ppt_w*0.55"/>
                                          </p:val>
                                        </p:tav>
                                        <p:tav tm="100000">
                                          <p:val>
                                            <p:strVal val="#ppt_w"/>
                                          </p:val>
                                        </p:tav>
                                      </p:tavLst>
                                    </p:anim>
                                    <p:anim calcmode="lin" valueType="num">
                                      <p:cBhvr additive="base">
                                        <p:cTn id="57" dur="450" decel="100000" fill="hold"/>
                                        <p:tgtEl>
                                          <p:spTgt spid="16"/>
                                        </p:tgtEl>
                                        <p:attrNameLst>
                                          <p:attrName>ppt_h</p:attrName>
                                        </p:attrNameLst>
                                      </p:cBhvr>
                                      <p:tavLst>
                                        <p:tav tm="0">
                                          <p:val>
                                            <p:strVal val="#ppt_h*0.55"/>
                                          </p:val>
                                        </p:tav>
                                        <p:tav tm="100000">
                                          <p:val>
                                            <p:strVal val="#ppt_h"/>
                                          </p:val>
                                        </p:tav>
                                      </p:tavLst>
                                    </p:anim>
                                    <p:animEffect transition="in" filter="fade">
                                      <p:cBhvr>
                                        <p:cTn id="58" dur="450"/>
                                        <p:tgtEl>
                                          <p:spTgt spid="16"/>
                                        </p:tgtEl>
                                      </p:cBhvr>
                                    </p:animEffect>
                                  </p:childTnLst>
                                </p:cTn>
                              </p:par>
                              <p:par>
                                <p:cTn id="59" presetID="10" presetClass="entr" presetSubtype="0" fill="hold" grpId="0" nodeType="withEffect">
                                  <p:stCondLst>
                                    <p:cond delay="79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450"/>
                                        <p:tgtEl>
                                          <p:spTgt spid="15"/>
                                        </p:tgtEl>
                                      </p:cBhvr>
                                    </p:animEffect>
                                  </p:childTnLst>
                                </p:cTn>
                              </p:par>
                              <p:par>
                                <p:cTn id="62" presetID="42" presetClass="entr" presetSubtype="0" fill="hold" grpId="0" nodeType="withEffect">
                                  <p:stCondLst>
                                    <p:cond delay="89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600"/>
                                        <p:tgtEl>
                                          <p:spTgt spid="17"/>
                                        </p:tgtEl>
                                      </p:cBhvr>
                                    </p:animEffect>
                                    <p:anim calcmode="lin" valueType="num">
                                      <p:cBhvr additive="base">
                                        <p:cTn id="65" dur="600" decel="100000" fill="hold"/>
                                        <p:tgtEl>
                                          <p:spTgt spid="17"/>
                                        </p:tgtEl>
                                        <p:attrNameLst>
                                          <p:attrName>ppt_x</p:attrName>
                                        </p:attrNameLst>
                                      </p:cBhvr>
                                      <p:tavLst>
                                        <p:tav tm="0">
                                          <p:val>
                                            <p:strVal val="#ppt_x"/>
                                          </p:val>
                                        </p:tav>
                                        <p:tav tm="100000">
                                          <p:val>
                                            <p:strVal val="#ppt_x"/>
                                          </p:val>
                                        </p:tav>
                                      </p:tavLst>
                                    </p:anim>
                                    <p:anim calcmode="lin" valueType="num">
                                      <p:cBhvr additive="base">
                                        <p:cTn id="66" dur="600" decel="100000" fill="hold"/>
                                        <p:tgtEl>
                                          <p:spTgt spid="17"/>
                                        </p:tgtEl>
                                        <p:attrNameLst>
                                          <p:attrName>ppt_y</p:attrName>
                                        </p:attrNameLst>
                                      </p:cBhvr>
                                      <p:tavLst>
                                        <p:tav tm="0">
                                          <p:val>
                                            <p:strVal val="#ppt_y+0.05"/>
                                          </p:val>
                                        </p:tav>
                                        <p:tav tm="100000">
                                          <p:val>
                                            <p:strVal val="#ppt_y"/>
                                          </p:val>
                                        </p:tav>
                                      </p:tavLst>
                                    </p:anim>
                                  </p:childTnLst>
                                </p:cTn>
                              </p:par>
                              <p:par>
                                <p:cTn id="67" presetID="42" presetClass="entr" presetSubtype="0" fill="hold" grpId="0" nodeType="withEffect">
                                  <p:stCondLst>
                                    <p:cond delay="89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600"/>
                                        <p:tgtEl>
                                          <p:spTgt spid="18"/>
                                        </p:tgtEl>
                                      </p:cBhvr>
                                    </p:animEffect>
                                    <p:anim calcmode="lin" valueType="num">
                                      <p:cBhvr additive="base">
                                        <p:cTn id="70" dur="600" decel="100000" fill="hold"/>
                                        <p:tgtEl>
                                          <p:spTgt spid="18"/>
                                        </p:tgtEl>
                                        <p:attrNameLst>
                                          <p:attrName>ppt_x</p:attrName>
                                        </p:attrNameLst>
                                      </p:cBhvr>
                                      <p:tavLst>
                                        <p:tav tm="0">
                                          <p:val>
                                            <p:strVal val="#ppt_x"/>
                                          </p:val>
                                        </p:tav>
                                        <p:tav tm="100000">
                                          <p:val>
                                            <p:strVal val="#ppt_x"/>
                                          </p:val>
                                        </p:tav>
                                      </p:tavLst>
                                    </p:anim>
                                    <p:anim calcmode="lin" valueType="num">
                                      <p:cBhvr additive="base">
                                        <p:cTn id="71" dur="600" decel="100000" fill="hold"/>
                                        <p:tgtEl>
                                          <p:spTgt spid="18"/>
                                        </p:tgtEl>
                                        <p:attrNameLst>
                                          <p:attrName>ppt_y</p:attrName>
                                        </p:attrNameLst>
                                      </p:cBhvr>
                                      <p:tavLst>
                                        <p:tav tm="0">
                                          <p:val>
                                            <p:strVal val="#ppt_y+0.05"/>
                                          </p:val>
                                        </p:tav>
                                        <p:tav tm="100000">
                                          <p:val>
                                            <p:strVal val="#ppt_y"/>
                                          </p:val>
                                        </p:tav>
                                      </p:tavLst>
                                    </p:anim>
                                  </p:childTnLst>
                                </p:cTn>
                              </p:par>
                              <p:par>
                                <p:cTn id="72" presetID="42" presetClass="entr" presetSubtype="0" fill="hold" grpId="0" nodeType="withEffect">
                                  <p:stCondLst>
                                    <p:cond delay="99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600"/>
                                        <p:tgtEl>
                                          <p:spTgt spid="19"/>
                                        </p:tgtEl>
                                      </p:cBhvr>
                                    </p:animEffect>
                                    <p:anim calcmode="lin" valueType="num">
                                      <p:cBhvr additive="base">
                                        <p:cTn id="75" dur="600" decel="100000" fill="hold"/>
                                        <p:tgtEl>
                                          <p:spTgt spid="19"/>
                                        </p:tgtEl>
                                        <p:attrNameLst>
                                          <p:attrName>ppt_x</p:attrName>
                                        </p:attrNameLst>
                                      </p:cBhvr>
                                      <p:tavLst>
                                        <p:tav tm="0">
                                          <p:val>
                                            <p:strVal val="#ppt_x"/>
                                          </p:val>
                                        </p:tav>
                                        <p:tav tm="100000">
                                          <p:val>
                                            <p:strVal val="#ppt_x"/>
                                          </p:val>
                                        </p:tav>
                                      </p:tavLst>
                                    </p:anim>
                                    <p:anim calcmode="lin" valueType="num">
                                      <p:cBhvr additive="base">
                                        <p:cTn id="76" dur="600" decel="100000" fill="hold"/>
                                        <p:tgtEl>
                                          <p:spTgt spid="19"/>
                                        </p:tgtEl>
                                        <p:attrNameLst>
                                          <p:attrName>ppt_y</p:attrName>
                                        </p:attrNameLst>
                                      </p:cBhvr>
                                      <p:tavLst>
                                        <p:tav tm="0">
                                          <p:val>
                                            <p:strVal val="#ppt_y+0.05"/>
                                          </p:val>
                                        </p:tav>
                                        <p:tav tm="100000">
                                          <p:val>
                                            <p:strVal val="#ppt_y"/>
                                          </p:val>
                                        </p:tav>
                                      </p:tavLst>
                                    </p:anim>
                                  </p:childTnLst>
                                </p:cTn>
                              </p:par>
                              <p:par>
                                <p:cTn id="77" presetID="53" presetClass="entr" presetSubtype="16" fill="hold" grpId="0" nodeType="withEffect">
                                  <p:stCondLst>
                                    <p:cond delay="1110"/>
                                  </p:stCondLst>
                                  <p:childTnLst>
                                    <p:set>
                                      <p:cBhvr>
                                        <p:cTn id="78" dur="1" fill="hold">
                                          <p:stCondLst>
                                            <p:cond delay="0"/>
                                          </p:stCondLst>
                                        </p:cTn>
                                        <p:tgtEl>
                                          <p:spTgt spid="21"/>
                                        </p:tgtEl>
                                        <p:attrNameLst>
                                          <p:attrName>style.visibility</p:attrName>
                                        </p:attrNameLst>
                                      </p:cBhvr>
                                      <p:to>
                                        <p:strVal val="visible"/>
                                      </p:to>
                                    </p:set>
                                    <p:anim calcmode="lin" valueType="num">
                                      <p:cBhvr additive="base">
                                        <p:cTn id="79" dur="450" decel="100000" fill="hold"/>
                                        <p:tgtEl>
                                          <p:spTgt spid="21"/>
                                        </p:tgtEl>
                                        <p:attrNameLst>
                                          <p:attrName>ppt_w</p:attrName>
                                        </p:attrNameLst>
                                      </p:cBhvr>
                                      <p:tavLst>
                                        <p:tav tm="0">
                                          <p:val>
                                            <p:strVal val="#ppt_w*0.55"/>
                                          </p:val>
                                        </p:tav>
                                        <p:tav tm="100000">
                                          <p:val>
                                            <p:strVal val="#ppt_w"/>
                                          </p:val>
                                        </p:tav>
                                      </p:tavLst>
                                    </p:anim>
                                    <p:anim calcmode="lin" valueType="num">
                                      <p:cBhvr additive="base">
                                        <p:cTn id="80" dur="450" decel="100000" fill="hold"/>
                                        <p:tgtEl>
                                          <p:spTgt spid="21"/>
                                        </p:tgtEl>
                                        <p:attrNameLst>
                                          <p:attrName>ppt_h</p:attrName>
                                        </p:attrNameLst>
                                      </p:cBhvr>
                                      <p:tavLst>
                                        <p:tav tm="0">
                                          <p:val>
                                            <p:strVal val="#ppt_h*0.55"/>
                                          </p:val>
                                        </p:tav>
                                        <p:tav tm="100000">
                                          <p:val>
                                            <p:strVal val="#ppt_h"/>
                                          </p:val>
                                        </p:tav>
                                      </p:tavLst>
                                    </p:anim>
                                    <p:animEffect transition="in" filter="fade">
                                      <p:cBhvr>
                                        <p:cTn id="81" dur="450"/>
                                        <p:tgtEl>
                                          <p:spTgt spid="21"/>
                                        </p:tgtEl>
                                      </p:cBhvr>
                                    </p:animEffect>
                                  </p:childTnLst>
                                </p:cTn>
                              </p:par>
                              <p:par>
                                <p:cTn id="82" presetID="10" presetClass="entr" presetSubtype="0" fill="hold" grpId="0" nodeType="withEffect">
                                  <p:stCondLst>
                                    <p:cond delay="1110"/>
                                  </p:stCondLst>
                                  <p:childTnLst>
                                    <p:set>
                                      <p:cBhvr>
                                        <p:cTn id="83" dur="1" fill="hold">
                                          <p:stCondLst>
                                            <p:cond delay="0"/>
                                          </p:stCondLst>
                                        </p:cTn>
                                        <p:tgtEl>
                                          <p:spTgt spid="20"/>
                                        </p:tgtEl>
                                        <p:attrNameLst>
                                          <p:attrName>style.visibility</p:attrName>
                                        </p:attrNameLst>
                                      </p:cBhvr>
                                      <p:to>
                                        <p:strVal val="visible"/>
                                      </p:to>
                                    </p:set>
                                    <p:animEffect transition="in" filter="fade">
                                      <p:cBhvr>
                                        <p:cTn id="84" dur="450"/>
                                        <p:tgtEl>
                                          <p:spTgt spid="20"/>
                                        </p:tgtEl>
                                      </p:cBhvr>
                                    </p:animEffect>
                                  </p:childTnLst>
                                </p:cTn>
                              </p:par>
                              <p:par>
                                <p:cTn id="85" presetID="42" presetClass="entr" presetSubtype="0" fill="hold" grpId="0" nodeType="withEffect">
                                  <p:stCondLst>
                                    <p:cond delay="121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600"/>
                                        <p:tgtEl>
                                          <p:spTgt spid="22"/>
                                        </p:tgtEl>
                                      </p:cBhvr>
                                    </p:animEffect>
                                    <p:anim calcmode="lin" valueType="num">
                                      <p:cBhvr additive="base">
                                        <p:cTn id="88" dur="600" decel="100000" fill="hold"/>
                                        <p:tgtEl>
                                          <p:spTgt spid="22"/>
                                        </p:tgtEl>
                                        <p:attrNameLst>
                                          <p:attrName>ppt_x</p:attrName>
                                        </p:attrNameLst>
                                      </p:cBhvr>
                                      <p:tavLst>
                                        <p:tav tm="0">
                                          <p:val>
                                            <p:strVal val="#ppt_x"/>
                                          </p:val>
                                        </p:tav>
                                        <p:tav tm="100000">
                                          <p:val>
                                            <p:strVal val="#ppt_x"/>
                                          </p:val>
                                        </p:tav>
                                      </p:tavLst>
                                    </p:anim>
                                    <p:anim calcmode="lin" valueType="num">
                                      <p:cBhvr additive="base">
                                        <p:cTn id="89" dur="600" decel="100000" fill="hold"/>
                                        <p:tgtEl>
                                          <p:spTgt spid="22"/>
                                        </p:tgtEl>
                                        <p:attrNameLst>
                                          <p:attrName>ppt_y</p:attrName>
                                        </p:attrNameLst>
                                      </p:cBhvr>
                                      <p:tavLst>
                                        <p:tav tm="0">
                                          <p:val>
                                            <p:strVal val="#ppt_y+0.05"/>
                                          </p:val>
                                        </p:tav>
                                        <p:tav tm="100000">
                                          <p:val>
                                            <p:strVal val="#ppt_y"/>
                                          </p:val>
                                        </p:tav>
                                      </p:tavLst>
                                    </p:anim>
                                  </p:childTnLst>
                                </p:cTn>
                              </p:par>
                              <p:par>
                                <p:cTn id="90" presetID="42" presetClass="entr" presetSubtype="0" fill="hold" grpId="0" nodeType="withEffect">
                                  <p:stCondLst>
                                    <p:cond delay="1210"/>
                                  </p:stCondLst>
                                  <p:childTnLst>
                                    <p:set>
                                      <p:cBhvr>
                                        <p:cTn id="91" dur="1" fill="hold">
                                          <p:stCondLst>
                                            <p:cond delay="0"/>
                                          </p:stCondLst>
                                        </p:cTn>
                                        <p:tgtEl>
                                          <p:spTgt spid="23"/>
                                        </p:tgtEl>
                                        <p:attrNameLst>
                                          <p:attrName>style.visibility</p:attrName>
                                        </p:attrNameLst>
                                      </p:cBhvr>
                                      <p:to>
                                        <p:strVal val="visible"/>
                                      </p:to>
                                    </p:set>
                                    <p:animEffect transition="in" filter="fade">
                                      <p:cBhvr>
                                        <p:cTn id="92" dur="600"/>
                                        <p:tgtEl>
                                          <p:spTgt spid="23"/>
                                        </p:tgtEl>
                                      </p:cBhvr>
                                    </p:animEffect>
                                    <p:anim calcmode="lin" valueType="num">
                                      <p:cBhvr additive="base">
                                        <p:cTn id="93" dur="600" decel="100000" fill="hold"/>
                                        <p:tgtEl>
                                          <p:spTgt spid="23"/>
                                        </p:tgtEl>
                                        <p:attrNameLst>
                                          <p:attrName>ppt_x</p:attrName>
                                        </p:attrNameLst>
                                      </p:cBhvr>
                                      <p:tavLst>
                                        <p:tav tm="0">
                                          <p:val>
                                            <p:strVal val="#ppt_x"/>
                                          </p:val>
                                        </p:tav>
                                        <p:tav tm="100000">
                                          <p:val>
                                            <p:strVal val="#ppt_x"/>
                                          </p:val>
                                        </p:tav>
                                      </p:tavLst>
                                    </p:anim>
                                    <p:anim calcmode="lin" valueType="num">
                                      <p:cBhvr additive="base">
                                        <p:cTn id="94" dur="600" decel="100000" fill="hold"/>
                                        <p:tgtEl>
                                          <p:spTgt spid="23"/>
                                        </p:tgtEl>
                                        <p:attrNameLst>
                                          <p:attrName>ppt_y</p:attrName>
                                        </p:attrNameLst>
                                      </p:cBhvr>
                                      <p:tavLst>
                                        <p:tav tm="0">
                                          <p:val>
                                            <p:strVal val="#ppt_y+0.05"/>
                                          </p:val>
                                        </p:tav>
                                        <p:tav tm="100000">
                                          <p:val>
                                            <p:strVal val="#ppt_y"/>
                                          </p:val>
                                        </p:tav>
                                      </p:tavLst>
                                    </p:anim>
                                  </p:childTnLst>
                                </p:cTn>
                              </p:par>
                              <p:par>
                                <p:cTn id="95" presetID="42" presetClass="entr" presetSubtype="0" fill="hold" grpId="0" nodeType="withEffect">
                                  <p:stCondLst>
                                    <p:cond delay="1310"/>
                                  </p:stCondLst>
                                  <p:childTnLst>
                                    <p:set>
                                      <p:cBhvr>
                                        <p:cTn id="96" dur="1" fill="hold">
                                          <p:stCondLst>
                                            <p:cond delay="0"/>
                                          </p:stCondLst>
                                        </p:cTn>
                                        <p:tgtEl>
                                          <p:spTgt spid="24"/>
                                        </p:tgtEl>
                                        <p:attrNameLst>
                                          <p:attrName>style.visibility</p:attrName>
                                        </p:attrNameLst>
                                      </p:cBhvr>
                                      <p:to>
                                        <p:strVal val="visible"/>
                                      </p:to>
                                    </p:set>
                                    <p:animEffect transition="in" filter="fade">
                                      <p:cBhvr>
                                        <p:cTn id="97" dur="600"/>
                                        <p:tgtEl>
                                          <p:spTgt spid="24"/>
                                        </p:tgtEl>
                                      </p:cBhvr>
                                    </p:animEffect>
                                    <p:anim calcmode="lin" valueType="num">
                                      <p:cBhvr additive="base">
                                        <p:cTn id="98" dur="600" decel="100000" fill="hold"/>
                                        <p:tgtEl>
                                          <p:spTgt spid="24"/>
                                        </p:tgtEl>
                                        <p:attrNameLst>
                                          <p:attrName>ppt_x</p:attrName>
                                        </p:attrNameLst>
                                      </p:cBhvr>
                                      <p:tavLst>
                                        <p:tav tm="0">
                                          <p:val>
                                            <p:strVal val="#ppt_x"/>
                                          </p:val>
                                        </p:tav>
                                        <p:tav tm="100000">
                                          <p:val>
                                            <p:strVal val="#ppt_x"/>
                                          </p:val>
                                        </p:tav>
                                      </p:tavLst>
                                    </p:anim>
                                    <p:anim calcmode="lin" valueType="num">
                                      <p:cBhvr additive="base">
                                        <p:cTn id="99" dur="600" decel="100000" fill="hold"/>
                                        <p:tgtEl>
                                          <p:spTgt spid="24"/>
                                        </p:tgtEl>
                                        <p:attrNameLst>
                                          <p:attrName>ppt_y</p:attrName>
                                        </p:attrNameLst>
                                      </p:cBhvr>
                                      <p:tavLst>
                                        <p:tav tm="0">
                                          <p:val>
                                            <p:strVal val="#ppt_y+0.05"/>
                                          </p:val>
                                        </p:tav>
                                        <p:tav tm="100000">
                                          <p:val>
                                            <p:strVal val="#ppt_y"/>
                                          </p:val>
                                        </p:tav>
                                      </p:tavLst>
                                    </p:anim>
                                  </p:childTnLst>
                                </p:cTn>
                              </p:par>
                              <p:par>
                                <p:cTn id="100" presetID="42" presetClass="entr" presetSubtype="0" fill="hold" grpId="0" nodeType="withEffect">
                                  <p:stCondLst>
                                    <p:cond delay="1700"/>
                                  </p:stCondLst>
                                  <p:childTnLst>
                                    <p:set>
                                      <p:cBhvr>
                                        <p:cTn id="101" dur="1" fill="hold">
                                          <p:stCondLst>
                                            <p:cond delay="0"/>
                                          </p:stCondLst>
                                        </p:cTn>
                                        <p:tgtEl>
                                          <p:spTgt spid="25"/>
                                        </p:tgtEl>
                                        <p:attrNameLst>
                                          <p:attrName>style.visibility</p:attrName>
                                        </p:attrNameLst>
                                      </p:cBhvr>
                                      <p:to>
                                        <p:strVal val="visible"/>
                                      </p:to>
                                    </p:set>
                                    <p:animEffect transition="in" filter="fade">
                                      <p:cBhvr>
                                        <p:cTn id="102" dur="650"/>
                                        <p:tgtEl>
                                          <p:spTgt spid="25"/>
                                        </p:tgtEl>
                                      </p:cBhvr>
                                    </p:animEffect>
                                    <p:anim calcmode="lin" valueType="num">
                                      <p:cBhvr additive="base">
                                        <p:cTn id="103" dur="650" decel="100000" fill="hold"/>
                                        <p:tgtEl>
                                          <p:spTgt spid="25"/>
                                        </p:tgtEl>
                                        <p:attrNameLst>
                                          <p:attrName>ppt_x</p:attrName>
                                        </p:attrNameLst>
                                      </p:cBhvr>
                                      <p:tavLst>
                                        <p:tav tm="0">
                                          <p:val>
                                            <p:strVal val="#ppt_x"/>
                                          </p:val>
                                        </p:tav>
                                        <p:tav tm="100000">
                                          <p:val>
                                            <p:strVal val="#ppt_x"/>
                                          </p:val>
                                        </p:tav>
                                      </p:tavLst>
                                    </p:anim>
                                    <p:anim calcmode="lin" valueType="num">
                                      <p:cBhvr additive="base">
                                        <p:cTn id="104" dur="650" decel="100000" fill="hold"/>
                                        <p:tgtEl>
                                          <p:spTgt spid="25"/>
                                        </p:tgtEl>
                                        <p:attrNameLst>
                                          <p:attrName>ppt_y</p:attrName>
                                        </p:attrNameLst>
                                      </p:cBhvr>
                                      <p:tavLst>
                                        <p:tav tm="0">
                                          <p:val>
                                            <p:strVal val="#ppt_y+0.05"/>
                                          </p:val>
                                        </p:tav>
                                        <p:tav tm="100000">
                                          <p:val>
                                            <p:strVal val="#ppt_y"/>
                                          </p:val>
                                        </p:tav>
                                      </p:tavLst>
                                    </p:anim>
                                  </p:childTnLst>
                                </p:cTn>
                              </p:par>
                              <p:par>
                                <p:cTn id="105" presetID="42" presetClass="entr" presetSubtype="0" fill="hold" grpId="0" nodeType="withEffect">
                                  <p:stCondLst>
                                    <p:cond delay="170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650"/>
                                        <p:tgtEl>
                                          <p:spTgt spid="26"/>
                                        </p:tgtEl>
                                      </p:cBhvr>
                                    </p:animEffect>
                                    <p:anim calcmode="lin" valueType="num">
                                      <p:cBhvr additive="base">
                                        <p:cTn id="108" dur="650" decel="100000" fill="hold"/>
                                        <p:tgtEl>
                                          <p:spTgt spid="26"/>
                                        </p:tgtEl>
                                        <p:attrNameLst>
                                          <p:attrName>ppt_x</p:attrName>
                                        </p:attrNameLst>
                                      </p:cBhvr>
                                      <p:tavLst>
                                        <p:tav tm="0">
                                          <p:val>
                                            <p:strVal val="#ppt_x"/>
                                          </p:val>
                                        </p:tav>
                                        <p:tav tm="100000">
                                          <p:val>
                                            <p:strVal val="#ppt_x"/>
                                          </p:val>
                                        </p:tav>
                                      </p:tavLst>
                                    </p:anim>
                                    <p:anim calcmode="lin" valueType="num">
                                      <p:cBhvr additive="base">
                                        <p:cTn id="109" dur="650" decel="100000" fill="hold"/>
                                        <p:tgtEl>
                                          <p:spTgt spid="26"/>
                                        </p:tgtEl>
                                        <p:attrNameLst>
                                          <p:attrName>ppt_y</p:attrName>
                                        </p:attrNameLst>
                                      </p:cBhvr>
                                      <p:tavLst>
                                        <p:tav tm="0">
                                          <p:val>
                                            <p:strVal val="#ppt_y+0.05"/>
                                          </p:val>
                                        </p:tav>
                                        <p:tav tm="100000">
                                          <p:val>
                                            <p:strVal val="#ppt_y"/>
                                          </p:val>
                                        </p:tav>
                                      </p:tavLst>
                                    </p:anim>
                                  </p:childTnLst>
                                </p:cTn>
                              </p:par>
                              <p:par>
                                <p:cTn id="110" presetID="42" presetClass="entr" presetSubtype="0" fill="hold" grpId="0" nodeType="withEffect">
                                  <p:stCondLst>
                                    <p:cond delay="170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650"/>
                                        <p:tgtEl>
                                          <p:spTgt spid="27"/>
                                        </p:tgtEl>
                                      </p:cBhvr>
                                    </p:animEffect>
                                    <p:anim calcmode="lin" valueType="num">
                                      <p:cBhvr additive="base">
                                        <p:cTn id="113" dur="650" decel="100000" fill="hold"/>
                                        <p:tgtEl>
                                          <p:spTgt spid="27"/>
                                        </p:tgtEl>
                                        <p:attrNameLst>
                                          <p:attrName>ppt_x</p:attrName>
                                        </p:attrNameLst>
                                      </p:cBhvr>
                                      <p:tavLst>
                                        <p:tav tm="0">
                                          <p:val>
                                            <p:strVal val="#ppt_x"/>
                                          </p:val>
                                        </p:tav>
                                        <p:tav tm="100000">
                                          <p:val>
                                            <p:strVal val="#ppt_x"/>
                                          </p:val>
                                        </p:tav>
                                      </p:tavLst>
                                    </p:anim>
                                    <p:anim calcmode="lin" valueType="num">
                                      <p:cBhvr additive="base">
                                        <p:cTn id="114" dur="650" decel="100000" fill="hold"/>
                                        <p:tgtEl>
                                          <p:spTgt spid="27"/>
                                        </p:tgtEl>
                                        <p:attrNameLst>
                                          <p:attrName>ppt_y</p:attrName>
                                        </p:attrNameLst>
                                      </p:cBhvr>
                                      <p:tavLst>
                                        <p:tav tm="0">
                                          <p:val>
                                            <p:strVal val="#ppt_y+0.05"/>
                                          </p:val>
                                        </p:tav>
                                        <p:tav tm="100000">
                                          <p:val>
                                            <p:strVal val="#ppt_y"/>
                                          </p:val>
                                        </p:tav>
                                      </p:tavLst>
                                    </p:anim>
                                  </p:childTnLst>
                                </p:cTn>
                              </p:par>
                              <p:par>
                                <p:cTn id="115" presetID="42" presetClass="entr" presetSubtype="0" fill="hold" grpId="0" nodeType="withEffect">
                                  <p:stCondLst>
                                    <p:cond delay="1750"/>
                                  </p:stCondLst>
                                  <p:childTnLst>
                                    <p:set>
                                      <p:cBhvr>
                                        <p:cTn id="116" dur="1" fill="hold">
                                          <p:stCondLst>
                                            <p:cond delay="0"/>
                                          </p:stCondLst>
                                        </p:cTn>
                                        <p:tgtEl>
                                          <p:spTgt spid="28"/>
                                        </p:tgtEl>
                                        <p:attrNameLst>
                                          <p:attrName>style.visibility</p:attrName>
                                        </p:attrNameLst>
                                      </p:cBhvr>
                                      <p:to>
                                        <p:strVal val="visible"/>
                                      </p:to>
                                    </p:set>
                                    <p:animEffect transition="in" filter="fade">
                                      <p:cBhvr>
                                        <p:cTn id="117" dur="650"/>
                                        <p:tgtEl>
                                          <p:spTgt spid="28"/>
                                        </p:tgtEl>
                                      </p:cBhvr>
                                    </p:animEffect>
                                    <p:anim calcmode="lin" valueType="num">
                                      <p:cBhvr additive="base">
                                        <p:cTn id="118" dur="650" decel="100000" fill="hold"/>
                                        <p:tgtEl>
                                          <p:spTgt spid="28"/>
                                        </p:tgtEl>
                                        <p:attrNameLst>
                                          <p:attrName>ppt_x</p:attrName>
                                        </p:attrNameLst>
                                      </p:cBhvr>
                                      <p:tavLst>
                                        <p:tav tm="0">
                                          <p:val>
                                            <p:strVal val="#ppt_x"/>
                                          </p:val>
                                        </p:tav>
                                        <p:tav tm="100000">
                                          <p:val>
                                            <p:strVal val="#ppt_x"/>
                                          </p:val>
                                        </p:tav>
                                      </p:tavLst>
                                    </p:anim>
                                    <p:anim calcmode="lin" valueType="num">
                                      <p:cBhvr additive="base">
                                        <p:cTn id="119" dur="650" decel="100000" fill="hold"/>
                                        <p:tgtEl>
                                          <p:spTgt spid="28"/>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5" grpId="0" animBg="1"/>
      <p:bldP spid="7" grpId="0" animBg="1"/>
      <p:bldP spid="8" grpId="0" animBg="1"/>
      <p:bldP spid="9" grpId="0" animBg="1"/>
      <p:bldP spid="11" grpId="0" animBg="1"/>
      <p:bldP spid="10" grpId="0" animBg="1"/>
      <p:bldP spid="12" grpId="0" animBg="1"/>
      <p:bldP spid="13" grpId="0" animBg="1"/>
      <p:bldP spid="14" grpId="0" animBg="1"/>
      <p:bldP spid="16" grpId="0" animBg="1"/>
      <p:bldP spid="15" grpId="0" animBg="1"/>
      <p:bldP spid="17" grpId="0" animBg="1"/>
      <p:bldP spid="18" grpId="0" animBg="1"/>
      <p:bldP spid="19" grpId="0" animBg="1"/>
      <p:bldP spid="21" grpId="0" animBg="1"/>
      <p:bldP spid="20" grpId="0" animBg="1"/>
      <p:bldP spid="22" grpId="0" animBg="1"/>
      <p:bldP spid="23" grpId="0" animBg="1"/>
      <p:bldP spid="24" grpId="0" animBg="1"/>
      <p:bldP spid="25" grpId="0" animBg="1"/>
      <p:bldP spid="26" grpId="0" animBg="1"/>
      <p:bldP spid="2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
          <p:cNvSpPr/>
          <p:nvPr>
            <p:ph idx="100" type="title" hasCustomPrompt="1"/>
          </p:nvPr>
        </p:nvSpPr>
        <p:spPr>
          <a:xfrm>
            <a:off x="731520" y="502920"/>
            <a:ext cx="10698480" cy="365760"/>
          </a:xfrm>
          <a:prstGeom prst="rect">
            <a:avLst/>
          </a:prstGeom>
          <a:noFill/>
          <a:ln/>
        </p:spPr>
        <p:txBody>
          <a:bodyPr wrap="square" lIns="0" tIns="0" rIns="0" bIns="0" rtlCol="0" anchor="ctr"/>
          <a:lstStyle/>
          <a:p>
            <a:pPr algn="l" indent="0" marL="0">
              <a:buNone/>
            </a:pPr>
            <a:r>
              <a:rPr lang="en-US" sz="1300" b="1" spc="300" kern="0" dirty="0">
                <a:solidFill>
                  <a:schemeClr val="accent1"/>
                </a:solidFill>
              </a:rPr>
              <a:t>THANK YOU  ·  QUESTIONS?</a:t>
            </a:r>
            <a:endParaRPr lang="en-US" sz="1300" dirty="0"/>
          </a:p>
        </p:txBody>
      </p:sp>
      <p:sp>
        <p:nvSpPr>
          <p:cNvPr id="3" name="ringB"/>
          <p:cNvSpPr/>
          <p:nvPr/>
        </p:nvSpPr>
        <p:spPr>
          <a:xfrm>
            <a:off x="6606540" y="1463040"/>
            <a:ext cx="3931920" cy="3931920"/>
          </a:xfrm>
          <a:prstGeom prst="ellipse">
            <a:avLst/>
          </a:prstGeom>
          <a:noFill/>
          <a:ln w="28575">
            <a:solidFill>
              <a:schemeClr val="accent2"/>
            </a:solidFill>
            <a:prstDash val="solid"/>
          </a:ln>
        </p:spPr>
      </p:sp>
      <p:sp>
        <p:nvSpPr>
          <p:cNvPr id="4" name="ringO"/>
          <p:cNvSpPr/>
          <p:nvPr/>
        </p:nvSpPr>
        <p:spPr>
          <a:xfrm>
            <a:off x="7749540" y="1463040"/>
            <a:ext cx="3931920" cy="3931920"/>
          </a:xfrm>
          <a:prstGeom prst="ellipse">
            <a:avLst/>
          </a:prstGeom>
          <a:noFill/>
          <a:ln w="28575">
            <a:solidFill>
              <a:schemeClr val="accent1"/>
            </a:solidFill>
            <a:prstDash val="solid"/>
          </a:ln>
        </p:spPr>
      </p:sp>
      <p:pic>
        <p:nvPicPr>
          <p:cNvPr id="5" name="mip" descr="Rotating PET projection of the brain with two glowing tumours">    </p:cNvPr>
          <p:cNvPicPr>
            <a:picLocks noChangeAspect="1"/>
          </p:cNvPicPr>
          <p:nvPr/>
        </p:nvPicPr>
        <p:blipFill>
          <a:blip r:embed="rId1"/>
          <a:stretch>
            <a:fillRect/>
          </a:stretch>
        </p:blipFill>
        <p:spPr>
          <a:xfrm>
            <a:off x="7818120" y="2103120"/>
            <a:ext cx="2651760" cy="2651760"/>
          </a:xfrm>
          <a:prstGeom prst="ellipse">
            <a:avLst/>
          </a:prstGeom>
        </p:spPr>
      </p:pic>
      <p:sp>
        <p:nvSpPr>
          <p:cNvPr id="6" name="st1"/>
          <p:cNvSpPr txBox="1"/>
          <p:nvPr/>
        </p:nvSpPr>
        <p:spPr>
          <a:xfrm>
            <a:off x="731520" y="1188720"/>
            <a:ext cx="5669280" cy="1371600"/>
          </a:xfrm>
          <a:prstGeom prst="rect">
            <a:avLst/>
          </a:prstGeom>
          <a:noFill/>
          <a:ln/>
        </p:spPr>
        <p:txBody>
          <a:bodyPr wrap="square" lIns="0" tIns="0" rIns="0" bIns="0" rtlCol="0" anchor="b"/>
          <a:lstStyle/>
          <a:p>
            <a:pPr indent="0" marL="0">
              <a:buNone/>
            </a:pPr>
            <a:r>
              <a:rPr lang="en-US" sz="4000" b="1" dirty="0">
                <a:solidFill>
                  <a:schemeClr val="bg1"/>
                </a:solidFill>
              </a:rPr>
              <a:t>700+ hospitals already own a PET and an MRI.</a:t>
            </a:r>
            <a:endParaRPr lang="en-US" sz="4000" dirty="0"/>
          </a:p>
        </p:txBody>
      </p:sp>
      <p:sp>
        <p:nvSpPr>
          <p:cNvPr id="7" name="st2"/>
          <p:cNvSpPr txBox="1"/>
          <p:nvPr/>
        </p:nvSpPr>
        <p:spPr>
          <a:xfrm>
            <a:off x="731520" y="2697480"/>
            <a:ext cx="5669280" cy="1371600"/>
          </a:xfrm>
          <a:prstGeom prst="rect">
            <a:avLst/>
          </a:prstGeom>
          <a:noFill/>
          <a:ln/>
        </p:spPr>
        <p:txBody>
          <a:bodyPr wrap="square" lIns="0" tIns="0" rIns="0" bIns="0" rtlCol="0" anchor="t"/>
          <a:lstStyle/>
          <a:p>
            <a:pPr indent="0" marL="0">
              <a:buNone/>
            </a:pPr>
            <a:r>
              <a:rPr lang="en-US" sz="4000" b="1" dirty="0">
                <a:solidFill>
                  <a:schemeClr val="accent1"/>
                </a:solidFill>
              </a:rPr>
              <a:t>FusionMap turns them into a PET-MRI.</a:t>
            </a:r>
            <a:endParaRPr lang="en-US" sz="4000" dirty="0"/>
          </a:p>
        </p:txBody>
      </p:sp>
      <p:pic>
        <p:nvPicPr>
          <p:cNvPr id="8" name="logo" descr="FusionMap logo">    </p:cNvPr>
          <p:cNvPicPr>
            <a:picLocks noChangeAspect="1"/>
          </p:cNvPicPr>
          <p:nvPr/>
        </p:nvPicPr>
        <p:blipFill>
          <a:blip r:embed="rId2"/>
          <a:stretch>
            <a:fillRect/>
          </a:stretch>
        </p:blipFill>
        <p:spPr>
          <a:xfrm>
            <a:off x="594360" y="4224528"/>
            <a:ext cx="777240" cy="777240"/>
          </a:xfrm>
          <a:prstGeom prst="rect">
            <a:avLst/>
          </a:prstGeom>
        </p:spPr>
      </p:pic>
      <p:sp>
        <p:nvSpPr>
          <p:cNvPr id="9" name="brand"/>
          <p:cNvSpPr txBox="1"/>
          <p:nvPr/>
        </p:nvSpPr>
        <p:spPr>
          <a:xfrm>
            <a:off x="1417320" y="4297680"/>
            <a:ext cx="3657600" cy="640080"/>
          </a:xfrm>
          <a:prstGeom prst="rect">
            <a:avLst/>
          </a:prstGeom>
          <a:noFill/>
          <a:ln/>
        </p:spPr>
        <p:txBody>
          <a:bodyPr wrap="square" lIns="0" tIns="0" rIns="0" bIns="0" rtlCol="0" anchor="ctr"/>
          <a:lstStyle/>
          <a:p>
            <a:pPr indent="0" marL="0">
              <a:buNone/>
            </a:pPr>
            <a:r>
              <a:rPr lang="en-US" sz="2800" b="1" dirty="0">
                <a:solidFill>
                  <a:schemeClr val="bg1"/>
                </a:solidFill>
              </a:rPr>
              <a:t>FusionMap</a:t>
            </a:r>
            <a:endParaRPr lang="en-US" sz="2800" dirty="0"/>
          </a:p>
        </p:txBody>
      </p:sp>
      <p:sp>
        <p:nvSpPr>
          <p:cNvPr id="10" name="team"/>
          <p:cNvSpPr txBox="1"/>
          <p:nvPr/>
        </p:nvSpPr>
        <p:spPr>
          <a:xfrm>
            <a:off x="731520" y="5120640"/>
            <a:ext cx="6858000" cy="960120"/>
          </a:xfrm>
          <a:prstGeom prst="rect">
            <a:avLst/>
          </a:prstGeom>
          <a:noFill/>
          <a:ln/>
        </p:spPr>
        <p:txBody>
          <a:bodyPr wrap="square" lIns="0" tIns="0" rIns="0" bIns="0" rtlCol="0" anchor="t"/>
          <a:lstStyle/>
          <a:p>
            <a:pPr indent="0" marL="0">
              <a:buNone/>
            </a:pPr>
            <a:r>
              <a:rPr lang="en-US" sz="1500" b="1" dirty="0">
                <a:solidFill>
                  <a:schemeClr val="bg1"/>
                </a:solidFill>
              </a:rPr>
              <a:t>Team MeatRiders</a:t>
            </a:r>
            <a:endParaRPr lang="en-US" sz="1500" dirty="0"/>
          </a:p>
          <a:p>
            <a:pPr indent="0" marL="0">
              <a:buNone/>
            </a:pPr>
            <a:r>
              <a:rPr lang="en-US" sz="1500" dirty="0">
                <a:solidFill>
                  <a:schemeClr val="bg2"/>
                </a:solidFill>
              </a:rPr>
              <a:t>Parth Deshmukh  ·  Atharva Jadhav  ·  Samuel Cardoza  ·  Ralston Crasta</a:t>
            </a:r>
            <a:endParaRPr lang="en-US" sz="1500" dirty="0"/>
          </a:p>
          <a:p>
            <a:pPr indent="0" marL="0">
              <a:buNone/>
            </a:pPr>
            <a:r>
              <a:rPr lang="en-US" sz="1500" u="sng" dirty="0">
                <a:solidFill>
                  <a:schemeClr val="accent2"/>
                </a:solidFill>
                <a:hlinkClick r:id="rId3" invalidUrl="" action="" tgtFrame="" tooltip="" history="1" highlightClick="0" endSnd="0">
                  <a:extLst>
                    <a:ext uri="{A12FA001-AC4F-418D-AE19-62706E023703}">
                      <ahyp:hlinkClr xmlns:ahyp="http://schemas.microsoft.com/office/drawing/2018/hyperlinkcolor" val="tx"/>
                    </a:ext>
                  </a:extLst>
                </a:hlinkClick>
              </a:rPr>
              <a:t>github.com/dev-parthdeshmukh/fusiontech</a:t>
            </a:r>
            <a:endParaRPr lang="en-US" sz="15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800" decel="100000" fill="hold"/>
                                        <p:tgtEl>
                                          <p:spTgt spid="3"/>
                                        </p:tgtEl>
                                        <p:attrNameLst>
                                          <p:attrName>ppt_w</p:attrName>
                                        </p:attrNameLst>
                                      </p:cBhvr>
                                      <p:tavLst>
                                        <p:tav tm="0">
                                          <p:val>
                                            <p:strVal val="#ppt_w*0.55"/>
                                          </p:val>
                                        </p:tav>
                                        <p:tav tm="100000">
                                          <p:val>
                                            <p:strVal val="#ppt_w"/>
                                          </p:val>
                                        </p:tav>
                                      </p:tavLst>
                                    </p:anim>
                                    <p:anim calcmode="lin" valueType="num">
                                      <p:cBhvr additive="base">
                                        <p:cTn id="8" dur="800" decel="100000" fill="hold"/>
                                        <p:tgtEl>
                                          <p:spTgt spid="3"/>
                                        </p:tgtEl>
                                        <p:attrNameLst>
                                          <p:attrName>ppt_h</p:attrName>
                                        </p:attrNameLst>
                                      </p:cBhvr>
                                      <p:tavLst>
                                        <p:tav tm="0">
                                          <p:val>
                                            <p:strVal val="#ppt_h*0.55"/>
                                          </p:val>
                                        </p:tav>
                                        <p:tav tm="100000">
                                          <p:val>
                                            <p:strVal val="#ppt_h"/>
                                          </p:val>
                                        </p:tav>
                                      </p:tavLst>
                                    </p:anim>
                                    <p:animEffect transition="in" filter="fade">
                                      <p:cBhvr>
                                        <p:cTn id="9" dur="800"/>
                                        <p:tgtEl>
                                          <p:spTgt spid="3"/>
                                        </p:tgtEl>
                                      </p:cBhvr>
                                    </p:animEffect>
                                  </p:childTnLst>
                                </p:cTn>
                              </p:par>
                              <p:par>
                                <p:cTn id="10" presetID="53" presetClass="entr" presetSubtype="16" fill="hold" grpId="0" nodeType="withEffect">
                                  <p:stCondLst>
                                    <p:cond delay="25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800" decel="100000" fill="hold"/>
                                        <p:tgtEl>
                                          <p:spTgt spid="4"/>
                                        </p:tgtEl>
                                        <p:attrNameLst>
                                          <p:attrName>ppt_w</p:attrName>
                                        </p:attrNameLst>
                                      </p:cBhvr>
                                      <p:tavLst>
                                        <p:tav tm="0">
                                          <p:val>
                                            <p:strVal val="#ppt_w*0.55"/>
                                          </p:val>
                                        </p:tav>
                                        <p:tav tm="100000">
                                          <p:val>
                                            <p:strVal val="#ppt_w"/>
                                          </p:val>
                                        </p:tav>
                                      </p:tavLst>
                                    </p:anim>
                                    <p:anim calcmode="lin" valueType="num">
                                      <p:cBhvr additive="base">
                                        <p:cTn id="13" dur="800" decel="100000" fill="hold"/>
                                        <p:tgtEl>
                                          <p:spTgt spid="4"/>
                                        </p:tgtEl>
                                        <p:attrNameLst>
                                          <p:attrName>ppt_h</p:attrName>
                                        </p:attrNameLst>
                                      </p:cBhvr>
                                      <p:tavLst>
                                        <p:tav tm="0">
                                          <p:val>
                                            <p:strVal val="#ppt_h*0.55"/>
                                          </p:val>
                                        </p:tav>
                                        <p:tav tm="100000">
                                          <p:val>
                                            <p:strVal val="#ppt_h"/>
                                          </p:val>
                                        </p:tav>
                                      </p:tavLst>
                                    </p:anim>
                                    <p:animEffect transition="in" filter="fade">
                                      <p:cBhvr>
                                        <p:cTn id="14" dur="800"/>
                                        <p:tgtEl>
                                          <p:spTgt spid="4"/>
                                        </p:tgtEl>
                                      </p:cBhvr>
                                    </p:animEffect>
                                  </p:childTnLst>
                                </p:cTn>
                              </p:par>
                              <p:par>
                                <p:cTn id="15" presetID="10" presetClass="entr" presetSubtype="0" fill="hold" grpId="0" nodeType="withEffect">
                                  <p:stCondLst>
                                    <p:cond delay="30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par>
                                <p:cTn id="18" presetID="10" presetClass="entr" presetSubtype="0" fill="hold" grpId="0" nodeType="withEffect">
                                  <p:stCondLst>
                                    <p:cond delay="60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900"/>
                                        <p:tgtEl>
                                          <p:spTgt spid="5"/>
                                        </p:tgtEl>
                                      </p:cBhvr>
                                    </p:animEffect>
                                  </p:childTnLst>
                                </p:cTn>
                              </p:par>
                              <p:par>
                                <p:cTn id="21" presetID="42" presetClass="entr" presetSubtype="0" fill="hold" grpId="0" nodeType="withEffect">
                                  <p:stCondLst>
                                    <p:cond delay="8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800"/>
                                        <p:tgtEl>
                                          <p:spTgt spid="6"/>
                                        </p:tgtEl>
                                      </p:cBhvr>
                                    </p:animEffect>
                                    <p:anim calcmode="lin" valueType="num">
                                      <p:cBhvr additive="base">
                                        <p:cTn id="24" dur="800" decel="100000" fill="hold"/>
                                        <p:tgtEl>
                                          <p:spTgt spid="6"/>
                                        </p:tgtEl>
                                        <p:attrNameLst>
                                          <p:attrName>ppt_x</p:attrName>
                                        </p:attrNameLst>
                                      </p:cBhvr>
                                      <p:tavLst>
                                        <p:tav tm="0">
                                          <p:val>
                                            <p:strVal val="#ppt_x"/>
                                          </p:val>
                                        </p:tav>
                                        <p:tav tm="100000">
                                          <p:val>
                                            <p:strVal val="#ppt_x"/>
                                          </p:val>
                                        </p:tav>
                                      </p:tavLst>
                                    </p:anim>
                                    <p:anim calcmode="lin" valueType="num">
                                      <p:cBhvr additive="base">
                                        <p:cTn id="25" dur="800" decel="100000" fill="hold"/>
                                        <p:tgtEl>
                                          <p:spTgt spid="6"/>
                                        </p:tgtEl>
                                        <p:attrNameLst>
                                          <p:attrName>ppt_y</p:attrName>
                                        </p:attrNameLst>
                                      </p:cBhvr>
                                      <p:tavLst>
                                        <p:tav tm="0">
                                          <p:val>
                                            <p:strVal val="#ppt_y+0.05"/>
                                          </p:val>
                                        </p:tav>
                                        <p:tav tm="100000">
                                          <p:val>
                                            <p:strVal val="#ppt_y"/>
                                          </p:val>
                                        </p:tav>
                                      </p:tavLst>
                                    </p:anim>
                                  </p:childTnLst>
                                </p:cTn>
                              </p:par>
                              <p:par>
                                <p:cTn id="26" presetID="42" presetClass="entr" presetSubtype="0" fill="hold" grpId="0" nodeType="withEffect">
                                  <p:stCondLst>
                                    <p:cond delay="14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800"/>
                                        <p:tgtEl>
                                          <p:spTgt spid="7"/>
                                        </p:tgtEl>
                                      </p:cBhvr>
                                    </p:animEffect>
                                    <p:anim calcmode="lin" valueType="num">
                                      <p:cBhvr additive="base">
                                        <p:cTn id="29" dur="800" decel="100000" fill="hold"/>
                                        <p:tgtEl>
                                          <p:spTgt spid="7"/>
                                        </p:tgtEl>
                                        <p:attrNameLst>
                                          <p:attrName>ppt_x</p:attrName>
                                        </p:attrNameLst>
                                      </p:cBhvr>
                                      <p:tavLst>
                                        <p:tav tm="0">
                                          <p:val>
                                            <p:strVal val="#ppt_x"/>
                                          </p:val>
                                        </p:tav>
                                        <p:tav tm="100000">
                                          <p:val>
                                            <p:strVal val="#ppt_x"/>
                                          </p:val>
                                        </p:tav>
                                      </p:tavLst>
                                    </p:anim>
                                    <p:anim calcmode="lin" valueType="num">
                                      <p:cBhvr additive="base">
                                        <p:cTn id="30" dur="800" decel="100000" fill="hold"/>
                                        <p:tgtEl>
                                          <p:spTgt spid="7"/>
                                        </p:tgtEl>
                                        <p:attrNameLst>
                                          <p:attrName>ppt_y</p:attrName>
                                        </p:attrNameLst>
                                      </p:cBhvr>
                                      <p:tavLst>
                                        <p:tav tm="0">
                                          <p:val>
                                            <p:strVal val="#ppt_y+0.05"/>
                                          </p:val>
                                        </p:tav>
                                        <p:tav tm="100000">
                                          <p:val>
                                            <p:strVal val="#ppt_y"/>
                                          </p:val>
                                        </p:tav>
                                      </p:tavLst>
                                    </p:anim>
                                  </p:childTnLst>
                                </p:cTn>
                              </p:par>
                              <p:par>
                                <p:cTn id="31" presetID="53" presetClass="entr" presetSubtype="16" fill="hold" grpId="0" nodeType="withEffect">
                                  <p:stCondLst>
                                    <p:cond delay="200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600" decel="100000" fill="hold"/>
                                        <p:tgtEl>
                                          <p:spTgt spid="8"/>
                                        </p:tgtEl>
                                        <p:attrNameLst>
                                          <p:attrName>ppt_w</p:attrName>
                                        </p:attrNameLst>
                                      </p:cBhvr>
                                      <p:tavLst>
                                        <p:tav tm="0">
                                          <p:val>
                                            <p:strVal val="#ppt_w*0.55"/>
                                          </p:val>
                                        </p:tav>
                                        <p:tav tm="100000">
                                          <p:val>
                                            <p:strVal val="#ppt_w"/>
                                          </p:val>
                                        </p:tav>
                                      </p:tavLst>
                                    </p:anim>
                                    <p:anim calcmode="lin" valueType="num">
                                      <p:cBhvr additive="base">
                                        <p:cTn id="34" dur="600" decel="100000" fill="hold"/>
                                        <p:tgtEl>
                                          <p:spTgt spid="8"/>
                                        </p:tgtEl>
                                        <p:attrNameLst>
                                          <p:attrName>ppt_h</p:attrName>
                                        </p:attrNameLst>
                                      </p:cBhvr>
                                      <p:tavLst>
                                        <p:tav tm="0">
                                          <p:val>
                                            <p:strVal val="#ppt_h*0.55"/>
                                          </p:val>
                                        </p:tav>
                                        <p:tav tm="100000">
                                          <p:val>
                                            <p:strVal val="#ppt_h"/>
                                          </p:val>
                                        </p:tav>
                                      </p:tavLst>
                                    </p:anim>
                                    <p:animEffect transition="in" filter="fade">
                                      <p:cBhvr>
                                        <p:cTn id="35" dur="600"/>
                                        <p:tgtEl>
                                          <p:spTgt spid="8"/>
                                        </p:tgtEl>
                                      </p:cBhvr>
                                    </p:animEffect>
                                  </p:childTnLst>
                                </p:cTn>
                              </p:par>
                              <p:par>
                                <p:cTn id="36" presetID="10" presetClass="entr" presetSubtype="0" fill="hold" grpId="0" nodeType="withEffect">
                                  <p:stCondLst>
                                    <p:cond delay="21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00"/>
                                        <p:tgtEl>
                                          <p:spTgt spid="9"/>
                                        </p:tgtEl>
                                      </p:cBhvr>
                                    </p:animEffect>
                                  </p:childTnLst>
                                </p:cTn>
                              </p:par>
                              <p:par>
                                <p:cTn id="39" presetID="10" presetClass="entr" presetSubtype="0" fill="hold" grpId="0" nodeType="withEffect">
                                  <p:stCondLst>
                                    <p:cond delay="230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2" grpId="0" animBg="1"/>
      <p:bldP spid="6" grpId="0" animBg="1"/>
      <p:bldP spid="7" grpId="0" animBg="1"/>
      <p:bldP spid="9" grpId="0"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
          <p:cNvSpPr/>
          <p:nvPr>
            <p:ph idx="100" type="body" hasCustomPrompt="1"/>
          </p:nvPr>
        </p:nvSpPr>
        <p:spPr>
          <a:xfrm>
            <a:off x="548640" y="384048"/>
            <a:ext cx="7863840" cy="310896"/>
          </a:xfrm>
          <a:prstGeom prst="rect">
            <a:avLst/>
          </a:prstGeom>
          <a:noFill/>
          <a:ln/>
        </p:spPr>
        <p:txBody>
          <a:bodyPr wrap="square" lIns="0" tIns="0" rIns="0" bIns="0" rtlCol="0" anchor="ctr"/>
          <a:lstStyle/>
          <a:p>
            <a:pPr algn="l" indent="0" marL="0">
              <a:buNone/>
            </a:pPr>
            <a:r>
              <a:rPr lang="en-US" sz="1300" b="1" spc="300" kern="0" dirty="0">
                <a:solidFill>
                  <a:schemeClr val="accent2"/>
                </a:solidFill>
              </a:rPr>
              <a:t>BACKUP  ·  JUDGE Q&amp;A</a:t>
            </a:r>
            <a:endParaRPr lang="en-US" sz="1300" dirty="0"/>
          </a:p>
        </p:txBody>
      </p:sp>
      <p:sp>
        <p:nvSpPr>
          <p:cNvPr id="3" name="ttl"/>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200" b="1" dirty="0">
                <a:solidFill>
                  <a:schemeClr val="bg1"/>
                </a:solidFill>
              </a:rPr>
              <a:t>Questions we expect, answered</a:t>
            </a:r>
            <a:endParaRPr lang="en-US" sz="3200" dirty="0"/>
          </a:p>
        </p:txBody>
      </p:sp>
      <p:sp>
        <p:nvSpPr>
          <p:cNvPr id="4" name="qa0"/>
          <p:cNvSpPr/>
          <p:nvPr/>
        </p:nvSpPr>
        <p:spPr>
          <a:xfrm>
            <a:off x="548640" y="1691640"/>
            <a:ext cx="3502152" cy="2057400"/>
          </a:xfrm>
          <a:prstGeom prst="roundRect">
            <a:avLst>
              <a:gd name="adj" fmla="val 5333"/>
            </a:avLst>
          </a:prstGeom>
          <a:solidFill>
            <a:schemeClr val="tx2"/>
          </a:solidFill>
          <a:ln w="9525">
            <a:solidFill>
              <a:schemeClr val="accent6"/>
            </a:solidFill>
            <a:prstDash val="solid"/>
          </a:ln>
        </p:spPr>
      </p:sp>
      <p:sp>
        <p:nvSpPr>
          <p:cNvPr id="5" name="qa0t"/>
          <p:cNvSpPr txBox="1"/>
          <p:nvPr/>
        </p:nvSpPr>
        <p:spPr>
          <a:xfrm>
            <a:off x="777240" y="1892808"/>
            <a:ext cx="3044952" cy="1691640"/>
          </a:xfrm>
          <a:prstGeom prst="rect">
            <a:avLst/>
          </a:prstGeom>
          <a:noFill/>
          <a:ln/>
        </p:spPr>
        <p:txBody>
          <a:bodyPr wrap="square" lIns="0" tIns="0" rIns="0" bIns="0" rtlCol="0" anchor="t"/>
          <a:lstStyle/>
          <a:p>
            <a:pPr indent="0" marL="0">
              <a:buNone/>
            </a:pPr>
            <a:r>
              <a:rPr lang="en-US" sz="1700" b="1" dirty="0">
                <a:solidFill>
                  <a:schemeClr val="accent2"/>
                </a:solidFill>
              </a:rPr>
              <a:t>Validated on real patients?</a:t>
            </a:r>
            <a:endParaRPr lang="en-US" sz="1700" dirty="0"/>
          </a:p>
          <a:p>
            <a:pPr indent="0" marL="0">
              <a:buNone/>
            </a:pPr>
            <a:r>
              <a:rPr lang="en-US" sz="1500" dirty="0">
                <a:solidFill>
                  <a:schemeClr val="bg2"/>
                </a:solidFill>
              </a:rPr>
              <a:t>Not yet, and we say so on every screen. Real scan pairs have no ground truth, so we use digital patients with exact answers. Next: TCIA data and a reader study.</a:t>
            </a:r>
            <a:endParaRPr lang="en-US" sz="1700" dirty="0"/>
          </a:p>
        </p:txBody>
      </p:sp>
      <p:sp>
        <p:nvSpPr>
          <p:cNvPr id="6" name="qa1"/>
          <p:cNvSpPr/>
          <p:nvPr/>
        </p:nvSpPr>
        <p:spPr>
          <a:xfrm>
            <a:off x="4343400" y="1691640"/>
            <a:ext cx="3502152" cy="2057400"/>
          </a:xfrm>
          <a:prstGeom prst="roundRect">
            <a:avLst>
              <a:gd name="adj" fmla="val 5333"/>
            </a:avLst>
          </a:prstGeom>
          <a:solidFill>
            <a:schemeClr val="tx2"/>
          </a:solidFill>
          <a:ln w="9525">
            <a:solidFill>
              <a:schemeClr val="accent6"/>
            </a:solidFill>
            <a:prstDash val="solid"/>
          </a:ln>
        </p:spPr>
      </p:sp>
      <p:sp>
        <p:nvSpPr>
          <p:cNvPr id="7" name="qa1t"/>
          <p:cNvSpPr txBox="1"/>
          <p:nvPr/>
        </p:nvSpPr>
        <p:spPr>
          <a:xfrm>
            <a:off x="4572000" y="1892808"/>
            <a:ext cx="3044952" cy="1691640"/>
          </a:xfrm>
          <a:prstGeom prst="rect">
            <a:avLst/>
          </a:prstGeom>
          <a:noFill/>
          <a:ln/>
        </p:spPr>
        <p:txBody>
          <a:bodyPr wrap="square" lIns="0" tIns="0" rIns="0" bIns="0" rtlCol="0" anchor="t"/>
          <a:lstStyle/>
          <a:p>
            <a:pPr indent="0" marL="0">
              <a:buNone/>
            </a:pPr>
            <a:r>
              <a:rPr lang="en-US" sz="1700" b="1" dirty="0">
                <a:solidFill>
                  <a:schemeClr val="accent2"/>
                </a:solidFill>
              </a:rPr>
              <a:t>Why not just use PET-CT?</a:t>
            </a:r>
            <a:endParaRPr lang="en-US" sz="1700" dirty="0"/>
          </a:p>
          <a:p>
            <a:pPr indent="0" marL="0">
              <a:buNone/>
            </a:pPr>
            <a:r>
              <a:rPr lang="en-US" sz="1500" dirty="0">
                <a:solidFill>
                  <a:schemeClr val="bg2"/>
                </a:solidFill>
              </a:rPr>
              <a:t>CT shows brain soft tissue poorly and adds radiation. PET/MRI can cut the dose to about 20 % of PET/CT (Nensa 2014).</a:t>
            </a:r>
            <a:endParaRPr lang="en-US" sz="1700" dirty="0"/>
          </a:p>
        </p:txBody>
      </p:sp>
      <p:sp>
        <p:nvSpPr>
          <p:cNvPr id="8" name="qa2"/>
          <p:cNvSpPr/>
          <p:nvPr/>
        </p:nvSpPr>
        <p:spPr>
          <a:xfrm>
            <a:off x="8138160" y="1691640"/>
            <a:ext cx="3502152" cy="2057400"/>
          </a:xfrm>
          <a:prstGeom prst="roundRect">
            <a:avLst>
              <a:gd name="adj" fmla="val 5333"/>
            </a:avLst>
          </a:prstGeom>
          <a:solidFill>
            <a:schemeClr val="tx2"/>
          </a:solidFill>
          <a:ln w="9525">
            <a:solidFill>
              <a:schemeClr val="accent6"/>
            </a:solidFill>
            <a:prstDash val="solid"/>
          </a:ln>
        </p:spPr>
      </p:sp>
      <p:sp>
        <p:nvSpPr>
          <p:cNvPr id="9" name="qa2t"/>
          <p:cNvSpPr txBox="1"/>
          <p:nvPr/>
        </p:nvSpPr>
        <p:spPr>
          <a:xfrm>
            <a:off x="8366760" y="1892808"/>
            <a:ext cx="3044952" cy="1691640"/>
          </a:xfrm>
          <a:prstGeom prst="rect">
            <a:avLst/>
          </a:prstGeom>
          <a:noFill/>
          <a:ln/>
        </p:spPr>
        <p:txBody>
          <a:bodyPr wrap="square" lIns="0" tIns="0" rIns="0" bIns="0" rtlCol="0" anchor="t"/>
          <a:lstStyle/>
          <a:p>
            <a:pPr indent="0" marL="0">
              <a:buNone/>
            </a:pPr>
            <a:r>
              <a:rPr lang="en-US" sz="1700" b="1" dirty="0">
                <a:solidFill>
                  <a:schemeClr val="accent2"/>
                </a:solidFill>
              </a:rPr>
              <a:t>Does the AI copy the MRI?</a:t>
            </a:r>
            <a:endParaRPr lang="en-US" sz="1700" dirty="0"/>
          </a:p>
          <a:p>
            <a:pPr indent="0" marL="0">
              <a:buNone/>
            </a:pPr>
            <a:r>
              <a:rPr lang="en-US" sz="1500" dirty="0">
                <a:solidFill>
                  <a:schemeClr val="bg2"/>
                </a:solidFill>
              </a:rPr>
              <a:t>That's exactly what we test for: radionecrosis stays cold (ratio 1.05), and the raw PET is always exported beside the AI PET.</a:t>
            </a:r>
            <a:endParaRPr lang="en-US" sz="1700" dirty="0"/>
          </a:p>
        </p:txBody>
      </p:sp>
      <p:sp>
        <p:nvSpPr>
          <p:cNvPr id="10" name="qa3"/>
          <p:cNvSpPr/>
          <p:nvPr/>
        </p:nvSpPr>
        <p:spPr>
          <a:xfrm>
            <a:off x="548640" y="3931920"/>
            <a:ext cx="3502152" cy="2057400"/>
          </a:xfrm>
          <a:prstGeom prst="roundRect">
            <a:avLst>
              <a:gd name="adj" fmla="val 5333"/>
            </a:avLst>
          </a:prstGeom>
          <a:solidFill>
            <a:schemeClr val="tx2"/>
          </a:solidFill>
          <a:ln w="9525">
            <a:solidFill>
              <a:schemeClr val="accent6"/>
            </a:solidFill>
            <a:prstDash val="solid"/>
          </a:ln>
        </p:spPr>
      </p:sp>
      <p:sp>
        <p:nvSpPr>
          <p:cNvPr id="11" name="qa3t"/>
          <p:cNvSpPr txBox="1"/>
          <p:nvPr/>
        </p:nvSpPr>
        <p:spPr>
          <a:xfrm>
            <a:off x="777240" y="4133088"/>
            <a:ext cx="3044952" cy="1691640"/>
          </a:xfrm>
          <a:prstGeom prst="rect">
            <a:avLst/>
          </a:prstGeom>
          <a:noFill/>
          <a:ln/>
        </p:spPr>
        <p:txBody>
          <a:bodyPr wrap="square" lIns="0" tIns="0" rIns="0" bIns="0" rtlCol="0" anchor="t"/>
          <a:lstStyle/>
          <a:p>
            <a:pPr indent="0" marL="0">
              <a:buNone/>
            </a:pPr>
            <a:r>
              <a:rPr lang="en-US" sz="1700" b="1" dirty="0">
                <a:solidFill>
                  <a:schemeClr val="accent2"/>
                </a:solidFill>
              </a:rPr>
              <a:t>Why a ViT, not CycleGAN?</a:t>
            </a:r>
            <a:endParaRPr lang="en-US" sz="1700" dirty="0"/>
          </a:p>
          <a:p>
            <a:pPr indent="0" marL="0">
              <a:buNone/>
            </a:pPr>
            <a:r>
              <a:rPr lang="en-US" sz="1500" dirty="0">
                <a:solidFill>
                  <a:schemeClr val="bg2"/>
                </a:solidFill>
              </a:rPr>
              <a:t>With paired data, a supervised ViT hybrid is more faithful. We ship a CycleGAN trainer for hospitals that only have unpaired data.</a:t>
            </a:r>
            <a:endParaRPr lang="en-US" sz="1700" dirty="0"/>
          </a:p>
        </p:txBody>
      </p:sp>
      <p:sp>
        <p:nvSpPr>
          <p:cNvPr id="12" name="qa4"/>
          <p:cNvSpPr/>
          <p:nvPr/>
        </p:nvSpPr>
        <p:spPr>
          <a:xfrm>
            <a:off x="4343400" y="3931920"/>
            <a:ext cx="3502152" cy="2057400"/>
          </a:xfrm>
          <a:prstGeom prst="roundRect">
            <a:avLst>
              <a:gd name="adj" fmla="val 5333"/>
            </a:avLst>
          </a:prstGeom>
          <a:solidFill>
            <a:schemeClr val="tx2"/>
          </a:solidFill>
          <a:ln w="9525">
            <a:solidFill>
              <a:schemeClr val="accent6"/>
            </a:solidFill>
            <a:prstDash val="solid"/>
          </a:ln>
        </p:spPr>
      </p:sp>
      <p:sp>
        <p:nvSpPr>
          <p:cNvPr id="13" name="qa4t"/>
          <p:cNvSpPr txBox="1"/>
          <p:nvPr/>
        </p:nvSpPr>
        <p:spPr>
          <a:xfrm>
            <a:off x="4572000" y="4133088"/>
            <a:ext cx="3044952" cy="1691640"/>
          </a:xfrm>
          <a:prstGeom prst="rect">
            <a:avLst/>
          </a:prstGeom>
          <a:noFill/>
          <a:ln/>
        </p:spPr>
        <p:txBody>
          <a:bodyPr wrap="square" lIns="0" tIns="0" rIns="0" bIns="0" rtlCol="0" anchor="t"/>
          <a:lstStyle/>
          <a:p>
            <a:pPr indent="0" marL="0">
              <a:buNone/>
            </a:pPr>
            <a:r>
              <a:rPr lang="en-US" sz="1700" b="1" dirty="0">
                <a:solidFill>
                  <a:schemeClr val="accent2"/>
                </a:solidFill>
              </a:rPr>
              <a:t>Does it need a GPU or the cloud?</a:t>
            </a:r>
            <a:endParaRPr lang="en-US" sz="1700" dirty="0"/>
          </a:p>
          <a:p>
            <a:pPr indent="0" marL="0">
              <a:buNone/>
            </a:pPr>
            <a:r>
              <a:rPr lang="en-US" sz="1500" dirty="0">
                <a:solidFill>
                  <a:schemeClr val="bg2"/>
                </a:solidFill>
              </a:rPr>
              <a:t>No. ONNX Runtime on a CPU, about 26 s per study, and patient data never leaves the hospital.</a:t>
            </a:r>
            <a:endParaRPr lang="en-US" sz="1700" dirty="0"/>
          </a:p>
        </p:txBody>
      </p:sp>
      <p:sp>
        <p:nvSpPr>
          <p:cNvPr id="14" name="qa5"/>
          <p:cNvSpPr/>
          <p:nvPr/>
        </p:nvSpPr>
        <p:spPr>
          <a:xfrm>
            <a:off x="8138160" y="3931920"/>
            <a:ext cx="3502152" cy="2057400"/>
          </a:xfrm>
          <a:prstGeom prst="roundRect">
            <a:avLst>
              <a:gd name="adj" fmla="val 5333"/>
            </a:avLst>
          </a:prstGeom>
          <a:solidFill>
            <a:schemeClr val="tx2"/>
          </a:solidFill>
          <a:ln w="9525">
            <a:solidFill>
              <a:schemeClr val="accent6"/>
            </a:solidFill>
            <a:prstDash val="solid"/>
          </a:ln>
        </p:spPr>
      </p:sp>
      <p:sp>
        <p:nvSpPr>
          <p:cNvPr id="15" name="qa5t"/>
          <p:cNvSpPr txBox="1"/>
          <p:nvPr/>
        </p:nvSpPr>
        <p:spPr>
          <a:xfrm>
            <a:off x="8366760" y="4133088"/>
            <a:ext cx="3044952" cy="1691640"/>
          </a:xfrm>
          <a:prstGeom prst="rect">
            <a:avLst/>
          </a:prstGeom>
          <a:noFill/>
          <a:ln/>
        </p:spPr>
        <p:txBody>
          <a:bodyPr wrap="square" lIns="0" tIns="0" rIns="0" bIns="0" rtlCol="0" anchor="t"/>
          <a:lstStyle/>
          <a:p>
            <a:pPr indent="0" marL="0">
              <a:buNone/>
            </a:pPr>
            <a:r>
              <a:rPr lang="en-US" sz="1700" b="1" dirty="0">
                <a:solidFill>
                  <a:schemeClr val="accent2"/>
                </a:solidFill>
              </a:rPr>
              <a:t>How does it fit the workflow?</a:t>
            </a:r>
            <a:endParaRPr lang="en-US" sz="1700" dirty="0"/>
          </a:p>
          <a:p>
            <a:pPr indent="0" marL="0">
              <a:buNone/>
            </a:pPr>
            <a:r>
              <a:rPr lang="en-US" sz="1500" dirty="0">
                <a:solidFill>
                  <a:schemeClr val="bg2"/>
                </a:solidFill>
              </a:rPr>
              <a:t>DICOM in, standard DICOM out: MR, SUV PET, AI PET, colour fusion and RT-STRUCT, pushed to PACS by C-STORE.</a:t>
            </a:r>
            <a:endParaRPr lang="en-US" sz="1700" dirty="0"/>
          </a:p>
        </p:txBody>
      </p:sp>
      <p:sp>
        <p:nvSpPr>
          <p:cNvPr id="25" name="Slide Number Placeholder 0"/>
          <p:cNvSpPr>
            <a:spLocks noGrp="1"/>
          </p:cNvSpPr>
          <p:nvPr>
            <p:ph type="sldNum" sz="quarter" idx="4294967295"/>
          </p:nvPr>
        </p:nvSpPr>
        <p:spPr>
          <a:xfrm>
            <a:off x="11091672" y="632764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12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12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24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24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3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36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48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48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6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6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theme/theme1.xml><?xml version="1.0" encoding="utf-8"?>
<a:theme xmlns:a="http://schemas.openxmlformats.org/drawingml/2006/main" name="FusionMap">
  <a:themeElements>
    <a:clrScheme name="FusionMap">
      <a:dk1>
        <a:srgbClr val="0A0E16"/>
      </a:dk1>
      <a:lt1>
        <a:srgbClr val="F3F6FA"/>
      </a:lt1>
      <a:dk2>
        <a:srgbClr val="131B27"/>
      </a:dk2>
      <a:lt2>
        <a:srgbClr val="93A0B4"/>
      </a:lt2>
      <a:accent1>
        <a:srgbClr val="FF7A3D"/>
      </a:accent1>
      <a:accent2>
        <a:srgbClr val="7DD3FC"/>
      </a:accent2>
      <a:accent3>
        <a:srgbClr val="3DDC6A"/>
      </a:accent3>
      <a:accent4>
        <a:srgbClr val="FFB547"/>
      </a:accent4>
      <a:accent5>
        <a:srgbClr val="FF6B6B"/>
      </a:accent5>
      <a:accent6>
        <a:srgbClr val="263244"/>
      </a:accent6>
      <a:hlink>
        <a:srgbClr val="7DD3FC"/>
      </a:hlink>
      <a:folHlink>
        <a:srgbClr val="B79CFF"/>
      </a:folHlink>
    </a:clrScheme>
    <a:fontScheme name="FusionMap">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Team MeatRiders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FusionMap: AI PET/MRI fusion</dc:title>
  <dc:subject>Hackathon pitch deck</dc:subject>
  <dc:creator>Team MeatRiders</dc:creator>
  <cp:lastModifiedBy>Team MeatRiders</cp:lastModifiedBy>
  <cp:revision>1</cp:revision>
  <dcterms:created xsi:type="dcterms:W3CDTF">2026-10-06T06:46:34Z</dcterms:created>
  <dcterms:modified xsi:type="dcterms:W3CDTF">2026-10-06T06:46:34Z</dcterms:modified>
</cp:coreProperties>
</file>